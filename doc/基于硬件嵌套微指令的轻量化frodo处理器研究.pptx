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2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3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4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5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6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7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8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9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0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1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2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3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14.xml" ContentType="application/vnd.openxmlformats-officedocument.presentationml.notesSlide+xml"/>
  <Override PartName="/ppt/tags/tag75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9" r:id="rId1"/>
  </p:sldMasterIdLst>
  <p:notesMasterIdLst>
    <p:notesMasterId r:id="rId17"/>
  </p:notesMasterIdLst>
  <p:handoutMasterIdLst>
    <p:handoutMasterId r:id="rId18"/>
  </p:handoutMasterIdLst>
  <p:sldIdLst>
    <p:sldId id="258" r:id="rId2"/>
    <p:sldId id="284" r:id="rId3"/>
    <p:sldId id="332" r:id="rId4"/>
    <p:sldId id="333" r:id="rId5"/>
    <p:sldId id="334" r:id="rId6"/>
    <p:sldId id="326" r:id="rId7"/>
    <p:sldId id="308" r:id="rId8"/>
    <p:sldId id="327" r:id="rId9"/>
    <p:sldId id="328" r:id="rId10"/>
    <p:sldId id="335" r:id="rId11"/>
    <p:sldId id="336" r:id="rId12"/>
    <p:sldId id="303" r:id="rId13"/>
    <p:sldId id="330" r:id="rId14"/>
    <p:sldId id="322" r:id="rId15"/>
    <p:sldId id="280" r:id="rId16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388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83"/>
    <a:srgbClr val="005A9E"/>
    <a:srgbClr val="5886B4"/>
    <a:srgbClr val="EBEDEE"/>
    <a:srgbClr val="D4D9DB"/>
    <a:srgbClr val="C1D8E0"/>
    <a:srgbClr val="29448A"/>
    <a:srgbClr val="B8D8EA"/>
    <a:srgbClr val="A6A6A6"/>
    <a:srgbClr val="1E63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2993" autoAdjust="0"/>
  </p:normalViewPr>
  <p:slideViewPr>
    <p:cSldViewPr snapToGrid="0" showGuides="1">
      <p:cViewPr varScale="1">
        <p:scale>
          <a:sx n="102" d="100"/>
          <a:sy n="102" d="100"/>
        </p:scale>
        <p:origin x="816" y="114"/>
      </p:cViewPr>
      <p:guideLst>
        <p:guide orient="horz" pos="2124"/>
        <p:guide pos="388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大家好，我是来自华中科技大学的赵正鹏，我汇报的题目是</a:t>
            </a:r>
            <a:r>
              <a:rPr lang="en-US" altLang="zh-CN" dirty="0"/>
              <a:t>《</a:t>
            </a:r>
            <a:r>
              <a:rPr lang="zh-CN" altLang="en-US" dirty="0"/>
              <a:t>基于硬件嵌套微指令的轻量化</a:t>
            </a:r>
            <a:r>
              <a:rPr lang="en-US" altLang="zh-CN" dirty="0"/>
              <a:t>Frodo</a:t>
            </a:r>
            <a:r>
              <a:rPr lang="zh-CN" altLang="en-US" dirty="0"/>
              <a:t>处理器研究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E24ABAD-D16A-4BBC-AB2F-98E88186A3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这是我汇报的目录，我将从这</a:t>
            </a:r>
            <a:r>
              <a:rPr lang="en-US" altLang="zh-CN" dirty="0"/>
              <a:t>4</a:t>
            </a:r>
            <a:r>
              <a:rPr lang="zh-CN" altLang="en-US" dirty="0"/>
              <a:t>个方面进行展开，首先是引言部分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75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068B9-972C-A396-A197-B85A66ABB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7A8E92-E2C6-0BD5-2529-AD6298636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890D90-CCBB-1915-794A-794341463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kern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随着量子技术的飞速发展，特别是</a:t>
            </a:r>
            <a:r>
              <a:rPr lang="en-US" altLang="zh-CN" sz="1800" b="0" kern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Shor</a:t>
            </a:r>
            <a:r>
              <a:rPr lang="zh-CN" altLang="en-US" sz="1800" b="0" kern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算法的提出，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我们现有的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RSA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ECC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等公钥密码体系面临着彻底被破解的风险。这就是所谓的“量子威胁”。为了应对这一危机，全球正在经历一场从传统密码向后量子密码（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PQC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）迁移的技术变革。</a:t>
            </a:r>
            <a:endParaRPr lang="zh-CN" altLang="zh-CN" sz="1800" b="0" kern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01AEBD-99F9-5B63-DD27-A3EB98A73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4ABAD-D16A-4BBC-AB2F-98E88186A3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409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98C3F-71C8-5833-A91D-2071EA0E9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7E8634-3F66-C6EA-0F90-A46063D1C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4DB017-C047-8C67-2D43-71D8E4A65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zh-CN" altLang="en-US" sz="1800" b="0" kern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目前已经进入了</a:t>
            </a:r>
            <a:r>
              <a:rPr lang="en-US" altLang="zh-CN" sz="1800" b="0" kern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PQC</a:t>
            </a:r>
            <a:r>
              <a:rPr lang="zh-CN" altLang="en-US" sz="1800" b="0" kern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发展的关键节点。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国际上，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NIST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发布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FIPS 203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标准，产业化开启。国内方面，紧扣国家“新质生产力”战略，量子信息被列为未来产业的关键赛道。我们的研究正是为了响应这一战略，推动核心硬件的自主可控。</a:t>
            </a:r>
            <a:endParaRPr lang="zh-CN" altLang="en-US" sz="1800" b="0" dirty="0">
              <a:effectLst/>
            </a:endParaRPr>
          </a:p>
          <a:p>
            <a:br>
              <a:rPr lang="zh-CN" altLang="en-US" sz="1800" dirty="0"/>
            </a:br>
            <a:endParaRPr lang="zh-CN" altLang="zh-CN" sz="1800" b="0" kern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52F8DF-5990-98A0-4975-6F6BBFD87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4ABAD-D16A-4BBC-AB2F-98E88186A3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403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7D21A-5B91-E664-AC97-4F0D03DAB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02CBD2-B70C-13DF-4AE4-A760BA799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06FB52-3C31-24AD-C4E2-231E2A646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kern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前面提到，</a:t>
            </a:r>
            <a:r>
              <a:rPr lang="en-US" altLang="zh-CN" sz="1800" b="0" kern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NIST</a:t>
            </a:r>
            <a:r>
              <a:rPr lang="zh-CN" altLang="en-US" sz="1800" b="0" kern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已经发布了标准，那为什么要研究</a:t>
            </a:r>
            <a:r>
              <a:rPr lang="en-US" altLang="zh-CN" sz="1800" b="0" kern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NIST</a:t>
            </a:r>
            <a:r>
              <a:rPr lang="zh-CN" altLang="en-US" sz="1800" b="0" kern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标准之外的算法，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原因在于安全储备。主流算法标准为了快，牺牲了一定的数学纯度。而 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FrodoKEM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作为非结构化格的算法，安全上限更高。但它的代价是慢和重，这就是我们想要落地面临的鸿沟。我们研究的目标，就把这个最重的算法，塞进最受限的硬件里。</a:t>
            </a:r>
            <a:endParaRPr lang="zh-CN" altLang="zh-CN" sz="1800" b="0" kern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B469C1-19FE-DB64-A818-F05B75CE1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4ABAD-D16A-4BBC-AB2F-98E88186A3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567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D8542-6187-2800-C3F0-2B55F3A49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A58309-52ED-BE36-2900-685C576F9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B2DE47-69FF-D892-8DF3-10C008118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为了攻克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FrodoKEM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量大的难题，学术界已经进行了大量探索。第一类是全硬件加速，性能很好，但设计非常僵化，一套硬件只能跑一个参数集，且往往开销很大。第二类是高性能软硬协同，资源消耗巨大，不适合低成本设备。第三类是嵌入式软件的轻量协同，但是受限于处理器，速度很慢。总结来看，目前缺少一种既能保持低面积，又能统一支持所有安全等级的架构，这正是我们工作的切入点</a:t>
            </a:r>
            <a:endParaRPr lang="zh-CN" altLang="zh-CN" sz="1800" b="0" kern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36725B-9E29-0D5D-EAA5-36D58B129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4ABAD-D16A-4BBC-AB2F-98E88186A3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88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D33CA-F8C9-0A3C-24EF-FCF5AEAE0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1FE370-15DA-FB6C-5CE1-CCC3B5F366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5A21D1-CF84-50E3-22A3-3C32DCFB149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这是我们提出的架构的整体框图。我们的核心思想有三点，首先是设计领域专用指令集，把</a:t>
            </a:r>
            <a:r>
              <a:rPr lang="en-US" altLang="zh-CN" dirty="0" err="1"/>
              <a:t>FrodoKEM</a:t>
            </a:r>
            <a:r>
              <a:rPr lang="zh-CN" altLang="en-US" dirty="0"/>
              <a:t>的复杂操作抽象为几条高级指令，以解耦算法和硬件，实现单一硬件平台可实现多安全等级多算法。其次，我们使用微指令控制硬件执行，代替复杂的状态机逻辑以降低逻辑资源开销，这是一种</a:t>
            </a:r>
            <a:r>
              <a:rPr lang="en-US" altLang="zh-CN" dirty="0"/>
              <a:t>memory for logic</a:t>
            </a:r>
            <a:r>
              <a:rPr lang="zh-CN" altLang="en-US" dirty="0"/>
              <a:t>的思想。最后，对内存和计算进行协同设计，不同的安全等级采用相同的规划。我们提出的系统主要由这些模块构成</a:t>
            </a:r>
          </a:p>
        </p:txBody>
      </p:sp>
    </p:spTree>
    <p:extLst>
      <p:ext uri="{BB962C8B-B14F-4D97-AF65-F5344CB8AC3E}">
        <p14:creationId xmlns:p14="http://schemas.microsoft.com/office/powerpoint/2010/main" val="2070983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A1E63-6373-EDEE-F6D5-0F0629317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40094A-1C94-F6AB-5DD2-CC4F48F005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1982C6-CF49-8EEB-C1BD-D807A9DFCE1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接下来介绍 </a:t>
            </a:r>
            <a:r>
              <a:rPr lang="en-US" altLang="zh-CN" dirty="0"/>
              <a:t>LIMA </a:t>
            </a:r>
            <a:r>
              <a:rPr lang="zh-CN" altLang="en-US" dirty="0"/>
              <a:t>架构中最核心的创新点</a:t>
            </a:r>
            <a:r>
              <a:rPr lang="en-US" altLang="zh-CN" dirty="0"/>
              <a:t>——</a:t>
            </a:r>
            <a:r>
              <a:rPr lang="zh-CN" altLang="en-US" b="1" dirty="0"/>
              <a:t>两级嵌套微指令控制系统</a:t>
            </a:r>
            <a:r>
              <a:rPr lang="zh-CN" altLang="en-US" dirty="0"/>
              <a:t>。这是我们能够用极低资源实现全算法兼容的关键。首先上层是领域专用指令集，我们将</a:t>
            </a:r>
            <a:r>
              <a:rPr lang="en-US" altLang="zh-CN" dirty="0" err="1"/>
              <a:t>FrodoKEM</a:t>
            </a:r>
            <a:r>
              <a:rPr lang="zh-CN" altLang="en-US" dirty="0"/>
              <a:t>复杂的算法流程抽象成了一组高级的指令，例如矩阵乘法或者</a:t>
            </a:r>
            <a:r>
              <a:rPr lang="en-US" altLang="zh-CN" dirty="0"/>
              <a:t>HASH</a:t>
            </a:r>
            <a:r>
              <a:rPr lang="zh-CN" altLang="en-US" dirty="0"/>
              <a:t>的挤压。这些指令存储在指令</a:t>
            </a:r>
            <a:r>
              <a:rPr lang="en-US" altLang="zh-CN" dirty="0"/>
              <a:t>ROM</a:t>
            </a:r>
            <a:r>
              <a:rPr lang="zh-CN" altLang="en-US" dirty="0"/>
              <a:t>中，它的作用类似软件代码，定义了算法的流程，这层设计赋予了架构极高的灵活性，只需改变指令序列即可实现不同的安全等级和算法，无需修改硬件结构。下层是微指令编码，每一个上层指令都会映射为存储在</a:t>
            </a:r>
            <a:r>
              <a:rPr lang="en-US" altLang="zh-CN" dirty="0"/>
              <a:t>Microcode ROM</a:t>
            </a:r>
            <a:r>
              <a:rPr lang="zh-CN" altLang="en-US" dirty="0"/>
              <a:t>中的一段微码序列，这些微指令精确控制着每一个时钟周期的数据通路和功能单元，它的每一位都是直接控制功能模块的控制信号。微码用规整、高密度的</a:t>
            </a:r>
            <a:r>
              <a:rPr lang="en-US" altLang="zh-CN" dirty="0"/>
              <a:t>ROM</a:t>
            </a:r>
            <a:r>
              <a:rPr lang="zh-CN" altLang="en-US" dirty="0"/>
              <a:t>替代了传统硬件中复杂的状态机逻辑，使得控制逻辑的面积仅占总面积的</a:t>
            </a:r>
            <a:r>
              <a:rPr lang="en-US" altLang="zh-CN" dirty="0"/>
              <a:t>13%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0937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2DE34-6D46-5F45-A455-3A17F1883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2B563F-5B6E-126A-77AB-A5D25000D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188BEC-8473-E006-D7C8-2265AA094FE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在解决了控制层面的难题后，我们必须面对数据流层面的最大挑战</a:t>
            </a:r>
            <a:r>
              <a:rPr lang="en-US" altLang="zh-CN" dirty="0"/>
              <a:t>——</a:t>
            </a:r>
            <a:r>
              <a:rPr lang="zh-CN" altLang="en-US" dirty="0"/>
              <a:t>矩阵乘法。</a:t>
            </a:r>
            <a:r>
              <a:rPr lang="en-US" altLang="zh-CN" dirty="0" err="1"/>
              <a:t>FrodoKEM</a:t>
            </a:r>
            <a:r>
              <a:rPr lang="zh-CN" altLang="en-US" dirty="0"/>
              <a:t>中有两种矩阵乘法，分别是公共矩阵</a:t>
            </a:r>
            <a:r>
              <a:rPr lang="en-US" altLang="zh-CN" dirty="0"/>
              <a:t>A</a:t>
            </a:r>
            <a:r>
              <a:rPr lang="zh-CN" altLang="en-US" dirty="0"/>
              <a:t>的左乘和右乘。由于公共矩阵</a:t>
            </a:r>
            <a:r>
              <a:rPr lang="en-US" altLang="zh-CN" dirty="0"/>
              <a:t>A</a:t>
            </a:r>
            <a:r>
              <a:rPr lang="zh-CN" altLang="en-US" dirty="0"/>
              <a:t>非常大，只能由</a:t>
            </a:r>
            <a:r>
              <a:rPr lang="en-US" altLang="zh-CN" dirty="0"/>
              <a:t>SHAKE</a:t>
            </a:r>
            <a:r>
              <a:rPr lang="zh-CN" altLang="en-US" dirty="0"/>
              <a:t>模块逐行实时生成，这对于左乘很友好，但是对于右乘，往往需要额外的转置单元或是采用完全不同的乘法逻辑。为了解决这个问题，我们通过调整矩阵乘法的顺序，使用一种“不动数据动地址”的方式，使得在硬件视角下，两种乘法访问</a:t>
            </a:r>
            <a:r>
              <a:rPr lang="en-US" altLang="zh-CN" dirty="0"/>
              <a:t>A</a:t>
            </a:r>
            <a:r>
              <a:rPr lang="zh-CN" altLang="en-US" dirty="0"/>
              <a:t>的模式是相同的，仅仅访问</a:t>
            </a:r>
            <a:r>
              <a:rPr lang="en-US" altLang="zh-CN" dirty="0"/>
              <a:t>S</a:t>
            </a:r>
            <a:r>
              <a:rPr lang="zh-CN" altLang="en-US" dirty="0"/>
              <a:t>的顺序有所差异，这只需要配置</a:t>
            </a:r>
            <a:r>
              <a:rPr lang="en-US" altLang="zh-CN" dirty="0"/>
              <a:t>AGU</a:t>
            </a:r>
            <a:r>
              <a:rPr lang="zh-CN" altLang="en-US" dirty="0"/>
              <a:t>为不同的寻址模式即可，这产生了一个巧妙的结果，左右乘的差异被</a:t>
            </a:r>
            <a:r>
              <a:rPr lang="en-US" altLang="zh-CN" dirty="0"/>
              <a:t>AGU</a:t>
            </a:r>
            <a:r>
              <a:rPr lang="zh-CN" altLang="en-US" dirty="0"/>
              <a:t>给屏蔽了，对于矩阵乘法单元和控制器来说，这两种操作看起来完全一样。通过这种设计，我们实现了真正的全复用，左右乘共享一套数据路径和微码序列，极大地节省了逻辑资源</a:t>
            </a:r>
          </a:p>
        </p:txBody>
      </p:sp>
    </p:spTree>
    <p:extLst>
      <p:ext uri="{BB962C8B-B14F-4D97-AF65-F5344CB8AC3E}">
        <p14:creationId xmlns:p14="http://schemas.microsoft.com/office/powerpoint/2010/main" val="2143174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BADA4-6E9A-ED96-E932-8AA315581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115682-3277-3FC7-859B-5C68FA0A66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E7730B-34F9-8139-116F-35949ED384E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接下来我们来关注一下其他模块的设计。首先是资源开销的大户，</a:t>
            </a:r>
            <a:r>
              <a:rPr lang="en-US" altLang="zh-CN" dirty="0"/>
              <a:t>HASH</a:t>
            </a:r>
            <a:r>
              <a:rPr lang="zh-CN" altLang="en-US" dirty="0"/>
              <a:t>模块。我们使用了一种循环折叠的设计策略，我们没有像传统设计那样在一个周期处理完整的</a:t>
            </a:r>
            <a:r>
              <a:rPr lang="en-US" altLang="zh-CN" dirty="0"/>
              <a:t>1600bit</a:t>
            </a:r>
            <a:r>
              <a:rPr lang="zh-CN" altLang="en-US" dirty="0"/>
              <a:t>状态，而是将</a:t>
            </a:r>
            <a:r>
              <a:rPr lang="en-US" altLang="zh-CN" dirty="0"/>
              <a:t>Keccak</a:t>
            </a:r>
            <a:r>
              <a:rPr lang="zh-CN" altLang="en-US" dirty="0"/>
              <a:t>运算的基本单元定为</a:t>
            </a:r>
            <a:r>
              <a:rPr lang="en-US" altLang="zh-CN" dirty="0"/>
              <a:t>Slice</a:t>
            </a:r>
            <a:r>
              <a:rPr lang="zh-CN" altLang="en-US" dirty="0"/>
              <a:t>。具体来说，我们采用了</a:t>
            </a:r>
            <a:r>
              <a:rPr lang="en-US" altLang="zh-CN" dirty="0"/>
              <a:t>8</a:t>
            </a:r>
            <a:r>
              <a:rPr lang="zh-CN" altLang="en-US" dirty="0"/>
              <a:t>折叠的架构，每一轮只处理</a:t>
            </a:r>
            <a:r>
              <a:rPr lang="en-US" altLang="zh-CN" dirty="0"/>
              <a:t>200bit</a:t>
            </a:r>
            <a:r>
              <a:rPr lang="zh-CN" altLang="en-US" dirty="0"/>
              <a:t>的数据，通过分时复用完成完整的置换。这种以时间换空间的策略，将数据宽度压缩为原来的八分之一。这种设计带来了两个关键收益，第一是速度匹配，虽然</a:t>
            </a:r>
            <a:r>
              <a:rPr lang="en-US" altLang="zh-CN" dirty="0"/>
              <a:t>hash</a:t>
            </a:r>
            <a:r>
              <a:rPr lang="zh-CN" altLang="en-US" dirty="0"/>
              <a:t>运算变慢了，但这恰恰是我们想要的，因为在轻量级设计中，矩阵乘法单元的处理本来就不快，</a:t>
            </a:r>
            <a:r>
              <a:rPr lang="en-US" altLang="zh-CN" dirty="0"/>
              <a:t>Hash</a:t>
            </a:r>
            <a:r>
              <a:rPr lang="zh-CN" altLang="en-US" dirty="0"/>
              <a:t>生成的速度慢一点，正好能和</a:t>
            </a:r>
            <a:r>
              <a:rPr lang="en-US" altLang="zh-CN" dirty="0"/>
              <a:t>MMU</a:t>
            </a:r>
            <a:r>
              <a:rPr lang="zh-CN" altLang="en-US" dirty="0"/>
              <a:t>的计算速度匹配。第二也就是最直观的结果，将</a:t>
            </a:r>
            <a:r>
              <a:rPr lang="en-US" altLang="zh-CN" dirty="0"/>
              <a:t>hash</a:t>
            </a:r>
            <a:r>
              <a:rPr lang="zh-CN" altLang="en-US" dirty="0"/>
              <a:t>模块的资源开销降低了</a:t>
            </a:r>
            <a:r>
              <a:rPr lang="en-US" altLang="zh-CN" dirty="0"/>
              <a:t>40%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56575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26ACD-6677-FE0E-65A3-861946696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4D9890-68C9-A60F-DAB7-929C984AE9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FD1244-200E-E135-4091-E79EFB8C7DE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除了计算密集的</a:t>
            </a:r>
            <a:r>
              <a:rPr lang="en-US" altLang="zh-CN" dirty="0"/>
              <a:t>Hash</a:t>
            </a:r>
            <a:r>
              <a:rPr lang="zh-CN" altLang="en-US" dirty="0"/>
              <a:t>模块，我们对存储系统和其他模块也进行了深度的轻量化定制。首先是存储系统，我们没有采用传统的行优先存储，而是根据矩阵形状，强制让短边在内存中连续存放，使得无论是行访问还是列访问，地址的变化都变成了固定的步长递增。同时，配合精细的分时复用策略，在不同计算阶段重复使用同一块内存空间，将</a:t>
            </a:r>
            <a:r>
              <a:rPr lang="en-US" altLang="zh-CN" dirty="0"/>
              <a:t>BRAM</a:t>
            </a:r>
            <a:r>
              <a:rPr lang="zh-CN" altLang="en-US" dirty="0"/>
              <a:t>占用压缩到了</a:t>
            </a:r>
            <a:r>
              <a:rPr lang="en-US" altLang="zh-CN" dirty="0"/>
              <a:t>14.5</a:t>
            </a:r>
            <a:r>
              <a:rPr lang="zh-CN" altLang="en-US" dirty="0"/>
              <a:t>块。采样模块使用纯组合逻辑实现了单周期的吞吐。编码模块使用</a:t>
            </a:r>
            <a:r>
              <a:rPr lang="en-US" altLang="zh-CN" dirty="0"/>
              <a:t>64</a:t>
            </a:r>
            <a:r>
              <a:rPr lang="zh-CN" altLang="en-US" dirty="0"/>
              <a:t>位移位寄存器和对偶结构设计，实现了</a:t>
            </a:r>
            <a:r>
              <a:rPr lang="en-US" altLang="zh-CN" dirty="0"/>
              <a:t>Encode</a:t>
            </a:r>
            <a:r>
              <a:rPr lang="zh-CN" altLang="en-US" dirty="0"/>
              <a:t>和</a:t>
            </a:r>
            <a:r>
              <a:rPr lang="en-US" altLang="zh-CN" dirty="0"/>
              <a:t>Decode</a:t>
            </a:r>
            <a:r>
              <a:rPr lang="zh-CN" altLang="en-US" dirty="0"/>
              <a:t>的微码复用，全方位地降低了硬件面积。</a:t>
            </a:r>
          </a:p>
        </p:txBody>
      </p:sp>
    </p:spTree>
    <p:extLst>
      <p:ext uri="{BB962C8B-B14F-4D97-AF65-F5344CB8AC3E}">
        <p14:creationId xmlns:p14="http://schemas.microsoft.com/office/powerpoint/2010/main" val="808194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dirty="0"/>
              <a:t>介绍完架构设计，我们来看一下在</a:t>
            </a:r>
            <a:r>
              <a:rPr lang="en-US" altLang="zh-CN" sz="1800" dirty="0"/>
              <a:t>FPGA</a:t>
            </a:r>
            <a:r>
              <a:rPr lang="zh-CN" altLang="en-US" sz="1800" dirty="0"/>
              <a:t>上的实现结果。首先是资源开销，可以看到，我们的架构极其轻量，仅仅占用约</a:t>
            </a:r>
            <a:r>
              <a:rPr lang="en-US" altLang="zh-CN" sz="1800" dirty="0"/>
              <a:t>3800</a:t>
            </a:r>
            <a:r>
              <a:rPr lang="zh-CN" altLang="en-US" sz="1800" dirty="0"/>
              <a:t>个</a:t>
            </a:r>
            <a:r>
              <a:rPr lang="en-US" altLang="zh-CN" sz="1800" dirty="0"/>
              <a:t>LUT</a:t>
            </a:r>
            <a:r>
              <a:rPr lang="zh-CN" altLang="en-US" sz="1800" dirty="0"/>
              <a:t>。特别值得注意的是控制单元，虽然实现了全安全等级全算法的全流程控制，但得益于我们提出的</a:t>
            </a:r>
            <a:r>
              <a:rPr lang="en-US" altLang="zh-CN" sz="1800" dirty="0"/>
              <a:t>memory-for-logic</a:t>
            </a:r>
            <a:r>
              <a:rPr lang="zh-CN" altLang="en-US" sz="1800" dirty="0"/>
              <a:t>思想，控制逻辑仅占了总面积的</a:t>
            </a:r>
            <a:r>
              <a:rPr lang="en-US" altLang="zh-CN" sz="1800" dirty="0"/>
              <a:t>13%</a:t>
            </a:r>
            <a:r>
              <a:rPr lang="zh-CN" altLang="en-US" sz="1800" dirty="0"/>
              <a:t>，有力证明了微码架构在降低控制复杂度方面的巨大优势。在性能方面，三个安全等级的延迟在 </a:t>
            </a:r>
            <a:r>
              <a:rPr lang="en-US" altLang="zh-CN" sz="1800" dirty="0"/>
              <a:t>14 </a:t>
            </a:r>
            <a:r>
              <a:rPr lang="zh-CN" altLang="en-US" sz="1800" dirty="0"/>
              <a:t>到 </a:t>
            </a:r>
            <a:r>
              <a:rPr lang="en-US" altLang="zh-CN" sz="1800" dirty="0"/>
              <a:t>62 </a:t>
            </a:r>
            <a:r>
              <a:rPr lang="zh-CN" altLang="en-US" sz="1800" dirty="0"/>
              <a:t>毫秒之间，增长趋势符合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$O(n^2)$</a:t>
            </a:r>
            <a:r>
              <a:rPr lang="zh-CN" altLang="en-US" sz="1800" dirty="0"/>
              <a:t> 的理论预期，证明架构具有优异的可扩展性，且未引入额外的调度瓶颈。</a:t>
            </a:r>
            <a:endParaRPr lang="zh-CN" altLang="zh-CN" sz="1800" b="0" kern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4ABAD-D16A-4BBC-AB2F-98E88186A3BD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36C4-1C77-9D74-0D3E-69C660743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321C3C-BAAE-4A59-2AF6-48EFDB8FB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718714-A3DA-D970-1710-F2CDE38A4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zh-CN" altLang="en-US" sz="1800" dirty="0"/>
              <a:t>在详细介绍了架构设计和实验结果之后，我们最后与该领域最前沿的 </a:t>
            </a:r>
            <a:r>
              <a:rPr lang="en-US" altLang="zh-CN" sz="1800" dirty="0"/>
              <a:t>FPGA </a:t>
            </a:r>
            <a:r>
              <a:rPr lang="zh-CN" altLang="en-US" sz="1800" dirty="0"/>
              <a:t>实现进行一次全面的横向对比。相比高性能的方案，微码节省了近</a:t>
            </a:r>
            <a:r>
              <a:rPr lang="en-US" altLang="zh-CN" sz="1800" dirty="0"/>
              <a:t>50%</a:t>
            </a:r>
            <a:r>
              <a:rPr lang="zh-CN" altLang="en-US" sz="1800" dirty="0"/>
              <a:t>的面积，且实现了多安全等级的统一支持，相较于同类的轻量级方案，我们的性能提升了</a:t>
            </a:r>
            <a:r>
              <a:rPr lang="en-US" altLang="zh-CN" sz="1800" dirty="0"/>
              <a:t>17</a:t>
            </a:r>
            <a:r>
              <a:rPr lang="zh-CN" altLang="en-US" sz="1800" dirty="0"/>
              <a:t>倍。我们的架构是目前唯一一个兼顾了极低面积，全算法统一和实用性能的纯硬件加速器</a:t>
            </a:r>
            <a:endParaRPr lang="zh-CN" altLang="zh-CN" sz="1800" b="0" kern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42902E-31FD-52FC-FFD9-11B1DABA6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4ABAD-D16A-4BBC-AB2F-98E88186A3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758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E7975-46C3-30AC-FB50-BD2AEC53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D53C1-6B68-96D1-6CF1-76A268C2C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42A41D-6FFE-1F51-716A-9BEBA4951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最后，我来总结一下本次工作的核心贡献。我们提出了首个单一硬件配置支持</a:t>
            </a:r>
            <a:r>
              <a:rPr lang="en-US" altLang="zh-CN" dirty="0" err="1"/>
              <a:t>FrodoKEM</a:t>
            </a:r>
            <a:r>
              <a:rPr lang="zh-CN" altLang="en-US" dirty="0"/>
              <a:t>所有安全等级的纯硬件方案。我们通过微码控制和</a:t>
            </a:r>
            <a:r>
              <a:rPr lang="en-US" altLang="zh-CN" dirty="0"/>
              <a:t>memory for logic</a:t>
            </a:r>
            <a:r>
              <a:rPr lang="zh-CN" altLang="en-US" dirty="0"/>
              <a:t>的设计哲学，在极低的资源占用下，成功解决了传统全硬件设计难以复用、面积巨大的痛点，在轻量化和灵活性之间找到了最佳平衡。展望未来，我们的目标不止于</a:t>
            </a:r>
            <a:r>
              <a:rPr lang="en-US" altLang="zh-CN" dirty="0" err="1"/>
              <a:t>FrodoKEM</a:t>
            </a:r>
            <a:r>
              <a:rPr lang="zh-CN" altLang="en-US" dirty="0"/>
              <a:t>。 我们将尝试把这个架构扩展到更广泛的</a:t>
            </a:r>
            <a:r>
              <a:rPr lang="en-US" altLang="zh-CN" b="1" dirty="0"/>
              <a:t>LWE</a:t>
            </a:r>
            <a:r>
              <a:rPr lang="zh-CN" altLang="en-US" b="1" dirty="0"/>
              <a:t>和</a:t>
            </a:r>
            <a:r>
              <a:rPr lang="en-US" altLang="zh-CN" b="1" dirty="0"/>
              <a:t>MLWE</a:t>
            </a:r>
            <a:r>
              <a:rPr lang="zh-CN" altLang="en-US" dirty="0"/>
              <a:t>方案中（例如</a:t>
            </a:r>
            <a:r>
              <a:rPr lang="en-US" altLang="zh-CN" dirty="0"/>
              <a:t>NIST</a:t>
            </a:r>
            <a:r>
              <a:rPr lang="zh-CN" altLang="en-US" dirty="0"/>
              <a:t>标准的</a:t>
            </a:r>
            <a:r>
              <a:rPr lang="en-US" altLang="zh-CN" dirty="0"/>
              <a:t>Kyber</a:t>
            </a:r>
            <a:r>
              <a:rPr lang="zh-CN" altLang="en-US" dirty="0"/>
              <a:t>），探索微码设计的通用性。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5A50B6-3D94-C87B-965E-75A21804B3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24ABAD-D16A-4BBC-AB2F-98E88186A3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535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DBA15-3F6E-4149-9019-6609FD57F75E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486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>
            <p:custDataLst>
              <p:tags r:id="rId1"/>
            </p:custDataLst>
          </p:nvPr>
        </p:nvSpPr>
        <p:spPr>
          <a:xfrm>
            <a:off x="11391992" y="6475987"/>
            <a:ext cx="7012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1050" b="1" dirty="0"/>
              <a:t> </a:t>
            </a:r>
            <a:fld id="{9A0DB2DC-4C9A-4742-B13C-FB6460FD3503}" type="slidenum">
              <a:rPr lang="en-US" altLang="zh-CN" sz="105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050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0" hasCustomPrompt="1"/>
          </p:nvPr>
        </p:nvSpPr>
        <p:spPr>
          <a:xfrm>
            <a:off x="410845" y="1628140"/>
            <a:ext cx="3336290" cy="53848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EFC2655-E29E-FA65-BF15-3388DDFEAF31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1391992" y="6475987"/>
            <a:ext cx="7012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1050" b="1" dirty="0"/>
              <a:t> </a:t>
            </a:r>
            <a:fld id="{9A0DB2DC-4C9A-4742-B13C-FB6460FD3503}" type="slidenum">
              <a:rPr lang="en-US" altLang="zh-CN" sz="105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050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0560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0D3BAE-1B0D-26CB-C393-A79C9209A5B6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1391992" y="6475987"/>
            <a:ext cx="7012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1050" b="1" dirty="0"/>
              <a:t> </a:t>
            </a:r>
            <a:fld id="{9A0DB2DC-4C9A-4742-B13C-FB6460FD3503}" type="slidenum">
              <a:rPr lang="en-US" altLang="zh-CN" sz="105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050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容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97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1"/>
          <p:cNvSpPr/>
          <p:nvPr userDrawn="1"/>
        </p:nvSpPr>
        <p:spPr>
          <a:xfrm>
            <a:off x="99358" y="6475964"/>
            <a:ext cx="2693987" cy="30777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 eaLnBrk="0" hangingPunct="0"/>
            <a:r>
              <a:rPr lang="zh-CN" altLang="en-US" sz="1400" dirty="0">
                <a:solidFill>
                  <a:srgbClr val="81756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明德厚学，求是创新</a:t>
            </a:r>
          </a:p>
        </p:txBody>
      </p:sp>
      <p:cxnSp>
        <p:nvCxnSpPr>
          <p:cNvPr id="4" name="直接连接符 3"/>
          <p:cNvCxnSpPr/>
          <p:nvPr userDrawn="1">
            <p:custDataLst>
              <p:tags r:id="rId7"/>
            </p:custDataLst>
          </p:nvPr>
        </p:nvCxnSpPr>
        <p:spPr>
          <a:xfrm flipV="1">
            <a:off x="200192" y="954405"/>
            <a:ext cx="11791315" cy="5080"/>
          </a:xfrm>
          <a:prstGeom prst="line">
            <a:avLst/>
          </a:prstGeom>
          <a:ln w="57150" cap="rnd">
            <a:solidFill>
              <a:srgbClr val="004C83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1904DBE3-9776-30C1-DD43-9ECDC598048B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95" y="74260"/>
            <a:ext cx="3632536" cy="7745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1" r:id="rId2"/>
    <p:sldLayoutId id="2147483652" r:id="rId3"/>
    <p:sldLayoutId id="2147483653" r:id="rId4"/>
    <p:sldLayoutId id="2147483655" r:id="rId5"/>
  </p:sldLayoutIdLst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  <p:hf sldNum="0"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10" Type="http://schemas.openxmlformats.org/officeDocument/2006/relationships/tags" Target="../tags/tag19.xml"/><Relationship Id="rId19" Type="http://schemas.openxmlformats.org/officeDocument/2006/relationships/notesSlide" Target="../notesSlides/notesSlide2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jpeg"/><Relationship Id="rId18" Type="http://schemas.openxmlformats.org/officeDocument/2006/relationships/image" Target="../media/image13.jpeg"/><Relationship Id="rId3" Type="http://schemas.openxmlformats.org/officeDocument/2006/relationships/tags" Target="../tags/tag29.xml"/><Relationship Id="rId7" Type="http://schemas.openxmlformats.org/officeDocument/2006/relationships/image" Target="../media/image2.png"/><Relationship Id="rId12" Type="http://schemas.openxmlformats.org/officeDocument/2006/relationships/image" Target="../media/image7.jpeg"/><Relationship Id="rId17" Type="http://schemas.openxmlformats.org/officeDocument/2006/relationships/image" Target="../media/image12.png"/><Relationship Id="rId2" Type="http://schemas.openxmlformats.org/officeDocument/2006/relationships/tags" Target="../tags/tag28.xml"/><Relationship Id="rId16" Type="http://schemas.openxmlformats.org/officeDocument/2006/relationships/image" Target="../media/image11.jpeg"/><Relationship Id="rId1" Type="http://schemas.openxmlformats.org/officeDocument/2006/relationships/tags" Target="../tags/tag27.xml"/><Relationship Id="rId6" Type="http://schemas.openxmlformats.org/officeDocument/2006/relationships/notesSlide" Target="../notesSlides/notesSlide3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2.xml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tags" Target="../tags/tag30.xml"/><Relationship Id="rId9" Type="http://schemas.openxmlformats.org/officeDocument/2006/relationships/image" Target="../media/image4.png"/><Relationship Id="rId1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33.xml"/><Relationship Id="rId7" Type="http://schemas.openxmlformats.org/officeDocument/2006/relationships/image" Target="../media/image14.png"/><Relationship Id="rId12" Type="http://schemas.openxmlformats.org/officeDocument/2006/relationships/image" Target="../media/image19.emf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notesSlide" Target="../notesSlides/notesSlide4.xml"/><Relationship Id="rId11" Type="http://schemas.openxmlformats.org/officeDocument/2006/relationships/image" Target="../media/image18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7.png"/><Relationship Id="rId4" Type="http://schemas.openxmlformats.org/officeDocument/2006/relationships/tags" Target="../tags/tag34.xml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37.xml"/><Relationship Id="rId7" Type="http://schemas.openxmlformats.org/officeDocument/2006/relationships/image" Target="../media/image20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23.png"/><Relationship Id="rId4" Type="http://schemas.openxmlformats.org/officeDocument/2006/relationships/tags" Target="../tags/tag38.xml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tags" Target="../tags/tag41.xml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notesSlide" Target="../notesSlides/notesSlide6.xml"/><Relationship Id="rId11" Type="http://schemas.openxmlformats.org/officeDocument/2006/relationships/image" Target="../media/image28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27.png"/><Relationship Id="rId4" Type="http://schemas.openxmlformats.org/officeDocument/2006/relationships/tags" Target="../tags/tag42.xml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32.emf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4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tags" Target="../tags/tag49.xml"/><Relationship Id="rId7" Type="http://schemas.openxmlformats.org/officeDocument/2006/relationships/image" Target="../media/image33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50.xml"/><Relationship Id="rId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tags" Target="../tags/tag53.xml"/><Relationship Id="rId7" Type="http://schemas.openxmlformats.org/officeDocument/2006/relationships/package" Target="../embeddings/Microsoft_Visio_Drawing.vsdx"/><Relationship Id="rId12" Type="http://schemas.openxmlformats.org/officeDocument/2006/relationships/image" Target="../media/image240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notesSlide" Target="../notesSlides/notesSlide9.xml"/><Relationship Id="rId11" Type="http://schemas.openxmlformats.org/officeDocument/2006/relationships/image" Target="../media/image38.png"/><Relationship Id="rId5" Type="http://schemas.openxmlformats.org/officeDocument/2006/relationships/slideLayout" Target="../slideLayouts/slideLayout4.xml"/><Relationship Id="rId10" Type="http://schemas.openxmlformats.org/officeDocument/2006/relationships/image" Target="../media/image37.emf"/><Relationship Id="rId4" Type="http://schemas.openxmlformats.org/officeDocument/2006/relationships/tags" Target="../tags/tag54.xml"/><Relationship Id="rId9" Type="http://schemas.openxmlformats.org/officeDocument/2006/relationships/package" Target="../embeddings/Microsoft_Visio_Drawing1.vsdx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tags" Target="../tags/tag57.xml"/><Relationship Id="rId7" Type="http://schemas.openxmlformats.org/officeDocument/2006/relationships/oleObject" Target="../embeddings/oleObject1.bin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58.xml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tags" Target="../tags/tag61.xml"/><Relationship Id="rId7" Type="http://schemas.openxmlformats.org/officeDocument/2006/relationships/image" Target="../media/image40.emf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62.xml"/><Relationship Id="rId9" Type="http://schemas.openxmlformats.org/officeDocument/2006/relationships/image" Target="../media/image4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image" Target="../media/image34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7" Type="http://schemas.openxmlformats.org/officeDocument/2006/relationships/image" Target="../media/image32.emf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7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6822" y="1371950"/>
            <a:ext cx="12192000" cy="1944216"/>
          </a:xfrm>
          <a:prstGeom prst="rect">
            <a:avLst/>
          </a:prstGeom>
          <a:solidFill>
            <a:srgbClr val="013E7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基于硬件嵌套微指令的轻量化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Frodo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处理器研究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cxnSp>
        <p:nvCxnSpPr>
          <p:cNvPr id="8" name="直接连接符 7"/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41584" y="3734470"/>
            <a:ext cx="12136918" cy="0"/>
          </a:xfrm>
          <a:prstGeom prst="line">
            <a:avLst/>
          </a:prstGeom>
          <a:noFill/>
          <a:ln w="76200" cap="rnd" cmpd="sng" algn="ctr">
            <a:solidFill>
              <a:srgbClr val="013E80"/>
            </a:solidFill>
            <a:prstDash val="solid"/>
          </a:ln>
          <a:effectLst/>
        </p:spPr>
      </p:cxnSp>
      <p:sp>
        <p:nvSpPr>
          <p:cNvPr id="10" name="副标题 16"/>
          <p:cNvSpPr txBox="1"/>
          <p:nvPr>
            <p:custDataLst>
              <p:tags r:id="rId3"/>
            </p:custDataLst>
          </p:nvPr>
        </p:nvSpPr>
        <p:spPr>
          <a:xfrm>
            <a:off x="4305586" y="4644843"/>
            <a:ext cx="4006564" cy="12565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4C8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汇报人：赵正鹏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000" b="1" dirty="0">
                <a:solidFill>
                  <a:srgbClr val="004C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  位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4C8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：华中科技大学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4C8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000" b="1" dirty="0">
                <a:solidFill>
                  <a:srgbClr val="004C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汇报日期：</a:t>
            </a:r>
            <a:r>
              <a:rPr lang="en-US" altLang="zh-CN" sz="2000" b="1" dirty="0">
                <a:solidFill>
                  <a:srgbClr val="004C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2025.11.23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4C8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302029A-657F-788B-A48E-A8A52DD14BF5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 flipV="1">
            <a:off x="27142" y="956606"/>
            <a:ext cx="12151360" cy="12065"/>
          </a:xfrm>
          <a:prstGeom prst="line">
            <a:avLst/>
          </a:prstGeom>
          <a:noFill/>
          <a:ln w="76200" cap="rnd" cmpd="sng" algn="ctr">
            <a:solidFill>
              <a:srgbClr val="013E80"/>
            </a:solidFill>
            <a:prstDash val="solid"/>
          </a:ln>
          <a:effectLst/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延期 1"/>
          <p:cNvSpPr/>
          <p:nvPr/>
        </p:nvSpPr>
        <p:spPr>
          <a:xfrm>
            <a:off x="196215" y="1173669"/>
            <a:ext cx="4675190" cy="5219040"/>
          </a:xfrm>
          <a:prstGeom prst="flowChartDelay">
            <a:avLst/>
          </a:prstGeom>
          <a:solidFill>
            <a:srgbClr val="013F88"/>
          </a:solidFill>
          <a:ln>
            <a:noFill/>
          </a:ln>
          <a:effectLst>
            <a:outerShdw blurRad="228600" dist="508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6" name="组合 17"/>
          <p:cNvGrpSpPr/>
          <p:nvPr>
            <p:custDataLst>
              <p:tags r:id="rId1"/>
            </p:custDataLst>
          </p:nvPr>
        </p:nvGrpSpPr>
        <p:grpSpPr bwMode="auto">
          <a:xfrm>
            <a:off x="6744329" y="2687497"/>
            <a:ext cx="4398016" cy="695325"/>
            <a:chOff x="2068624" y="1630395"/>
            <a:chExt cx="4047241" cy="756047"/>
          </a:xfrm>
          <a:noFill/>
        </p:grpSpPr>
        <p:sp>
          <p:nvSpPr>
            <p:cNvPr id="57" name="圆角矩形 3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068624" y="1630395"/>
              <a:ext cx="712912" cy="756047"/>
            </a:xfrm>
            <a:prstGeom prst="roundRect">
              <a:avLst>
                <a:gd name="adj" fmla="val 16667"/>
              </a:avLst>
            </a:prstGeom>
            <a:solidFill>
              <a:srgbClr val="A6A6A6"/>
            </a:solidFill>
            <a:ln w="25400" cap="flat" cmpd="sng" algn="ctr">
              <a:solidFill>
                <a:srgbClr val="A6A6A6"/>
              </a:solidFill>
              <a:prstDash val="solid"/>
            </a:ln>
            <a:effectLst>
              <a:reflection stA="45000" endPos="3000" dist="50800" dir="5400000" sy="-100000" algn="bl" rotWithShape="0"/>
            </a:effectLst>
          </p:spPr>
          <p:txBody>
            <a:bodyPr lIns="99569" tIns="49785" rIns="99569" bIns="49785" anchor="ctr">
              <a:noAutofit/>
            </a:bodyPr>
            <a:lstStyle/>
            <a:p>
              <a:pPr lvl="0" algn="ctr" defTabSz="1042670" eaLnBrk="0" hangingPunct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defRPr/>
              </a:pPr>
              <a:r>
                <a:rPr lang="zh-CN" altLang="en-US" sz="3200" b="1" kern="0" dirty="0">
                  <a:ln>
                    <a:noFill/>
                  </a:ln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sym typeface="+mn-ea"/>
                </a:rPr>
                <a:t>1</a:t>
              </a:r>
            </a:p>
          </p:txBody>
        </p:sp>
        <p:sp>
          <p:nvSpPr>
            <p:cNvPr id="6" name="圆角矩形 4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727781" y="1630395"/>
              <a:ext cx="3388084" cy="755357"/>
            </a:xfrm>
            <a:prstGeom prst="roundRect">
              <a:avLst>
                <a:gd name="adj" fmla="val 16667"/>
              </a:avLst>
            </a:prstGeom>
            <a:noFill/>
            <a:ln w="25400" cap="flat" cmpd="sng" algn="ctr">
              <a:noFill/>
              <a:prstDash val="solid"/>
            </a:ln>
            <a:effectLst>
              <a:reflection stA="45000" endPos="3000" dist="50800" dir="5400000" sy="-100000" algn="bl" rotWithShape="0"/>
            </a:effectLst>
          </p:spPr>
          <p:txBody>
            <a:bodyPr lIns="99569" tIns="49785" rIns="99569" bIns="49785" anchor="ctr">
              <a:noAutofit/>
            </a:bodyPr>
            <a:lstStyle/>
            <a:p>
              <a:pPr lvl="0" algn="ctr" defTabSz="1042670" eaLnBrk="0" hangingPunct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defRPr/>
              </a:pPr>
              <a:r>
                <a:rPr lang="zh-CN" altLang="en-US" sz="3200" b="1" kern="0" dirty="0">
                  <a:ln>
                    <a:noFill/>
                  </a:ln>
                  <a:solidFill>
                    <a:srgbClr val="013F8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核心架构设计</a:t>
              </a:r>
            </a:p>
          </p:txBody>
        </p:sp>
      </p:grpSp>
      <p:grpSp>
        <p:nvGrpSpPr>
          <p:cNvPr id="7" name="组合 17"/>
          <p:cNvGrpSpPr/>
          <p:nvPr>
            <p:custDataLst>
              <p:tags r:id="rId2"/>
            </p:custDataLst>
          </p:nvPr>
        </p:nvGrpSpPr>
        <p:grpSpPr bwMode="auto">
          <a:xfrm>
            <a:off x="6753860" y="3897172"/>
            <a:ext cx="4398010" cy="695325"/>
            <a:chOff x="2068630" y="1629705"/>
            <a:chExt cx="4047235" cy="756047"/>
          </a:xfrm>
          <a:noFill/>
        </p:grpSpPr>
        <p:sp>
          <p:nvSpPr>
            <p:cNvPr id="8" name="圆角矩形 3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068630" y="1629705"/>
              <a:ext cx="712912" cy="756047"/>
            </a:xfrm>
            <a:prstGeom prst="roundRect">
              <a:avLst>
                <a:gd name="adj" fmla="val 16667"/>
              </a:avLst>
            </a:prstGeom>
            <a:solidFill>
              <a:srgbClr val="A6A6A6"/>
            </a:solidFill>
            <a:ln w="25400" cap="flat" cmpd="sng" algn="ctr">
              <a:solidFill>
                <a:srgbClr val="A6A6A6"/>
              </a:solidFill>
              <a:prstDash val="solid"/>
            </a:ln>
            <a:effectLst>
              <a:reflection stA="45000" endPos="3000" dist="50800" dir="5400000" sy="-100000" algn="bl" rotWithShape="0"/>
            </a:effectLst>
          </p:spPr>
          <p:txBody>
            <a:bodyPr lIns="99569" tIns="49785" rIns="99569" bIns="49785" anchor="ctr">
              <a:noAutofit/>
            </a:bodyPr>
            <a:lstStyle/>
            <a:p>
              <a:pPr lvl="0" algn="ctr" defTabSz="1042670" eaLnBrk="0" hangingPunct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defRPr/>
              </a:pPr>
              <a:r>
                <a:rPr lang="en-US" altLang="zh-CN" sz="3200" b="1" kern="0" dirty="0">
                  <a:ln>
                    <a:noFill/>
                  </a:ln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sym typeface="+mn-ea"/>
                </a:rPr>
                <a:t>2</a:t>
              </a:r>
            </a:p>
          </p:txBody>
        </p:sp>
        <p:sp>
          <p:nvSpPr>
            <p:cNvPr id="9" name="圆角矩形 4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727781" y="1630395"/>
              <a:ext cx="3388084" cy="755357"/>
            </a:xfrm>
            <a:prstGeom prst="roundRect">
              <a:avLst>
                <a:gd name="adj" fmla="val 16667"/>
              </a:avLst>
            </a:prstGeom>
            <a:noFill/>
            <a:ln w="25400" cap="flat" cmpd="sng" algn="ctr">
              <a:noFill/>
              <a:prstDash val="solid"/>
            </a:ln>
            <a:effectLst>
              <a:reflection stA="45000" endPos="3000" dist="50800" dir="5400000" sy="-100000" algn="bl" rotWithShape="0"/>
            </a:effectLst>
          </p:spPr>
          <p:txBody>
            <a:bodyPr lIns="99569" tIns="49785" rIns="99569" bIns="49785" anchor="ctr">
              <a:noAutofit/>
            </a:bodyPr>
            <a:lstStyle/>
            <a:p>
              <a:pPr lvl="0" algn="ctr" defTabSz="1042670" eaLnBrk="0" hangingPunct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defRPr/>
              </a:pPr>
              <a:r>
                <a:rPr lang="zh-CN" altLang="en-US" sz="3200" b="1" kern="0" dirty="0">
                  <a:ln>
                    <a:noFill/>
                  </a:ln>
                  <a:solidFill>
                    <a:srgbClr val="013F8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实验结果</a:t>
              </a:r>
            </a:p>
          </p:txBody>
        </p:sp>
      </p:grpSp>
      <p:grpSp>
        <p:nvGrpSpPr>
          <p:cNvPr id="10" name="组合 17"/>
          <p:cNvGrpSpPr/>
          <p:nvPr>
            <p:custDataLst>
              <p:tags r:id="rId3"/>
            </p:custDataLst>
          </p:nvPr>
        </p:nvGrpSpPr>
        <p:grpSpPr bwMode="auto">
          <a:xfrm>
            <a:off x="6763385" y="5193207"/>
            <a:ext cx="4456430" cy="695325"/>
            <a:chOff x="2068630" y="1630395"/>
            <a:chExt cx="4100996" cy="756047"/>
          </a:xfrm>
          <a:noFill/>
        </p:grpSpPr>
        <p:sp>
          <p:nvSpPr>
            <p:cNvPr id="11" name="圆角矩形 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068630" y="1630395"/>
              <a:ext cx="712912" cy="756047"/>
            </a:xfrm>
            <a:prstGeom prst="roundRect">
              <a:avLst>
                <a:gd name="adj" fmla="val 16667"/>
              </a:avLst>
            </a:prstGeom>
            <a:solidFill>
              <a:srgbClr val="A6A6A6"/>
            </a:solidFill>
            <a:ln w="25400" cap="flat" cmpd="sng" algn="ctr">
              <a:solidFill>
                <a:srgbClr val="A6A6A6"/>
              </a:solidFill>
              <a:prstDash val="solid"/>
            </a:ln>
            <a:effectLst>
              <a:reflection stA="45000" endPos="3000" dist="50800" dir="5400000" sy="-100000" algn="bl" rotWithShape="0"/>
            </a:effectLst>
          </p:spPr>
          <p:txBody>
            <a:bodyPr lIns="99569" tIns="49785" rIns="99569" bIns="49785" anchor="ctr">
              <a:noAutofit/>
            </a:bodyPr>
            <a:lstStyle/>
            <a:p>
              <a:pPr lvl="0" algn="ctr" defTabSz="1042670" eaLnBrk="0" hangingPunct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defRPr/>
              </a:pPr>
              <a:r>
                <a:rPr lang="en-US" altLang="zh-CN" sz="3200" b="1" kern="0" dirty="0">
                  <a:ln>
                    <a:noFill/>
                  </a:ln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sym typeface="+mn-ea"/>
                </a:rPr>
                <a:t>3</a:t>
              </a:r>
            </a:p>
          </p:txBody>
        </p:sp>
        <p:sp>
          <p:nvSpPr>
            <p:cNvPr id="12" name="圆角矩形 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781542" y="1630395"/>
              <a:ext cx="3388084" cy="755357"/>
            </a:xfrm>
            <a:prstGeom prst="roundRect">
              <a:avLst>
                <a:gd name="adj" fmla="val 16667"/>
              </a:avLst>
            </a:prstGeom>
            <a:noFill/>
            <a:ln w="25400" cap="flat" cmpd="sng" algn="ctr">
              <a:noFill/>
              <a:prstDash val="solid"/>
            </a:ln>
            <a:effectLst>
              <a:reflection stA="45000" endPos="3000" dist="50800" dir="5400000" sy="-100000" algn="bl" rotWithShape="0"/>
            </a:effectLst>
          </p:spPr>
          <p:txBody>
            <a:bodyPr lIns="99569" tIns="49785" rIns="99569" bIns="49785" anchor="ctr">
              <a:noAutofit/>
            </a:bodyPr>
            <a:lstStyle/>
            <a:p>
              <a:pPr lvl="0" algn="ctr" defTabSz="1042670" eaLnBrk="0" hangingPunct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defRPr/>
              </a:pPr>
              <a:r>
                <a:rPr lang="zh-CN" altLang="en-US" sz="3200" b="1" kern="0" dirty="0">
                  <a:solidFill>
                    <a:srgbClr val="013F88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总结与展望</a:t>
              </a:r>
              <a:endParaRPr lang="zh-CN" altLang="en-US" sz="3200" b="1" kern="0" dirty="0">
                <a:ln>
                  <a:noFill/>
                </a:ln>
                <a:solidFill>
                  <a:srgbClr val="013F8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17" name="直接连接符 16"/>
          <p:cNvCxnSpPr/>
          <p:nvPr>
            <p:custDataLst>
              <p:tags r:id="rId4"/>
            </p:custDataLst>
          </p:nvPr>
        </p:nvCxnSpPr>
        <p:spPr>
          <a:xfrm>
            <a:off x="2703655" y="1743038"/>
            <a:ext cx="19685" cy="361442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2197735" y="2312847"/>
            <a:ext cx="1106170" cy="2263140"/>
          </a:xfrm>
          <a:prstGeom prst="rect">
            <a:avLst/>
          </a:prstGeom>
          <a:solidFill>
            <a:srgbClr val="013F88"/>
          </a:solidFill>
        </p:spPr>
        <p:txBody>
          <a:bodyPr vert="eaVert"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目录</a:t>
            </a: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8235315" y="3289159"/>
            <a:ext cx="2910840" cy="29400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sz="1400" b="1" dirty="0">
                <a:solidFill>
                  <a:schemeClr val="bg1">
                    <a:lumMod val="65000"/>
                  </a:schemeClr>
                </a:solidFill>
                <a:sym typeface="+mn-ea"/>
              </a:rPr>
              <a:t>Proposed Architecture</a:t>
            </a: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8200390" y="4478197"/>
            <a:ext cx="3138170" cy="38608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lvl="0" algn="l" defTabSz="1042670" eaLnBrk="0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defRPr/>
            </a:pPr>
            <a:r>
              <a:rPr lang="en-US" altLang="zh-CN" sz="14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Results &amp; </a:t>
            </a:r>
            <a:r>
              <a:rPr lang="en-US" altLang="zh-CN" sz="1400" b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Comparision</a:t>
            </a:r>
            <a:endParaRPr lang="en-US" altLang="zh-CN" sz="14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8797398" y="5767247"/>
            <a:ext cx="2828290" cy="38608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Conclusion</a:t>
            </a:r>
          </a:p>
        </p:txBody>
      </p:sp>
      <p:grpSp>
        <p:nvGrpSpPr>
          <p:cNvPr id="5" name="组合 17">
            <a:extLst>
              <a:ext uri="{FF2B5EF4-FFF2-40B4-BE49-F238E27FC236}">
                <a16:creationId xmlns:a16="http://schemas.microsoft.com/office/drawing/2014/main" id="{5CF6C0C9-5561-32DD-47E5-B823F4834EE5}"/>
              </a:ext>
            </a:extLst>
          </p:cNvPr>
          <p:cNvGrpSpPr/>
          <p:nvPr>
            <p:custDataLst>
              <p:tags r:id="rId8"/>
            </p:custDataLst>
          </p:nvPr>
        </p:nvGrpSpPr>
        <p:grpSpPr bwMode="auto">
          <a:xfrm>
            <a:off x="6718929" y="1547831"/>
            <a:ext cx="4398016" cy="695325"/>
            <a:chOff x="2068624" y="1630395"/>
            <a:chExt cx="4047241" cy="756047"/>
          </a:xfrm>
          <a:noFill/>
        </p:grpSpPr>
        <p:sp>
          <p:nvSpPr>
            <p:cNvPr id="13" name="圆角矩形 3">
              <a:extLst>
                <a:ext uri="{FF2B5EF4-FFF2-40B4-BE49-F238E27FC236}">
                  <a16:creationId xmlns:a16="http://schemas.microsoft.com/office/drawing/2014/main" id="{A96C5FAA-23DC-562D-974D-4EA891A3858E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068624" y="1630395"/>
              <a:ext cx="712912" cy="756047"/>
            </a:xfrm>
            <a:prstGeom prst="roundRect">
              <a:avLst>
                <a:gd name="adj" fmla="val 16667"/>
              </a:avLst>
            </a:prstGeom>
            <a:solidFill>
              <a:srgbClr val="A6A6A6"/>
            </a:solidFill>
            <a:ln w="25400" cap="flat" cmpd="sng" algn="ctr">
              <a:solidFill>
                <a:srgbClr val="A6A6A6"/>
              </a:solidFill>
              <a:prstDash val="solid"/>
            </a:ln>
            <a:effectLst>
              <a:reflection stA="45000" endPos="3000" dist="50800" dir="5400000" sy="-100000" algn="bl" rotWithShape="0"/>
            </a:effectLst>
          </p:spPr>
          <p:txBody>
            <a:bodyPr lIns="99569" tIns="49785" rIns="99569" bIns="49785" anchor="ctr">
              <a:noAutofit/>
            </a:bodyPr>
            <a:lstStyle/>
            <a:p>
              <a:pPr lvl="0" algn="ctr" defTabSz="1042670" eaLnBrk="0" hangingPunct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defRPr/>
              </a:pPr>
              <a:r>
                <a:rPr lang="en-US" altLang="zh-CN" sz="3200" b="1" kern="0" dirty="0">
                  <a:ln>
                    <a:noFill/>
                  </a:ln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sym typeface="+mn-ea"/>
                </a:rPr>
                <a:t>0</a:t>
              </a:r>
              <a:endParaRPr lang="zh-CN" altLang="en-US" sz="3200" b="1" kern="0" dirty="0">
                <a:ln>
                  <a:noFill/>
                </a:ln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  <p:sp>
          <p:nvSpPr>
            <p:cNvPr id="14" name="圆角矩形 4">
              <a:extLst>
                <a:ext uri="{FF2B5EF4-FFF2-40B4-BE49-F238E27FC236}">
                  <a16:creationId xmlns:a16="http://schemas.microsoft.com/office/drawing/2014/main" id="{AFDBF6C0-F53A-B99D-3A1B-48ED9F4CE417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727781" y="1630395"/>
              <a:ext cx="3388084" cy="755357"/>
            </a:xfrm>
            <a:prstGeom prst="roundRect">
              <a:avLst>
                <a:gd name="adj" fmla="val 16667"/>
              </a:avLst>
            </a:prstGeom>
            <a:noFill/>
            <a:ln w="25400" cap="flat" cmpd="sng" algn="ctr">
              <a:noFill/>
              <a:prstDash val="solid"/>
            </a:ln>
            <a:effectLst>
              <a:reflection stA="45000" endPos="3000" dist="50800" dir="5400000" sy="-100000" algn="bl" rotWithShape="0"/>
            </a:effectLst>
          </p:spPr>
          <p:txBody>
            <a:bodyPr lIns="99569" tIns="49785" rIns="99569" bIns="49785" anchor="ctr">
              <a:noAutofit/>
            </a:bodyPr>
            <a:lstStyle/>
            <a:p>
              <a:pPr lvl="0" algn="ctr" defTabSz="1042670" eaLnBrk="0" hangingPunct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defRPr/>
              </a:pPr>
              <a:r>
                <a:rPr lang="zh-CN" altLang="en-US" sz="3200" b="1" kern="0" dirty="0">
                  <a:ln>
                    <a:noFill/>
                  </a:ln>
                  <a:solidFill>
                    <a:srgbClr val="013F8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引言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A75349C8-0B78-E5D1-B531-6624D0236E8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8695690" y="2146654"/>
            <a:ext cx="1610360" cy="29400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chemeClr val="bg1">
                    <a:lumMod val="65000"/>
                  </a:schemeClr>
                </a:solidFill>
                <a:sym typeface="+mn-ea"/>
              </a:rPr>
              <a:t>Introduction</a:t>
            </a:r>
            <a:endParaRPr lang="en-US" sz="1400" b="1" dirty="0">
              <a:solidFill>
                <a:schemeClr val="bg1">
                  <a:lumMod val="65000"/>
                </a:schemeClr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CF9E1-FE27-0F59-D9FA-4A3C9CBF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F91CDFE0-FEFE-5EC2-7EF0-EA6BB90A8BC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07099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实验结果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175C93C-1BF3-FF31-089D-0CE3FC0BE0F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076645" y="372234"/>
            <a:ext cx="1869547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总结与展望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CDA304D-47B8-3054-7549-A02E4438AB5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337552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核心架构设计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A6B8B29-8843-2F85-6580-5A38974BA89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744616" y="372233"/>
            <a:ext cx="1592935" cy="485651"/>
          </a:xfrm>
          <a:prstGeom prst="rect">
            <a:avLst/>
          </a:prstGeom>
          <a:solidFill>
            <a:srgbClr val="004C8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引言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D510DE4-F592-79A2-F35B-E0966DA1E250}"/>
              </a:ext>
            </a:extLst>
          </p:cNvPr>
          <p:cNvSpPr txBox="1"/>
          <p:nvPr/>
        </p:nvSpPr>
        <p:spPr>
          <a:xfrm>
            <a:off x="194554" y="1062334"/>
            <a:ext cx="38456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2000" b="1" i="0" u="none" strike="noStrike" dirty="0">
                <a:solidFill>
                  <a:srgbClr val="1976D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基本态势：量子威胁与技术变革</a:t>
            </a:r>
            <a:endParaRPr lang="zh-CN" altLang="en-US" sz="20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73C46D4-68A9-D92E-FB83-C116CE941AFC}"/>
              </a:ext>
            </a:extLst>
          </p:cNvPr>
          <p:cNvSpPr txBox="1"/>
          <p:nvPr/>
        </p:nvSpPr>
        <p:spPr>
          <a:xfrm>
            <a:off x="557720" y="167475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1800" b="1" i="0" u="none" strike="noStrike" dirty="0">
                <a:solidFill>
                  <a:srgbClr val="1976D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传统密码的危机 </a:t>
            </a:r>
            <a:r>
              <a:rPr lang="en-US" altLang="zh-CN" sz="1800" b="1" i="0" u="none" strike="noStrike" dirty="0">
                <a:solidFill>
                  <a:srgbClr val="1976D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(The Threat)</a:t>
            </a:r>
            <a:endParaRPr lang="en-US" altLang="zh-CN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br>
              <a:rPr lang="en-US" altLang="zh-CN" dirty="0"/>
            </a:br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420334-6793-73B0-0B09-9E30C2CCA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737" y="1674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3015F531-59E1-BC3D-06BE-DDEE32C90401}"/>
              </a:ext>
            </a:extLst>
          </p:cNvPr>
          <p:cNvSpPr txBox="1"/>
          <p:nvPr/>
        </p:nvSpPr>
        <p:spPr>
          <a:xfrm>
            <a:off x="194554" y="2028692"/>
            <a:ext cx="5570706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altLang="zh-CN" sz="1600" b="1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Shor </a:t>
            </a:r>
            <a:r>
              <a:rPr lang="zh-CN" altLang="en-US" sz="1600" b="1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算法悬顶</a:t>
            </a:r>
            <a:r>
              <a:rPr lang="en-US" altLang="zh-CN" sz="1600" b="1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量子计算机可在多项式时间内高效破解基于大数分解 </a:t>
            </a:r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(RSA) 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和离散对数 </a:t>
            </a:r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(ECC) 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的传统公钥密码</a:t>
            </a:r>
            <a:endParaRPr lang="en-US" altLang="zh-CN" sz="1600" b="0" i="0" u="none" strike="noStrike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"Harvest Now, Decrypt Later":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攻击者现在窃取加密数据，等待量子计算机成熟后解密。迁移至抗量子密码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(PQC)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刻不容缓</a:t>
            </a:r>
            <a:endParaRPr lang="zh-CN" altLang="en-US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6CE4F6FE-A82B-9A09-0A14-B800014B5A8A}"/>
              </a:ext>
            </a:extLst>
          </p:cNvPr>
          <p:cNvGrpSpPr/>
          <p:nvPr/>
        </p:nvGrpSpPr>
        <p:grpSpPr>
          <a:xfrm>
            <a:off x="5765260" y="1674750"/>
            <a:ext cx="6371617" cy="923330"/>
            <a:chOff x="6682903" y="1674750"/>
            <a:chExt cx="6371617" cy="923330"/>
          </a:xfrm>
        </p:grpSpPr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75DDAB70-E3AE-64AE-083A-1F6EF5784E54}"/>
                </a:ext>
              </a:extLst>
            </p:cNvPr>
            <p:cNvSpPr txBox="1"/>
            <p:nvPr/>
          </p:nvSpPr>
          <p:spPr>
            <a:xfrm>
              <a:off x="6958520" y="1674750"/>
              <a:ext cx="60960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zh-CN" altLang="en-US" b="1" dirty="0">
                  <a:solidFill>
                    <a:srgbClr val="1976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后量子密码 </a:t>
              </a:r>
              <a:r>
                <a:rPr lang="en-US" altLang="zh-CN" b="1" dirty="0">
                  <a:solidFill>
                    <a:srgbClr val="1976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(PQC) </a:t>
              </a:r>
              <a:r>
                <a:rPr lang="zh-CN" altLang="en-US" b="1" dirty="0">
                  <a:solidFill>
                    <a:srgbClr val="1976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的崛起</a:t>
              </a:r>
            </a:p>
            <a:p>
              <a:pPr>
                <a:buNone/>
              </a:pPr>
              <a:br>
                <a:rPr lang="zh-CN" altLang="en-US" dirty="0"/>
              </a:br>
              <a:endParaRPr lang="zh-CN" altLang="en-US" dirty="0"/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6E732738-0CCD-B398-393B-99E216BB41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2903" y="1711641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8" name="文本框 47">
            <a:extLst>
              <a:ext uri="{FF2B5EF4-FFF2-40B4-BE49-F238E27FC236}">
                <a16:creationId xmlns:a16="http://schemas.microsoft.com/office/drawing/2014/main" id="{28C1DDFC-6A81-CEB9-C5C6-AB8295732328}"/>
              </a:ext>
            </a:extLst>
          </p:cNvPr>
          <p:cNvSpPr txBox="1"/>
          <p:nvPr/>
        </p:nvSpPr>
        <p:spPr>
          <a:xfrm>
            <a:off x="5765260" y="2016441"/>
            <a:ext cx="554152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技术重构</a:t>
            </a:r>
            <a:r>
              <a:rPr lang="en-US" altLang="zh-CN" sz="1600" b="1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寻找能够抵抗</a:t>
            </a:r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Shor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算法攻击的新型数学工具</a:t>
            </a:r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替换脆弱的</a:t>
            </a:r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RSA/ECC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体系</a:t>
            </a:r>
            <a:endParaRPr lang="en-US" altLang="zh-CN" sz="1600" b="0" i="0" u="none" strike="noStrike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演进趋势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随着量子计算临近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全球正加速从理论研究向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实质性迁移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阶段迈进</a:t>
            </a:r>
            <a:endParaRPr lang="zh-CN" altLang="en-US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AE93198E-AFA0-E799-CBD8-B96A8FAA2B43}"/>
              </a:ext>
            </a:extLst>
          </p:cNvPr>
          <p:cNvGrpSpPr/>
          <p:nvPr/>
        </p:nvGrpSpPr>
        <p:grpSpPr>
          <a:xfrm>
            <a:off x="329026" y="3611699"/>
            <a:ext cx="4034155" cy="2377440"/>
            <a:chOff x="690" y="6593"/>
            <a:chExt cx="6353" cy="3744"/>
          </a:xfrm>
        </p:grpSpPr>
        <p:sp>
          <p:nvSpPr>
            <p:cNvPr id="51" name="矩形: 圆角 121">
              <a:extLst>
                <a:ext uri="{FF2B5EF4-FFF2-40B4-BE49-F238E27FC236}">
                  <a16:creationId xmlns:a16="http://schemas.microsoft.com/office/drawing/2014/main" id="{71368250-A734-16CD-955C-36FF58A330DF}"/>
                </a:ext>
              </a:extLst>
            </p:cNvPr>
            <p:cNvSpPr/>
            <p:nvPr/>
          </p:nvSpPr>
          <p:spPr>
            <a:xfrm>
              <a:off x="690" y="6593"/>
              <a:ext cx="6204" cy="3744"/>
            </a:xfrm>
            <a:prstGeom prst="roundRect">
              <a:avLst>
                <a:gd name="adj" fmla="val 3060"/>
              </a:avLst>
            </a:prstGeom>
            <a:solidFill>
              <a:srgbClr val="DEE7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F073074A-37D3-2A9E-459D-B52B131E3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" y="6832"/>
              <a:ext cx="2744" cy="1917"/>
            </a:xfrm>
            <a:prstGeom prst="rect">
              <a:avLst/>
            </a:prstGeom>
          </p:spPr>
        </p:pic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09429673-C0C5-B7A8-98B9-39C0F4371C67}"/>
                </a:ext>
              </a:extLst>
            </p:cNvPr>
            <p:cNvSpPr txBox="1"/>
            <p:nvPr/>
          </p:nvSpPr>
          <p:spPr>
            <a:xfrm>
              <a:off x="899" y="8824"/>
              <a:ext cx="2744" cy="14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2019</a:t>
              </a: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年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Google</a:t>
              </a: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endPara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“</a:t>
              </a: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悬铃木</a:t>
              </a:r>
              <a:r>
                <a:rPr lang="en-US" altLang="zh-CN" b="1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”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53</a:t>
              </a: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量子比特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673872C8-C456-1FF1-0966-99C21D155714}"/>
                </a:ext>
              </a:extLst>
            </p:cNvPr>
            <p:cNvSpPr txBox="1"/>
            <p:nvPr/>
          </p:nvSpPr>
          <p:spPr>
            <a:xfrm>
              <a:off x="3699" y="8824"/>
              <a:ext cx="3345" cy="14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2023</a:t>
              </a: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年</a:t>
              </a:r>
              <a:r>
                <a:rPr lang="en-US" altLang="zh-CN" b="1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IBM</a:t>
              </a:r>
              <a:endPara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lvl="0" algn="ctr"/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b="1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“Condor </a:t>
              </a:r>
              <a:r>
                <a:rPr lang="en-US" altLang="zh-CN" b="1" dirty="0" err="1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QPU</a:t>
              </a:r>
              <a:r>
                <a:rPr kumimoji="0" lang="en-US" altLang="zh-CN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”</a:t>
              </a:r>
            </a:p>
            <a:p>
              <a:pPr lvl="0" algn="ctr"/>
              <a:r>
                <a:rPr lang="en-US" altLang="zh-CN" b="1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1121</a:t>
              </a:r>
              <a:r>
                <a:rPr lang="zh-CN" altLang="en-US" b="1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量子比特</a:t>
              </a:r>
            </a:p>
          </p:txBody>
        </p:sp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B6AD5BB9-5617-DBAA-FA79-06F2EF882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37" y="6809"/>
              <a:ext cx="2917" cy="1911"/>
            </a:xfrm>
            <a:prstGeom prst="rect">
              <a:avLst/>
            </a:prstGeom>
          </p:spPr>
        </p:pic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0968850A-56B9-AB31-75A3-67758D41D6AD}"/>
              </a:ext>
            </a:extLst>
          </p:cNvPr>
          <p:cNvGrpSpPr/>
          <p:nvPr/>
        </p:nvGrpSpPr>
        <p:grpSpPr>
          <a:xfrm>
            <a:off x="4654446" y="3572570"/>
            <a:ext cx="2919730" cy="2402840"/>
            <a:chOff x="7177" y="6587"/>
            <a:chExt cx="4598" cy="3784"/>
          </a:xfrm>
        </p:grpSpPr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1ADE3C57-C19D-7697-1F36-F1AEF46C1F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13658" t="-585" r="14913" b="585"/>
            <a:stretch>
              <a:fillRect/>
            </a:stretch>
          </p:blipFill>
          <p:spPr>
            <a:xfrm>
              <a:off x="8412" y="8783"/>
              <a:ext cx="1755" cy="1589"/>
            </a:xfrm>
            <a:prstGeom prst="ellipse">
              <a:avLst/>
            </a:prstGeom>
          </p:spPr>
        </p:pic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C180BC1E-2FF0-2506-B7DA-DB67447268AC}"/>
                </a:ext>
              </a:extLst>
            </p:cNvPr>
            <p:cNvCxnSpPr/>
            <p:nvPr/>
          </p:nvCxnSpPr>
          <p:spPr>
            <a:xfrm>
              <a:off x="10769" y="8457"/>
              <a:ext cx="1007" cy="0"/>
            </a:xfrm>
            <a:prstGeom prst="straightConnector1">
              <a:avLst/>
            </a:prstGeom>
            <a:ln w="762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DF9197E-7BC2-8902-6B9B-F1B9EF49F9D8}"/>
                </a:ext>
              </a:extLst>
            </p:cNvPr>
            <p:cNvSpPr txBox="1"/>
            <p:nvPr/>
          </p:nvSpPr>
          <p:spPr>
            <a:xfrm>
              <a:off x="7854" y="8000"/>
              <a:ext cx="3096" cy="7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 panose="020B0503020204020204" pitchFamily="34" charset="-122"/>
                  <a:cs typeface="+mn-cs"/>
                </a:rPr>
                <a:t>量子计算攻击</a:t>
              </a:r>
            </a:p>
          </p:txBody>
        </p:sp>
        <p:pic>
          <p:nvPicPr>
            <p:cNvPr id="60" name="Picture 2" descr="卡通黑客119132png图片素材 - 设计盒子">
              <a:extLst>
                <a:ext uri="{FF2B5EF4-FFF2-40B4-BE49-F238E27FC236}">
                  <a16:creationId xmlns:a16="http://schemas.microsoft.com/office/drawing/2014/main" id="{1EDF712C-7C8D-545E-2903-B9AF95633B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25" t="5316" r="18172" b="16087"/>
            <a:stretch>
              <a:fillRect/>
            </a:stretch>
          </p:blipFill>
          <p:spPr bwMode="auto">
            <a:xfrm>
              <a:off x="8746" y="6587"/>
              <a:ext cx="1301" cy="13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8D9E8148-AD48-CC50-27F3-788E9DE7B27C}"/>
                </a:ext>
              </a:extLst>
            </p:cNvPr>
            <p:cNvGrpSpPr/>
            <p:nvPr/>
          </p:nvGrpSpPr>
          <p:grpSpPr>
            <a:xfrm>
              <a:off x="7177" y="8179"/>
              <a:ext cx="684" cy="485"/>
              <a:chOff x="5308570" y="4668411"/>
              <a:chExt cx="434358" cy="307777"/>
            </a:xfrm>
          </p:grpSpPr>
          <p:sp>
            <p:nvSpPr>
              <p:cNvPr id="63" name="箭头: V 形 62">
                <a:extLst>
                  <a:ext uri="{FF2B5EF4-FFF2-40B4-BE49-F238E27FC236}">
                    <a16:creationId xmlns:a16="http://schemas.microsoft.com/office/drawing/2014/main" id="{2EB357B2-A1AD-D0A3-5F2D-80E68B6F0858}"/>
                  </a:ext>
                </a:extLst>
              </p:cNvPr>
              <p:cNvSpPr/>
              <p:nvPr/>
            </p:nvSpPr>
            <p:spPr>
              <a:xfrm>
                <a:off x="5507553" y="4668411"/>
                <a:ext cx="235375" cy="307777"/>
              </a:xfrm>
              <a:prstGeom prst="chevron">
                <a:avLst>
                  <a:gd name="adj" fmla="val 38296"/>
                </a:avLst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24" name="箭头: V 形 1023">
                <a:extLst>
                  <a:ext uri="{FF2B5EF4-FFF2-40B4-BE49-F238E27FC236}">
                    <a16:creationId xmlns:a16="http://schemas.microsoft.com/office/drawing/2014/main" id="{8D4F3B48-8742-93CE-FC86-17D17048A417}"/>
                  </a:ext>
                </a:extLst>
              </p:cNvPr>
              <p:cNvSpPr/>
              <p:nvPr/>
            </p:nvSpPr>
            <p:spPr>
              <a:xfrm>
                <a:off x="5308570" y="4668411"/>
                <a:ext cx="235375" cy="307777"/>
              </a:xfrm>
              <a:prstGeom prst="chevron">
                <a:avLst>
                  <a:gd name="adj" fmla="val 38296"/>
                </a:avLst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ED2A77D3-2A84-0B56-7E97-2E06A74D6517}"/>
                </a:ext>
              </a:extLst>
            </p:cNvPr>
            <p:cNvSpPr/>
            <p:nvPr/>
          </p:nvSpPr>
          <p:spPr>
            <a:xfrm>
              <a:off x="10675" y="8750"/>
              <a:ext cx="1018" cy="5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ea typeface="微软雅黑" panose="020B0503020204020204" pitchFamily="34" charset="-122"/>
                </a:rPr>
                <a:t>破解</a:t>
              </a:r>
              <a:endParaRPr lang="zh-CN" altLang="en-US" dirty="0"/>
            </a:p>
          </p:txBody>
        </p:sp>
      </p:grpSp>
      <p:grpSp>
        <p:nvGrpSpPr>
          <p:cNvPr id="1025" name="组合 1024">
            <a:extLst>
              <a:ext uri="{FF2B5EF4-FFF2-40B4-BE49-F238E27FC236}">
                <a16:creationId xmlns:a16="http://schemas.microsoft.com/office/drawing/2014/main" id="{A5D01B25-A523-8E4E-A8A1-F1315461E506}"/>
              </a:ext>
            </a:extLst>
          </p:cNvPr>
          <p:cNvGrpSpPr/>
          <p:nvPr/>
        </p:nvGrpSpPr>
        <p:grpSpPr>
          <a:xfrm>
            <a:off x="7935291" y="3548757"/>
            <a:ext cx="3769360" cy="2377440"/>
            <a:chOff x="12186" y="6593"/>
            <a:chExt cx="5936" cy="3744"/>
          </a:xfrm>
        </p:grpSpPr>
        <p:sp>
          <p:nvSpPr>
            <p:cNvPr id="1027" name="矩形: 圆角 1026">
              <a:extLst>
                <a:ext uri="{FF2B5EF4-FFF2-40B4-BE49-F238E27FC236}">
                  <a16:creationId xmlns:a16="http://schemas.microsoft.com/office/drawing/2014/main" id="{A3E4F74F-2475-7538-7B88-ADFFFB6C323D}"/>
                </a:ext>
              </a:extLst>
            </p:cNvPr>
            <p:cNvSpPr/>
            <p:nvPr/>
          </p:nvSpPr>
          <p:spPr>
            <a:xfrm>
              <a:off x="12186" y="6593"/>
              <a:ext cx="5937" cy="3744"/>
            </a:xfrm>
            <a:prstGeom prst="roundRect">
              <a:avLst>
                <a:gd name="adj" fmla="val 3060"/>
              </a:avLst>
            </a:prstGeom>
            <a:solidFill>
              <a:srgbClr val="DEE7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29" name="Picture 10" descr="https://gimg2.baidu.com/image_search/src=http%3A%2F%2Fzkres1.myzaker.com%2F202208%2F630d80788e9f090c8f259dc1_1024.jpg&amp;refer=http%3A%2F%2Fzkres1.myzaker.com&amp;app=2002&amp;size=f9999,10000&amp;q=a80&amp;n=0&amp;g=0n&amp;fmt=auto?sec=1664679297&amp;t=7216e39b869b132928907bd721673792">
              <a:extLst>
                <a:ext uri="{FF2B5EF4-FFF2-40B4-BE49-F238E27FC236}">
                  <a16:creationId xmlns:a16="http://schemas.microsoft.com/office/drawing/2014/main" id="{9A539CDB-5A10-5C45-D491-F3150A5927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09" t="36831" r="23344" b="17874"/>
            <a:stretch>
              <a:fillRect/>
            </a:stretch>
          </p:blipFill>
          <p:spPr bwMode="auto">
            <a:xfrm>
              <a:off x="12396" y="7769"/>
              <a:ext cx="1672" cy="14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30" name="直接连接符 1029">
              <a:extLst>
                <a:ext uri="{FF2B5EF4-FFF2-40B4-BE49-F238E27FC236}">
                  <a16:creationId xmlns:a16="http://schemas.microsoft.com/office/drawing/2014/main" id="{15A4B23B-73C5-F6EC-09B2-9BE5E8179DDB}"/>
                </a:ext>
              </a:extLst>
            </p:cNvPr>
            <p:cNvCxnSpPr/>
            <p:nvPr/>
          </p:nvCxnSpPr>
          <p:spPr>
            <a:xfrm flipV="1">
              <a:off x="13238" y="7574"/>
              <a:ext cx="1449" cy="809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直接连接符 1030">
              <a:extLst>
                <a:ext uri="{FF2B5EF4-FFF2-40B4-BE49-F238E27FC236}">
                  <a16:creationId xmlns:a16="http://schemas.microsoft.com/office/drawing/2014/main" id="{6F958314-0E89-0C8A-BB62-5118D4934C1E}"/>
                </a:ext>
              </a:extLst>
            </p:cNvPr>
            <p:cNvCxnSpPr/>
            <p:nvPr/>
          </p:nvCxnSpPr>
          <p:spPr>
            <a:xfrm flipV="1">
              <a:off x="13212" y="7899"/>
              <a:ext cx="4021" cy="478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直接连接符 1031">
              <a:extLst>
                <a:ext uri="{FF2B5EF4-FFF2-40B4-BE49-F238E27FC236}">
                  <a16:creationId xmlns:a16="http://schemas.microsoft.com/office/drawing/2014/main" id="{088999BD-C410-AF7B-13D9-4952465CD0EF}"/>
                </a:ext>
              </a:extLst>
            </p:cNvPr>
            <p:cNvCxnSpPr/>
            <p:nvPr/>
          </p:nvCxnSpPr>
          <p:spPr>
            <a:xfrm>
              <a:off x="13285" y="8383"/>
              <a:ext cx="2934" cy="135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直接连接符 1032">
              <a:extLst>
                <a:ext uri="{FF2B5EF4-FFF2-40B4-BE49-F238E27FC236}">
                  <a16:creationId xmlns:a16="http://schemas.microsoft.com/office/drawing/2014/main" id="{DBD7D5A4-0B0A-4318-A274-271503134680}"/>
                </a:ext>
              </a:extLst>
            </p:cNvPr>
            <p:cNvCxnSpPr/>
            <p:nvPr/>
          </p:nvCxnSpPr>
          <p:spPr>
            <a:xfrm>
              <a:off x="13238" y="8387"/>
              <a:ext cx="3875" cy="1379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直接连接符 1033">
              <a:extLst>
                <a:ext uri="{FF2B5EF4-FFF2-40B4-BE49-F238E27FC236}">
                  <a16:creationId xmlns:a16="http://schemas.microsoft.com/office/drawing/2014/main" id="{16D01330-7290-4F74-CF2F-31287403D284}"/>
                </a:ext>
              </a:extLst>
            </p:cNvPr>
            <p:cNvCxnSpPr/>
            <p:nvPr/>
          </p:nvCxnSpPr>
          <p:spPr>
            <a:xfrm>
              <a:off x="13247" y="8373"/>
              <a:ext cx="1499" cy="1205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5" name="Picture 2" descr="https://gimg2.baidu.com/image_search/src=http%3A%2F%2Fimg-blog.csdnimg.cn%2Fimg_convert%2Fb51ed93409c3f98fe4a5f7dd3a9c1250.png&amp;refer=http%3A%2F%2Fimg-blog.csdnimg.cn&amp;app=2002&amp;size=f9999,10000&amp;q=a80&amp;n=0&amp;g=0n&amp;fmt=auto?sec=1664676592&amp;t=28285fff050d7de35d01ea6be2aa4c95">
              <a:extLst>
                <a:ext uri="{FF2B5EF4-FFF2-40B4-BE49-F238E27FC236}">
                  <a16:creationId xmlns:a16="http://schemas.microsoft.com/office/drawing/2014/main" id="{13793E76-C590-0217-CF11-02F04D7BB3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47" y="8088"/>
              <a:ext cx="1349" cy="8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36" name="组合 1035">
              <a:extLst>
                <a:ext uri="{FF2B5EF4-FFF2-40B4-BE49-F238E27FC236}">
                  <a16:creationId xmlns:a16="http://schemas.microsoft.com/office/drawing/2014/main" id="{AD6A89D0-683A-EADD-AF10-FDBB80DB2819}"/>
                </a:ext>
              </a:extLst>
            </p:cNvPr>
            <p:cNvGrpSpPr/>
            <p:nvPr/>
          </p:nvGrpSpPr>
          <p:grpSpPr>
            <a:xfrm>
              <a:off x="16624" y="7276"/>
              <a:ext cx="1217" cy="1194"/>
              <a:chOff x="1193817" y="5326633"/>
              <a:chExt cx="1446493" cy="974832"/>
            </a:xfrm>
          </p:grpSpPr>
          <p:pic>
            <p:nvPicPr>
              <p:cNvPr id="1040" name="Picture 4" descr="查看源图像">
                <a:extLst>
                  <a:ext uri="{FF2B5EF4-FFF2-40B4-BE49-F238E27FC236}">
                    <a16:creationId xmlns:a16="http://schemas.microsoft.com/office/drawing/2014/main" id="{17D6B3E4-7469-7016-5E70-2B8DF585E0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136" t="30296" r="54577" b="23862"/>
              <a:stretch>
                <a:fillRect/>
              </a:stretch>
            </p:blipFill>
            <p:spPr bwMode="auto">
              <a:xfrm>
                <a:off x="1193818" y="5547466"/>
                <a:ext cx="1446492" cy="7539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1" name="Picture 4" descr="查看源图像">
                <a:extLst>
                  <a:ext uri="{FF2B5EF4-FFF2-40B4-BE49-F238E27FC236}">
                    <a16:creationId xmlns:a16="http://schemas.microsoft.com/office/drawing/2014/main" id="{B0B6AC6C-A8FA-8F7B-169B-BE4809A3DB1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6185" t="46232" r="20572" b="43138"/>
              <a:stretch>
                <a:fillRect/>
              </a:stretch>
            </p:blipFill>
            <p:spPr bwMode="auto">
              <a:xfrm>
                <a:off x="1193817" y="5326633"/>
                <a:ext cx="1446491" cy="2278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37" name="Picture 6" descr="https://img2.baidu.com/it/u=166188190,2840984338&amp;fm=253&amp;fmt=auto&amp;app=138&amp;f=JPEG?w=500&amp;h=500">
              <a:extLst>
                <a:ext uri="{FF2B5EF4-FFF2-40B4-BE49-F238E27FC236}">
                  <a16:creationId xmlns:a16="http://schemas.microsoft.com/office/drawing/2014/main" id="{57AE6779-6C76-9923-AF4A-63011F1391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62" y="7055"/>
              <a:ext cx="933" cy="9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2" descr="https://gimg2.baidu.com/image_search/src=http%3A%2F%2Fimg-blog.csdnimg.cn%2F20210127145139504.png%3Fx-oss-process%3Dimage%2Fwatermark%2Ctype_ZmFuZ3poZW5naGVpdGk%2Cshadow_10%2Ctext_aHR0cHM6Ly9ibG9nLmNzZG4ubmV0L3RvcmNoOTk%3D%2Csize_16%2Ccolor_FFFFFF%2Ct_70%23pic_center&amp;refer=http%3A%2F%2Fimg-blog.csdnimg.cn&amp;app=2002&amp;size=f9999,10000&amp;q=a80&amp;n=0&amp;g=0n&amp;fmt=auto?sec=1664679496&amp;t=db7703eeae25c176dac1c91d427f3d5d">
              <a:extLst>
                <a:ext uri="{FF2B5EF4-FFF2-40B4-BE49-F238E27FC236}">
                  <a16:creationId xmlns:a16="http://schemas.microsoft.com/office/drawing/2014/main" id="{680B73DD-E691-8C86-CF6F-CD01DD3E01A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86" t="29339" r="21717" b="36276"/>
            <a:stretch>
              <a:fillRect/>
            </a:stretch>
          </p:blipFill>
          <p:spPr bwMode="auto">
            <a:xfrm>
              <a:off x="16240" y="9399"/>
              <a:ext cx="1715" cy="6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9" name="Picture 14" descr="https://gimg2.baidu.com/image_search/src=http%3A%2F%2Fwww.debug8.com%2Fstatics%2Fuploads%2F2020%2F02%2F26%2F1582698307365442.jpg&amp;refer=http%3A%2F%2Fwww.debug8.com&amp;app=2002&amp;size=f9999,10000&amp;q=a80&amp;n=0&amp;g=0n&amp;fmt=auto?sec=1664679591&amp;t=a00bc380727a66a0d0ba235178fd9e5a">
              <a:extLst>
                <a:ext uri="{FF2B5EF4-FFF2-40B4-BE49-F238E27FC236}">
                  <a16:creationId xmlns:a16="http://schemas.microsoft.com/office/drawing/2014/main" id="{220D5212-72FF-3031-2A4D-CBBFDB99A87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37" t="4562" r="12803" b="1955"/>
            <a:stretch>
              <a:fillRect/>
            </a:stretch>
          </p:blipFill>
          <p:spPr bwMode="auto">
            <a:xfrm>
              <a:off x="14240" y="9173"/>
              <a:ext cx="1011" cy="10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57029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B729D-849D-1925-A53C-03004E376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56AA9D4F-8518-53AE-7EC4-61559254F42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07099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实验结果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53B2ED1-AAF5-55EC-606A-7BA2BA26C59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076645" y="372234"/>
            <a:ext cx="1869547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总结与展望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EBA92B3-D171-CFFE-350B-39B2A9954E0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337552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核心架构设计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6AA54F3-11A8-ED79-AAB5-BF9B48F072B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744616" y="372233"/>
            <a:ext cx="1592935" cy="485651"/>
          </a:xfrm>
          <a:prstGeom prst="rect">
            <a:avLst/>
          </a:prstGeom>
          <a:solidFill>
            <a:srgbClr val="004C8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引言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404628D-FC11-410A-7D9C-D49D8599A9B2}"/>
              </a:ext>
            </a:extLst>
          </p:cNvPr>
          <p:cNvSpPr txBox="1"/>
          <p:nvPr/>
        </p:nvSpPr>
        <p:spPr>
          <a:xfrm>
            <a:off x="194553" y="1062334"/>
            <a:ext cx="690663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2000" b="1" i="0" u="none" strike="noStrike" dirty="0">
                <a:solidFill>
                  <a:srgbClr val="1976D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时代背景：</a:t>
            </a:r>
            <a:r>
              <a:rPr lang="en-US" altLang="zh-CN" sz="2000" b="1" i="0" u="none" strike="noStrike" dirty="0">
                <a:solidFill>
                  <a:srgbClr val="1976D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PQC</a:t>
            </a:r>
            <a:r>
              <a:rPr lang="zh-CN" altLang="en-US" sz="2000" b="1" i="0" u="none" strike="noStrike" dirty="0">
                <a:solidFill>
                  <a:srgbClr val="1976D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迈入标准化元年，国家布局</a:t>
            </a:r>
            <a:r>
              <a:rPr lang="zh-CN" altLang="en-US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“未来产业”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2176" name="Picture 128">
            <a:extLst>
              <a:ext uri="{FF2B5EF4-FFF2-40B4-BE49-F238E27FC236}">
                <a16:creationId xmlns:a16="http://schemas.microsoft.com/office/drawing/2014/main" id="{A9625C02-34B0-7C8F-FB18-E04E21FCF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85" y="1682479"/>
            <a:ext cx="5159998" cy="4617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8" name="Picture 130">
            <a:extLst>
              <a:ext uri="{FF2B5EF4-FFF2-40B4-BE49-F238E27FC236}">
                <a16:creationId xmlns:a16="http://schemas.microsoft.com/office/drawing/2014/main" id="{04974A02-EB03-510D-C7D7-54DC4BC3D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20" y="1805779"/>
            <a:ext cx="26670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90" name="文本框 2089">
            <a:extLst>
              <a:ext uri="{FF2B5EF4-FFF2-40B4-BE49-F238E27FC236}">
                <a16:creationId xmlns:a16="http://schemas.microsoft.com/office/drawing/2014/main" id="{967C1CAD-1560-C9A3-E296-FC27005EA128}"/>
              </a:ext>
            </a:extLst>
          </p:cNvPr>
          <p:cNvSpPr txBox="1"/>
          <p:nvPr/>
        </p:nvSpPr>
        <p:spPr>
          <a:xfrm>
            <a:off x="755920" y="1739442"/>
            <a:ext cx="28822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1800" b="1" i="0" u="none" strike="noStrike" dirty="0">
                <a:solidFill>
                  <a:srgbClr val="0D47A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国际新局势 </a:t>
            </a:r>
            <a:r>
              <a:rPr lang="en-US" altLang="zh-CN" sz="1800" b="1" i="0" u="none" strike="noStrike" dirty="0">
                <a:solidFill>
                  <a:srgbClr val="0D47A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(2024-2025)</a:t>
            </a:r>
            <a:endParaRPr lang="zh-CN" altLang="en-US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sp>
        <p:nvSpPr>
          <p:cNvPr id="2092" name="文本框 2091">
            <a:extLst>
              <a:ext uri="{FF2B5EF4-FFF2-40B4-BE49-F238E27FC236}">
                <a16:creationId xmlns:a16="http://schemas.microsoft.com/office/drawing/2014/main" id="{D0966154-1C07-E18F-22FF-F4CD0DB89626}"/>
              </a:ext>
            </a:extLst>
          </p:cNvPr>
          <p:cNvSpPr txBox="1"/>
          <p:nvPr/>
        </p:nvSpPr>
        <p:spPr>
          <a:xfrm>
            <a:off x="489219" y="2201107"/>
            <a:ext cx="4603387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zh-CN" altLang="en-US" sz="1600" b="1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标准落地</a:t>
            </a:r>
            <a:r>
              <a:rPr lang="en-US" altLang="zh-CN" sz="1600" b="1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月，</a:t>
            </a:r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NIST 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正式发布 </a:t>
            </a:r>
            <a:r>
              <a:rPr lang="en-US" altLang="zh-CN" sz="1600" b="1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FIPS 203/204/205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标准，全球</a:t>
            </a:r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PQC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产业化序幕拉开</a:t>
            </a:r>
            <a:endParaRPr lang="en-US" altLang="zh-CN" sz="1600" b="0" i="0" u="none" strike="noStrike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潜在危机</a:t>
            </a:r>
            <a:r>
              <a:rPr lang="en-US" altLang="zh-CN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单一数学结构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(Kyber)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存在单点失效风险，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等巨头呼吁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混合加密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多样化备份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endParaRPr lang="zh-CN" altLang="en-US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zh-CN" altLang="en-US" sz="1600" dirty="0"/>
            </a:br>
            <a:endParaRPr lang="zh-CN" altLang="en-US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pic>
        <p:nvPicPr>
          <p:cNvPr id="2093" name="Picture 128">
            <a:extLst>
              <a:ext uri="{FF2B5EF4-FFF2-40B4-BE49-F238E27FC236}">
                <a16:creationId xmlns:a16="http://schemas.microsoft.com/office/drawing/2014/main" id="{A0583EDF-AF18-4C4D-7E4D-0BA832594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607" y="1625516"/>
            <a:ext cx="5159998" cy="4617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2" name="Picture 134">
            <a:extLst>
              <a:ext uri="{FF2B5EF4-FFF2-40B4-BE49-F238E27FC236}">
                <a16:creationId xmlns:a16="http://schemas.microsoft.com/office/drawing/2014/main" id="{D7895296-725D-74C2-5922-BCECF1640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05778"/>
            <a:ext cx="30480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95" name="文本框 2094">
            <a:extLst>
              <a:ext uri="{FF2B5EF4-FFF2-40B4-BE49-F238E27FC236}">
                <a16:creationId xmlns:a16="http://schemas.microsoft.com/office/drawing/2014/main" id="{3AA8A70C-8103-5852-1081-D1FCC6998642}"/>
              </a:ext>
            </a:extLst>
          </p:cNvPr>
          <p:cNvSpPr txBox="1"/>
          <p:nvPr/>
        </p:nvSpPr>
        <p:spPr>
          <a:xfrm>
            <a:off x="6337551" y="1739442"/>
            <a:ext cx="60971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1800" b="1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国家新战略 </a:t>
            </a:r>
            <a:r>
              <a:rPr lang="en-US" altLang="zh-CN" sz="1800" b="1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800" b="1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新质生产力</a:t>
            </a:r>
            <a:r>
              <a:rPr lang="en-US" altLang="zh-CN" sz="1800" b="1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sp>
        <p:nvSpPr>
          <p:cNvPr id="2096" name="文本框 2095">
            <a:extLst>
              <a:ext uri="{FF2B5EF4-FFF2-40B4-BE49-F238E27FC236}">
                <a16:creationId xmlns:a16="http://schemas.microsoft.com/office/drawing/2014/main" id="{542750B8-C1CB-29D7-9E6D-B66ABC4ACA5E}"/>
              </a:ext>
            </a:extLst>
          </p:cNvPr>
          <p:cNvSpPr txBox="1"/>
          <p:nvPr/>
        </p:nvSpPr>
        <p:spPr>
          <a:xfrm>
            <a:off x="6154074" y="2148339"/>
            <a:ext cx="478535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zh-CN" altLang="en-US" sz="1600" b="1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战略高地</a:t>
            </a:r>
            <a:r>
              <a:rPr lang="en-US" altLang="zh-CN" sz="1600" b="1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“十四五”规划将</a:t>
            </a:r>
            <a:r>
              <a:rPr lang="zh-CN" altLang="en-US" sz="1600" b="1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量子信息</a:t>
            </a:r>
            <a:r>
              <a:rPr lang="zh-CN" altLang="en-US" sz="160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列为优先发展的未来产业赛道</a:t>
            </a:r>
            <a:endParaRPr lang="en-US" altLang="zh-CN" sz="1600" i="0" u="none" strike="noStrike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核心任务</a:t>
            </a:r>
            <a:r>
              <a:rPr lang="en-US" altLang="zh-CN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响应工信部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未来产业实施意见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，推动核心加密硬件的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自主可控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国产化替代</a:t>
            </a:r>
          </a:p>
          <a:p>
            <a:br>
              <a:rPr lang="zh-CN" altLang="en-US" sz="1600" dirty="0"/>
            </a:br>
            <a:endParaRPr lang="zh-CN" altLang="en-US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pic>
        <p:nvPicPr>
          <p:cNvPr id="2100" name="图片 2099">
            <a:extLst>
              <a:ext uri="{FF2B5EF4-FFF2-40B4-BE49-F238E27FC236}">
                <a16:creationId xmlns:a16="http://schemas.microsoft.com/office/drawing/2014/main" id="{68C4B7E3-503D-E2AF-ED66-453BE9F4DB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840" y="3910473"/>
            <a:ext cx="4436488" cy="1885193"/>
          </a:xfrm>
          <a:prstGeom prst="rect">
            <a:avLst/>
          </a:prstGeom>
        </p:spPr>
      </p:pic>
      <p:grpSp>
        <p:nvGrpSpPr>
          <p:cNvPr id="2105" name="组合 2104">
            <a:extLst>
              <a:ext uri="{FF2B5EF4-FFF2-40B4-BE49-F238E27FC236}">
                <a16:creationId xmlns:a16="http://schemas.microsoft.com/office/drawing/2014/main" id="{AA4842B8-4F63-9868-6942-A9C766ADC770}"/>
              </a:ext>
            </a:extLst>
          </p:cNvPr>
          <p:cNvGrpSpPr/>
          <p:nvPr/>
        </p:nvGrpSpPr>
        <p:grpSpPr>
          <a:xfrm>
            <a:off x="6013105" y="4338333"/>
            <a:ext cx="5176645" cy="1249610"/>
            <a:chOff x="111348" y="5237444"/>
            <a:chExt cx="6920757" cy="1559222"/>
          </a:xfrm>
        </p:grpSpPr>
        <p:pic>
          <p:nvPicPr>
            <p:cNvPr id="2101" name="Picture 4" descr="https://www.cacrnet.org.cn/upload/5c933c875554d.png">
              <a:extLst>
                <a:ext uri="{FF2B5EF4-FFF2-40B4-BE49-F238E27FC236}">
                  <a16:creationId xmlns:a16="http://schemas.microsoft.com/office/drawing/2014/main" id="{812084C2-CC87-A800-2362-E34C77C1FD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856"/>
            <a:stretch>
              <a:fillRect/>
            </a:stretch>
          </p:blipFill>
          <p:spPr bwMode="auto">
            <a:xfrm>
              <a:off x="311365" y="5305796"/>
              <a:ext cx="864096" cy="857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02" name="矩形 2101">
              <a:extLst>
                <a:ext uri="{FF2B5EF4-FFF2-40B4-BE49-F238E27FC236}">
                  <a16:creationId xmlns:a16="http://schemas.microsoft.com/office/drawing/2014/main" id="{885CD8FF-30C7-52A4-6B29-5B2E09D65F63}"/>
                </a:ext>
              </a:extLst>
            </p:cNvPr>
            <p:cNvSpPr/>
            <p:nvPr/>
          </p:nvSpPr>
          <p:spPr>
            <a:xfrm>
              <a:off x="123307" y="6163047"/>
              <a:ext cx="1275564" cy="6100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全国密码</a:t>
              </a:r>
              <a:endPara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算法设计竞赛</a:t>
              </a:r>
              <a:endParaRPr lang="zh-CN" altLang="en-US" sz="10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3" name="矩形: 圆角 2102">
              <a:extLst>
                <a:ext uri="{FF2B5EF4-FFF2-40B4-BE49-F238E27FC236}">
                  <a16:creationId xmlns:a16="http://schemas.microsoft.com/office/drawing/2014/main" id="{D5CB81E2-704F-A1AA-C74C-EF4B6FDB33A0}"/>
                </a:ext>
              </a:extLst>
            </p:cNvPr>
            <p:cNvSpPr/>
            <p:nvPr/>
          </p:nvSpPr>
          <p:spPr>
            <a:xfrm>
              <a:off x="111348" y="5237444"/>
              <a:ext cx="6920757" cy="1559222"/>
            </a:xfrm>
            <a:prstGeom prst="roundRect">
              <a:avLst>
                <a:gd name="adj" fmla="val 3023"/>
              </a:avLst>
            </a:prstGeom>
            <a:noFill/>
            <a:ln w="9525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04" name="图片 2103">
              <a:extLst>
                <a:ext uri="{FF2B5EF4-FFF2-40B4-BE49-F238E27FC236}">
                  <a16:creationId xmlns:a16="http://schemas.microsoft.com/office/drawing/2014/main" id="{86EDE3BF-A7AC-81FA-FA7D-147921862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67929" y="5305796"/>
              <a:ext cx="5373927" cy="148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4293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AB8A8-6B96-0763-4AF0-66E6090A2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>
            <a:extLst>
              <a:ext uri="{FF2B5EF4-FFF2-40B4-BE49-F238E27FC236}">
                <a16:creationId xmlns:a16="http://schemas.microsoft.com/office/drawing/2014/main" id="{3BDDD2C1-B5F9-A26E-6E8D-1039D5DAC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41" y="4405673"/>
            <a:ext cx="1104900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E4200702-D5C7-235D-9BA3-E70ABB9D6D4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07099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实验结果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07F24CF-0B62-0516-D14D-B84BCCACBD6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076645" y="372234"/>
            <a:ext cx="1869547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总结与展望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E580263-D8C3-2129-779D-E7C5F723AD2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337552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核心架构设计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0601316-9F37-0635-BC34-FB2DD479968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744616" y="372233"/>
            <a:ext cx="1592935" cy="485651"/>
          </a:xfrm>
          <a:prstGeom prst="rect">
            <a:avLst/>
          </a:prstGeom>
          <a:solidFill>
            <a:srgbClr val="004C8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引言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15AE85-A5B5-D61F-520B-D9F17F49A77B}"/>
              </a:ext>
            </a:extLst>
          </p:cNvPr>
          <p:cNvSpPr txBox="1"/>
          <p:nvPr/>
        </p:nvSpPr>
        <p:spPr>
          <a:xfrm>
            <a:off x="194553" y="1062334"/>
            <a:ext cx="690663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技术选型：从“主流标准”到“战略备份”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C1B2A4-623B-B2D3-5A3F-68FD645CB915}"/>
              </a:ext>
            </a:extLst>
          </p:cNvPr>
          <p:cNvSpPr txBox="1"/>
          <p:nvPr/>
        </p:nvSpPr>
        <p:spPr>
          <a:xfrm>
            <a:off x="554154" y="1660810"/>
            <a:ext cx="60971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1800" b="1" i="0" u="none" strike="noStrike" dirty="0">
                <a:solidFill>
                  <a:srgbClr val="0D47A1"/>
                </a:solidFill>
                <a:effectLst/>
                <a:latin typeface="Poppins" panose="00000500000000000000" pitchFamily="2" charset="0"/>
              </a:rPr>
              <a:t>差异化选型逻辑</a:t>
            </a:r>
            <a:endParaRPr lang="zh-CN" altLang="en-US" b="0" dirty="0">
              <a:effectLst/>
            </a:endParaRP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5A5D340-BA51-2D6D-B6F7-D4E59C25A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29" y="1757242"/>
            <a:ext cx="276225" cy="24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9E9F3A4-147A-730C-E211-B0A0BA8EC82D}"/>
              </a:ext>
            </a:extLst>
          </p:cNvPr>
          <p:cNvSpPr txBox="1"/>
          <p:nvPr/>
        </p:nvSpPr>
        <p:spPr>
          <a:xfrm>
            <a:off x="194553" y="2022692"/>
            <a:ext cx="5278498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zh-CN" altLang="en-US" sz="1600" b="1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标准并非终点</a:t>
            </a:r>
            <a:r>
              <a:rPr lang="en-US" altLang="zh-CN" sz="1600" b="1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主流标准 </a:t>
            </a:r>
            <a:r>
              <a:rPr lang="en-US" altLang="zh-CN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(Kyber/ML-KEM) </a:t>
            </a:r>
            <a:r>
              <a:rPr lang="zh-CN" altLang="en-US" sz="1600" b="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引入了代数结构以换取速度，存在潜在的数学结构风险</a:t>
            </a:r>
            <a:endParaRPr lang="en-US" altLang="zh-CN" sz="1600" b="0" i="0" u="none" strike="noStrike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不可或缺的备份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FrodoKEM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去除了所有代数结构，基于最质朴的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LWE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问题。虽未入选首批标准，但被认为是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安全上限更高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的战略储备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(BSI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314E4D-727D-D01C-E957-1A2C7A86CEE8}"/>
              </a:ext>
            </a:extLst>
          </p:cNvPr>
          <p:cNvSpPr txBox="1"/>
          <p:nvPr/>
        </p:nvSpPr>
        <p:spPr>
          <a:xfrm>
            <a:off x="6337551" y="1660810"/>
            <a:ext cx="60971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1800" b="1" i="0" u="none" strike="noStrike" dirty="0">
                <a:solidFill>
                  <a:srgbClr val="B71C1C"/>
                </a:solidFill>
                <a:effectLst/>
                <a:latin typeface="Poppins" panose="00000500000000000000" pitchFamily="2" charset="0"/>
              </a:rPr>
              <a:t>落地面临的鸿沟</a:t>
            </a:r>
            <a:endParaRPr lang="zh-CN" altLang="en-US" b="0" dirty="0">
              <a:effectLst/>
            </a:endParaRP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CF33A81-C664-BC65-DB4C-416539A3F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574" y="1739442"/>
            <a:ext cx="247650" cy="24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DA37257-611C-2687-F8A7-F1A95D1B4CC2}"/>
              </a:ext>
            </a:extLst>
          </p:cNvPr>
          <p:cNvSpPr txBox="1"/>
          <p:nvPr/>
        </p:nvSpPr>
        <p:spPr>
          <a:xfrm>
            <a:off x="6096000" y="2041582"/>
            <a:ext cx="527849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/>
              <a:t>安全的代价</a:t>
            </a:r>
            <a:r>
              <a:rPr lang="en-US" altLang="zh-CN" sz="1600" b="1" dirty="0"/>
              <a:t>:</a:t>
            </a:r>
            <a:r>
              <a:rPr lang="zh-CN" altLang="en-US" sz="1600" dirty="0"/>
              <a:t> </a:t>
            </a:r>
            <a:r>
              <a:rPr lang="en-US" altLang="zh-CN" sz="1600" dirty="0"/>
              <a:t>"</a:t>
            </a:r>
            <a:r>
              <a:rPr lang="zh-CN" altLang="en-US" sz="1600" dirty="0"/>
              <a:t>无结构</a:t>
            </a:r>
            <a:r>
              <a:rPr lang="en-US" altLang="zh-CN" sz="1600" dirty="0"/>
              <a:t>"</a:t>
            </a:r>
            <a:r>
              <a:rPr lang="zh-CN" altLang="en-US" sz="1600" dirty="0"/>
              <a:t>导致运算量呈平方级增长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资源矛盾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极高的计算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存储开销，使其难以在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资源受限的边缘设备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(IoT/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嵌入式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上部署。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DF5ACE-632F-BCAB-BCC4-CC50781009B5}"/>
              </a:ext>
            </a:extLst>
          </p:cNvPr>
          <p:cNvSpPr txBox="1"/>
          <p:nvPr/>
        </p:nvSpPr>
        <p:spPr>
          <a:xfrm>
            <a:off x="1544475" y="4579209"/>
            <a:ext cx="102135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1800" b="1" i="0" u="none" strike="noStrike" dirty="0">
                <a:solidFill>
                  <a:srgbClr val="006064"/>
                </a:solidFill>
                <a:effectLst/>
                <a:latin typeface="Lato" panose="020F0502020204030203" pitchFamily="34" charset="0"/>
              </a:rPr>
              <a:t> 目标：</a:t>
            </a:r>
            <a:r>
              <a:rPr lang="zh-CN" altLang="en-US" sz="1800" b="0" i="0" u="none" strike="noStrike" dirty="0">
                <a:solidFill>
                  <a:srgbClr val="006064"/>
                </a:solidFill>
                <a:effectLst/>
                <a:latin typeface="Lato" panose="020F0502020204030203" pitchFamily="34" charset="0"/>
              </a:rPr>
              <a:t> 设计一种</a:t>
            </a:r>
            <a:r>
              <a:rPr lang="zh-CN" altLang="en-US" sz="1800" b="1" i="0" u="none" strike="noStrike" dirty="0">
                <a:solidFill>
                  <a:srgbClr val="006064"/>
                </a:solidFill>
                <a:effectLst/>
                <a:latin typeface="Lato" panose="020F0502020204030203" pitchFamily="34" charset="0"/>
              </a:rPr>
              <a:t>轻量化硬件架构</a:t>
            </a:r>
            <a:r>
              <a:rPr lang="zh-CN" altLang="en-US" sz="1800" b="0" i="0" u="none" strike="noStrike" dirty="0">
                <a:solidFill>
                  <a:srgbClr val="006064"/>
                </a:solidFill>
                <a:effectLst/>
                <a:latin typeface="Lato" panose="020F0502020204030203" pitchFamily="34" charset="0"/>
              </a:rPr>
              <a:t>，让</a:t>
            </a:r>
            <a:r>
              <a:rPr lang="en-US" altLang="zh-CN" sz="1800" b="0" i="0" u="none" strike="noStrike" dirty="0">
                <a:solidFill>
                  <a:srgbClr val="006064"/>
                </a:solidFill>
                <a:effectLst/>
                <a:latin typeface="Lato" panose="020F0502020204030203" pitchFamily="34" charset="0"/>
              </a:rPr>
              <a:t>"</a:t>
            </a:r>
            <a:r>
              <a:rPr lang="zh-CN" altLang="en-US" sz="1800" b="0" i="0" u="none" strike="noStrike" dirty="0">
                <a:solidFill>
                  <a:srgbClr val="006064"/>
                </a:solidFill>
                <a:effectLst/>
                <a:latin typeface="Lato" panose="020F0502020204030203" pitchFamily="34" charset="0"/>
              </a:rPr>
              <a:t>最厚重</a:t>
            </a:r>
            <a:r>
              <a:rPr lang="en-US" altLang="zh-CN" sz="1800" b="0" i="0" u="none" strike="noStrike" dirty="0">
                <a:solidFill>
                  <a:srgbClr val="006064"/>
                </a:solidFill>
                <a:effectLst/>
                <a:latin typeface="Lato" panose="020F0502020204030203" pitchFamily="34" charset="0"/>
              </a:rPr>
              <a:t>"</a:t>
            </a:r>
            <a:r>
              <a:rPr lang="zh-CN" altLang="en-US" sz="1800" b="0" i="0" u="none" strike="noStrike" dirty="0">
                <a:solidFill>
                  <a:srgbClr val="006064"/>
                </a:solidFill>
                <a:effectLst/>
                <a:latin typeface="Lato" panose="020F0502020204030203" pitchFamily="34" charset="0"/>
              </a:rPr>
              <a:t>的算法也能在</a:t>
            </a:r>
            <a:r>
              <a:rPr lang="en-US" altLang="zh-CN" sz="1800" b="0" i="0" u="none" strike="noStrike" dirty="0">
                <a:solidFill>
                  <a:srgbClr val="006064"/>
                </a:solidFill>
                <a:effectLst/>
                <a:latin typeface="Lato" panose="020F0502020204030203" pitchFamily="34" charset="0"/>
              </a:rPr>
              <a:t>"</a:t>
            </a:r>
            <a:r>
              <a:rPr lang="zh-CN" altLang="en-US" sz="1800" b="0" i="0" u="none" strike="noStrike" dirty="0">
                <a:solidFill>
                  <a:srgbClr val="006064"/>
                </a:solidFill>
                <a:effectLst/>
                <a:latin typeface="Lato" panose="020F0502020204030203" pitchFamily="34" charset="0"/>
              </a:rPr>
              <a:t>最受限</a:t>
            </a:r>
            <a:r>
              <a:rPr lang="en-US" altLang="zh-CN" sz="1800" b="0" i="0" u="none" strike="noStrike" dirty="0">
                <a:solidFill>
                  <a:srgbClr val="006064"/>
                </a:solidFill>
                <a:effectLst/>
                <a:latin typeface="Lato" panose="020F0502020204030203" pitchFamily="34" charset="0"/>
              </a:rPr>
              <a:t>"</a:t>
            </a:r>
            <a:r>
              <a:rPr lang="zh-CN" altLang="en-US" sz="1800" b="0" i="0" u="none" strike="noStrike" dirty="0">
                <a:solidFill>
                  <a:srgbClr val="006064"/>
                </a:solidFill>
                <a:effectLst/>
                <a:latin typeface="Lato" panose="020F0502020204030203" pitchFamily="34" charset="0"/>
              </a:rPr>
              <a:t>的设备上高效运行。</a:t>
            </a:r>
            <a:endParaRPr lang="zh-CN" altLang="en-US" b="0" dirty="0">
              <a:effectLst/>
            </a:endParaRP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DFE38794-0766-D90E-3A7E-B166110EB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379" y="4653323"/>
            <a:ext cx="2000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40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D0A2C-EB18-63B8-E43C-F84DE32DF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>
            <a:extLst>
              <a:ext uri="{FF2B5EF4-FFF2-40B4-BE49-F238E27FC236}">
                <a16:creationId xmlns:a16="http://schemas.microsoft.com/office/drawing/2014/main" id="{DB8ABDA1-F952-C507-1AC8-AC492E021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2389" y="1493273"/>
            <a:ext cx="3394107" cy="349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31426AA3-A673-DE9B-904B-2827D3D8A99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07099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实验结果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8C7B834-CA3C-5DAB-81BA-558E873B734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076645" y="372234"/>
            <a:ext cx="1869547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总结与展望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48D62CA-0E40-CBAD-1E5D-7B1D16CF4CC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337552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核心架构设计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69AD4B5-E855-7D9F-79EE-37EFE9E374F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744616" y="372233"/>
            <a:ext cx="1592935" cy="485651"/>
          </a:xfrm>
          <a:prstGeom prst="rect">
            <a:avLst/>
          </a:prstGeom>
          <a:solidFill>
            <a:srgbClr val="004C8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引言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23D38F-2DE3-B0E6-1E38-254FFF099D02}"/>
              </a:ext>
            </a:extLst>
          </p:cNvPr>
          <p:cNvSpPr txBox="1"/>
          <p:nvPr/>
        </p:nvSpPr>
        <p:spPr>
          <a:xfrm>
            <a:off x="138495" y="1060109"/>
            <a:ext cx="60971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研究现状：</a:t>
            </a:r>
            <a:r>
              <a:rPr lang="en-US" altLang="zh-CN" sz="2000" b="1" dirty="0" err="1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FrodoKEM</a:t>
            </a:r>
            <a:r>
              <a:rPr lang="en-US" altLang="zh-CN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加速技术的演进</a:t>
            </a: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14F8A24-84B1-2A8D-4B33-5C8AEB05D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45" y="1464603"/>
            <a:ext cx="3394107" cy="352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047E9B06-B2B0-4890-094F-2F0CECAD8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610" y="1534505"/>
            <a:ext cx="47625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1437944-A564-44E1-B8AE-F7F91EC422CC}"/>
              </a:ext>
            </a:extLst>
          </p:cNvPr>
          <p:cNvSpPr txBox="1"/>
          <p:nvPr/>
        </p:nvSpPr>
        <p:spPr>
          <a:xfrm>
            <a:off x="8135934" y="1956737"/>
            <a:ext cx="60971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1800" b="1" i="0" u="none" strike="noStrike" dirty="0">
                <a:solidFill>
                  <a:srgbClr val="1976D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嵌入式软件与轻量协同</a:t>
            </a:r>
            <a:endParaRPr lang="zh-CN" altLang="en-US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74BD2B2-B535-8E4E-EE27-AD6498EFC1C4}"/>
              </a:ext>
            </a:extLst>
          </p:cNvPr>
          <p:cNvSpPr txBox="1"/>
          <p:nvPr/>
        </p:nvSpPr>
        <p:spPr>
          <a:xfrm>
            <a:off x="8022389" y="2314453"/>
            <a:ext cx="3277459" cy="115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代表工作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Karl et al.(DDECS2022)</a:t>
            </a:r>
            <a:br>
              <a:rPr lang="zh-CN" altLang="en-US" dirty="0"/>
            </a:b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控制，仅加速核心算子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86755CB-D29F-4FCE-12EB-31DD9AEB115B}"/>
              </a:ext>
            </a:extLst>
          </p:cNvPr>
          <p:cNvSpPr txBox="1"/>
          <p:nvPr/>
        </p:nvSpPr>
        <p:spPr>
          <a:xfrm>
            <a:off x="8414621" y="3832083"/>
            <a:ext cx="294529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1600" b="1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 局限</a:t>
            </a:r>
            <a:r>
              <a:rPr lang="en-US" altLang="zh-CN" sz="1600" b="1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b="0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受限于处理器频率与总线带宽，端到端</a:t>
            </a:r>
            <a:r>
              <a:rPr lang="zh-CN" altLang="en-US" sz="1600" b="1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延迟极高</a:t>
            </a:r>
            <a:r>
              <a:rPr lang="zh-CN" altLang="en-US" sz="1600" b="0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0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b="0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数百毫秒</a:t>
            </a:r>
            <a:r>
              <a:rPr lang="en-US" altLang="zh-CN" sz="1600" b="0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b="0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，难以满足实时性要求。</a:t>
            </a:r>
            <a:endParaRPr lang="zh-CN" altLang="en-US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B57F429B-E697-FD83-E51B-075FF2930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11" y="3914393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B66FD8F4-9966-B515-4044-C267C9FCD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051" y="1464603"/>
            <a:ext cx="3394107" cy="352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0E2D0A2B-CEA2-A6CF-B407-3A826200C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728" y="1588226"/>
            <a:ext cx="485775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E3EAA334-8EDD-28E0-868F-A016D5612E53}"/>
              </a:ext>
            </a:extLst>
          </p:cNvPr>
          <p:cNvSpPr txBox="1"/>
          <p:nvPr/>
        </p:nvSpPr>
        <p:spPr>
          <a:xfrm>
            <a:off x="4306539" y="1956737"/>
            <a:ext cx="60971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1800" b="1" i="0" u="none" strike="noStrike" dirty="0">
                <a:solidFill>
                  <a:srgbClr val="1976D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高性能</a:t>
            </a:r>
            <a:r>
              <a:rPr lang="en-US" altLang="zh-CN" sz="1800" b="1" i="0" u="none" strike="noStrike" dirty="0">
                <a:solidFill>
                  <a:srgbClr val="1976D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HW/SW</a:t>
            </a:r>
            <a:r>
              <a:rPr lang="zh-CN" altLang="en-US" sz="1800" b="1" i="0" u="none" strike="noStrike" dirty="0">
                <a:solidFill>
                  <a:srgbClr val="1976D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协同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3A132FC-EBDE-4EF0-B005-6FA803EF506C}"/>
              </a:ext>
            </a:extLst>
          </p:cNvPr>
          <p:cNvSpPr txBox="1"/>
          <p:nvPr/>
        </p:nvSpPr>
        <p:spPr>
          <a:xfrm>
            <a:off x="4283788" y="2280289"/>
            <a:ext cx="3394107" cy="115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代表工作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Dang et al.(ICFPT2019)</a:t>
            </a:r>
            <a:br>
              <a:rPr lang="zh-CN" altLang="en-US" dirty="0"/>
            </a:b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Zynq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平台上利用高并行度硬件加速计算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841BCAB-2286-3ACD-EE03-A50FD109E7A5}"/>
              </a:ext>
            </a:extLst>
          </p:cNvPr>
          <p:cNvSpPr txBox="1"/>
          <p:nvPr/>
        </p:nvSpPr>
        <p:spPr>
          <a:xfrm>
            <a:off x="4716420" y="3837800"/>
            <a:ext cx="30485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1600" b="1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 局限</a:t>
            </a:r>
            <a:r>
              <a:rPr lang="en-US" altLang="zh-CN" sz="1600" b="1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b="0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为追求速度牺牲了面积，</a:t>
            </a:r>
            <a:r>
              <a:rPr lang="zh-CN" altLang="en-US" sz="1600" b="1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资源占用巨大</a:t>
            </a:r>
            <a:r>
              <a:rPr lang="zh-CN" altLang="en-US" sz="1600" b="0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0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(7k+ LUTs)</a:t>
            </a:r>
            <a:r>
              <a:rPr lang="zh-CN" altLang="en-US" sz="1600" b="0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，且缺乏跨安全等级的统一性。</a:t>
            </a:r>
            <a:endParaRPr lang="zh-CN" altLang="en-US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FAF31446-3C6B-ACF0-0F2C-AED0B0F23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748" y="3914393"/>
            <a:ext cx="18097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>
            <a:extLst>
              <a:ext uri="{FF2B5EF4-FFF2-40B4-BE49-F238E27FC236}">
                <a16:creationId xmlns:a16="http://schemas.microsoft.com/office/drawing/2014/main" id="{509F725D-EA84-5A1F-A7AC-E765A10D9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979" y="1588226"/>
            <a:ext cx="390525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848CF3E5-D77C-7258-6129-567F3D8D6CE2}"/>
              </a:ext>
            </a:extLst>
          </p:cNvPr>
          <p:cNvSpPr txBox="1"/>
          <p:nvPr/>
        </p:nvSpPr>
        <p:spPr>
          <a:xfrm>
            <a:off x="223390" y="1960509"/>
            <a:ext cx="60971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1800" b="1" i="0" u="none" strike="noStrike" dirty="0">
                <a:solidFill>
                  <a:srgbClr val="1976D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全硬件</a:t>
            </a:r>
            <a:r>
              <a:rPr lang="en-US" altLang="zh-CN" sz="1800" b="1" i="0" u="none" strike="noStrike" dirty="0">
                <a:solidFill>
                  <a:srgbClr val="1976D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(Pure HW)</a:t>
            </a:r>
            <a:r>
              <a:rPr lang="zh-CN" altLang="en-US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0621A67-8188-519B-7220-CA696A043F98}"/>
              </a:ext>
            </a:extLst>
          </p:cNvPr>
          <p:cNvSpPr txBox="1"/>
          <p:nvPr/>
        </p:nvSpPr>
        <p:spPr>
          <a:xfrm>
            <a:off x="223445" y="2314453"/>
            <a:ext cx="3394107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代表工作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Howe et al.(IACR 2018)</a:t>
            </a:r>
            <a:br>
              <a:rPr lang="zh-CN" altLang="en-US" dirty="0"/>
            </a:b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极致的数据流优化，吞吐量高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AE9DE4A-F799-1645-DEC4-09DEC4D5704F}"/>
              </a:ext>
            </a:extLst>
          </p:cNvPr>
          <p:cNvSpPr txBox="1"/>
          <p:nvPr/>
        </p:nvSpPr>
        <p:spPr>
          <a:xfrm>
            <a:off x="559436" y="3821921"/>
            <a:ext cx="3058116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1800" b="1" i="0" u="none" strike="noStrike" dirty="0">
                <a:solidFill>
                  <a:srgbClr val="B71C1C"/>
                </a:solidFill>
                <a:effectLst/>
                <a:latin typeface="Lato" panose="020F0502020204030203" pitchFamily="34" charset="0"/>
              </a:rPr>
              <a:t> </a:t>
            </a:r>
            <a:r>
              <a:rPr lang="zh-CN" altLang="en-US" sz="1600" b="1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局限</a:t>
            </a:r>
            <a:r>
              <a:rPr lang="en-US" altLang="zh-CN" sz="1600" b="1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b="0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设计僵化</a:t>
            </a:r>
            <a:r>
              <a:rPr lang="zh-CN" altLang="en-US" sz="1600" b="0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。针对特定参数 </a:t>
            </a:r>
            <a:r>
              <a:rPr lang="en-US" altLang="zh-CN" sz="1600" b="0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b="0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1600" b="0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Frodo640) </a:t>
            </a:r>
            <a:r>
              <a:rPr lang="zh-CN" altLang="en-US" sz="1600" b="0" i="0" u="none" strike="noStrike" dirty="0">
                <a:solidFill>
                  <a:srgbClr val="B71C1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定制，更换安全等级需重新综合，无法复用。</a:t>
            </a:r>
            <a:endParaRPr lang="zh-CN" altLang="en-US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110" name="Picture 14">
            <a:extLst>
              <a:ext uri="{FF2B5EF4-FFF2-40B4-BE49-F238E27FC236}">
                <a16:creationId xmlns:a16="http://schemas.microsoft.com/office/drawing/2014/main" id="{271A4088-8F88-7E66-FBAA-A6D963E37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345" y="3914393"/>
            <a:ext cx="180975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>
            <a:extLst>
              <a:ext uri="{FF2B5EF4-FFF2-40B4-BE49-F238E27FC236}">
                <a16:creationId xmlns:a16="http://schemas.microsoft.com/office/drawing/2014/main" id="{885591AB-FA2C-FE1F-F142-7087F165F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313" y="5485731"/>
            <a:ext cx="2381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7B2AB42C-FD03-4A79-E537-EA625FDA157D}"/>
              </a:ext>
            </a:extLst>
          </p:cNvPr>
          <p:cNvSpPr txBox="1"/>
          <p:nvPr/>
        </p:nvSpPr>
        <p:spPr>
          <a:xfrm>
            <a:off x="3587313" y="5455955"/>
            <a:ext cx="546637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zh-CN" altLang="en-US" sz="1600" b="1" i="0" u="none" strike="noStrike" dirty="0">
                <a:solidFill>
                  <a:srgbClr val="0D47A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核心痛点：缺乏一种</a:t>
            </a:r>
            <a:r>
              <a:rPr lang="en-US" altLang="zh-CN" sz="1600" b="1" i="0" u="none" strike="noStrike" dirty="0">
                <a:solidFill>
                  <a:srgbClr val="0D47A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600" b="1" i="0" u="none" strike="noStrike" dirty="0">
                <a:solidFill>
                  <a:srgbClr val="0D47A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低面积</a:t>
            </a:r>
            <a:r>
              <a:rPr lang="en-US" altLang="zh-CN" sz="1600" b="1" i="0" u="none" strike="noStrike" dirty="0">
                <a:solidFill>
                  <a:srgbClr val="0D47A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600" b="1" i="0" u="none" strike="noStrike" dirty="0">
                <a:solidFill>
                  <a:srgbClr val="0D47A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en-US" altLang="zh-CN" sz="1600" b="1" i="0" u="none" strike="noStrike" dirty="0">
                <a:solidFill>
                  <a:srgbClr val="0D47A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600" b="1" i="0" u="none" strike="noStrike" dirty="0">
                <a:solidFill>
                  <a:srgbClr val="0D47A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全兼容</a:t>
            </a:r>
            <a:r>
              <a:rPr lang="en-US" altLang="zh-CN" sz="1600" b="1" i="0" u="none" strike="noStrike" dirty="0">
                <a:solidFill>
                  <a:srgbClr val="0D47A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600" b="1" i="0" u="none" strike="noStrike" dirty="0">
                <a:solidFill>
                  <a:srgbClr val="0D47A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的统一架构</a:t>
            </a:r>
            <a:endParaRPr lang="zh-CN" altLang="en-US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021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AF6E9-D0C9-F7D6-17DA-6D39068F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9A028C7-BCAA-22BE-A0CC-570CCD08B6F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614164" y="372233"/>
            <a:ext cx="1592935" cy="485651"/>
          </a:xfrm>
          <a:prstGeom prst="rect">
            <a:avLst/>
          </a:prstGeom>
          <a:solidFill>
            <a:srgbClr val="004C8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核心架构设计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8A16C9-B35A-38AE-5A85-86C6CE6A3D0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207099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BAE1FA-F7CE-CF03-B595-92528CF34AF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0076645" y="372234"/>
            <a:ext cx="1869547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总结与展望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9CDC80-3A36-216E-2CA1-0A34ABB4D03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744618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引言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B112C2-83FF-2969-2892-D80A13E0E2BB}"/>
              </a:ext>
            </a:extLst>
          </p:cNvPr>
          <p:cNvSpPr/>
          <p:nvPr/>
        </p:nvSpPr>
        <p:spPr>
          <a:xfrm>
            <a:off x="188525" y="1362314"/>
            <a:ext cx="2982692" cy="4589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780" marR="0" lvl="1" algn="l" defTabSz="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核心思想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42AA22-2868-0642-6025-A0E8AFE071E3}"/>
              </a:ext>
            </a:extLst>
          </p:cNvPr>
          <p:cNvSpPr txBox="1"/>
          <p:nvPr/>
        </p:nvSpPr>
        <p:spPr>
          <a:xfrm>
            <a:off x="188525" y="1977373"/>
            <a:ext cx="49411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领域专用指令集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DS-ISA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):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将</a:t>
            </a:r>
            <a:r>
              <a:rPr lang="en-US" altLang="zh-CN" sz="1600" dirty="0" err="1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FrodoKEM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操作抽象为高级指令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如矩阵乘法、哈希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微指令控制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Micro-coded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):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用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ROM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存储控制序列，代替复杂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FSM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逻辑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6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Memory-for-Logic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协同设计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不同安全等级采用统一的内存规划与计算流</a:t>
            </a:r>
            <a:endParaRPr lang="zh-CN" altLang="en-US" sz="1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012E07-07EB-7A32-7B96-AF1C85F8F4C6}"/>
              </a:ext>
            </a:extLst>
          </p:cNvPr>
          <p:cNvSpPr/>
          <p:nvPr/>
        </p:nvSpPr>
        <p:spPr>
          <a:xfrm>
            <a:off x="245808" y="3703184"/>
            <a:ext cx="2982692" cy="4589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780" marR="0" lvl="1" algn="l" defTabSz="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主要模块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8F4E77-DAAF-6421-52ED-BB8D5F32757B}"/>
              </a:ext>
            </a:extLst>
          </p:cNvPr>
          <p:cNvSpPr txBox="1"/>
          <p:nvPr/>
        </p:nvSpPr>
        <p:spPr>
          <a:xfrm>
            <a:off x="188525" y="4235755"/>
            <a:ext cx="49411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控制单元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(Control)&amp;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指令存储器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InstROM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地址生成单元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(AGU)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存储单元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(Memory)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矩阵乘法单元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(MMU)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哈希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(Hash)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编码单元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(Code)&amp;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采样器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(Sampler)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A5CAE21-4563-6C1C-AF95-4C2F7778B9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4000" y="1613195"/>
            <a:ext cx="7199475" cy="417997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982C7F1-5AD8-A6C1-D978-EAEDE3465E80}"/>
              </a:ext>
            </a:extLst>
          </p:cNvPr>
          <p:cNvSpPr txBox="1"/>
          <p:nvPr/>
        </p:nvSpPr>
        <p:spPr>
          <a:xfrm>
            <a:off x="179944" y="1014035"/>
            <a:ext cx="609711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总体架构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485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058E3-8722-2021-C1EC-A9FC0BBD6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8F40BEC-D323-CEA0-610A-11C10229B3A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614164" y="372233"/>
            <a:ext cx="1592935" cy="485651"/>
          </a:xfrm>
          <a:prstGeom prst="rect">
            <a:avLst/>
          </a:prstGeom>
          <a:solidFill>
            <a:srgbClr val="004C8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核心架构设计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A1F80C-F300-C9EC-1F47-23762CB0A86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207099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E288D6-2772-3BA9-8281-58FE31C22EE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0076645" y="372234"/>
            <a:ext cx="1869547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总结与展望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1DF1AF-3307-1871-F793-684BFD6D350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744618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引言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54A3D8-48CA-F49D-B2F9-0E4BD15D34B3}"/>
              </a:ext>
            </a:extLst>
          </p:cNvPr>
          <p:cNvSpPr/>
          <p:nvPr/>
        </p:nvSpPr>
        <p:spPr>
          <a:xfrm>
            <a:off x="110702" y="1051029"/>
            <a:ext cx="3540223" cy="499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780" marR="0" lvl="1" algn="l" defTabSz="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defRPr/>
            </a:pPr>
            <a:r>
              <a:rPr lang="zh-CN" altLang="en-US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r>
              <a:rPr lang="en-US" altLang="zh-CN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两级嵌套微指令控制</a:t>
            </a:r>
            <a:endParaRPr lang="en-US" altLang="zh-CN" sz="2000" b="1" dirty="0">
              <a:solidFill>
                <a:srgbClr val="1976D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8DBC5FC-8B9D-EC0D-33F1-61DD8A439421}"/>
              </a:ext>
            </a:extLst>
          </p:cNvPr>
          <p:cNvGrpSpPr/>
          <p:nvPr/>
        </p:nvGrpSpPr>
        <p:grpSpPr>
          <a:xfrm>
            <a:off x="651247" y="1806002"/>
            <a:ext cx="4342285" cy="2378879"/>
            <a:chOff x="197289" y="1806003"/>
            <a:chExt cx="4342285" cy="2209312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3E8C84A1-2370-E2A0-8849-FBA0136884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289" y="1806003"/>
              <a:ext cx="4342285" cy="22093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038426D-10A0-86F1-BE3B-92864408B6BC}"/>
                </a:ext>
              </a:extLst>
            </p:cNvPr>
            <p:cNvSpPr txBox="1"/>
            <p:nvPr/>
          </p:nvSpPr>
          <p:spPr>
            <a:xfrm>
              <a:off x="272374" y="1937824"/>
              <a:ext cx="300260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zh-CN" altLang="en-US" sz="1800" b="1" i="0" u="none" strike="noStrike" dirty="0">
                  <a:solidFill>
                    <a:srgbClr val="0D47A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上层：</a:t>
              </a:r>
              <a:r>
                <a:rPr lang="en-US" altLang="zh-CN" sz="1800" b="1" i="0" u="none" strike="noStrike" dirty="0">
                  <a:solidFill>
                    <a:srgbClr val="0D47A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DS-ISA (</a:t>
              </a:r>
              <a:r>
                <a:rPr lang="zh-CN" altLang="en-US" sz="1800" b="1" i="0" u="none" strike="noStrike" dirty="0">
                  <a:solidFill>
                    <a:srgbClr val="0D47A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专用指令</a:t>
              </a:r>
              <a:r>
                <a:rPr lang="en-US" altLang="zh-CN" sz="1800" b="1" i="0" u="none" strike="noStrike" dirty="0">
                  <a:solidFill>
                    <a:srgbClr val="0D47A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None/>
              </a:pPr>
              <a:br>
                <a:rPr lang="zh-CN" altLang="en-US" dirty="0"/>
              </a:br>
              <a:endParaRPr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3D8C7C0-4E83-9197-FEC3-C4E324ED36D8}"/>
                </a:ext>
              </a:extLst>
            </p:cNvPr>
            <p:cNvSpPr txBox="1"/>
            <p:nvPr/>
          </p:nvSpPr>
          <p:spPr>
            <a:xfrm>
              <a:off x="272373" y="2445655"/>
              <a:ext cx="4267201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存储在</a:t>
              </a:r>
              <a:r>
                <a:rPr lang="en-US" altLang="zh-CN" sz="16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InstROM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定义高级算法流程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</a:t>
              </a:r>
              <a:r>
                <a:rPr lang="en-US" altLang="zh-CN" sz="1600" dirty="0">
                  <a:ea typeface="微软雅黑" panose="020B0503020204020204" pitchFamily="34" charset="-122"/>
                </a:rPr>
                <a:t>MATMUL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lang="en-US" altLang="zh-CN" sz="1600" dirty="0"/>
                <a:t>SQUEEZE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灵活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一套指令集支持所有安全等级和操作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6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Keygen,Encaps,Decaps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" name="Picture 2">
            <a:extLst>
              <a:ext uri="{FF2B5EF4-FFF2-40B4-BE49-F238E27FC236}">
                <a16:creationId xmlns:a16="http://schemas.microsoft.com/office/drawing/2014/main" id="{5DA4D8ED-F064-883A-9BC9-00E4D9518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620" y="1806002"/>
            <a:ext cx="4342285" cy="2759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7C23384-27ED-92FC-7073-004EAC52E155}"/>
              </a:ext>
            </a:extLst>
          </p:cNvPr>
          <p:cNvSpPr txBox="1"/>
          <p:nvPr/>
        </p:nvSpPr>
        <p:spPr>
          <a:xfrm>
            <a:off x="6332705" y="1937824"/>
            <a:ext cx="36997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1800" b="1" i="0" u="none" strike="noStrike" dirty="0">
                <a:solidFill>
                  <a:srgbClr val="0D47A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下层：</a:t>
            </a:r>
            <a:r>
              <a:rPr lang="en-US" altLang="zh-CN" b="1" dirty="0">
                <a:solidFill>
                  <a:srgbClr val="0D47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Microcode</a:t>
            </a:r>
            <a:r>
              <a:rPr lang="en-US" altLang="zh-CN" sz="1800" b="1" i="0" u="none" strike="noStrike" dirty="0">
                <a:solidFill>
                  <a:srgbClr val="0D47A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800" b="1" i="0" u="none" strike="noStrike" dirty="0">
                <a:solidFill>
                  <a:srgbClr val="0D47A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微指令编码</a:t>
            </a:r>
            <a:r>
              <a:rPr lang="en-US" altLang="zh-CN" sz="1800" b="1" i="0" u="none" strike="noStrike" dirty="0">
                <a:solidFill>
                  <a:srgbClr val="0D47A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4BBEAB2-52A7-87EA-464F-86B3A39DFEDB}"/>
              </a:ext>
            </a:extLst>
          </p:cNvPr>
          <p:cNvSpPr txBox="1"/>
          <p:nvPr/>
        </p:nvSpPr>
        <p:spPr>
          <a:xfrm>
            <a:off x="6332704" y="2445655"/>
            <a:ext cx="426720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Microcode ROM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一条上层指令对应一个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微码序列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微码序列由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微指令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组成，微指令直接控制数据通路和功能单元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轻量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替代复杂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FSM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，控制逻辑仅占总面积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13%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便捷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：更改控制流只需更改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微码序列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，无需修改硬件通路，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利于迭代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01A354-7D4F-BD89-970C-5A3997FCA4A6}"/>
              </a:ext>
            </a:extLst>
          </p:cNvPr>
          <p:cNvSpPr txBox="1"/>
          <p:nvPr/>
        </p:nvSpPr>
        <p:spPr>
          <a:xfrm>
            <a:off x="6964126" y="5403301"/>
            <a:ext cx="30043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1000" b="1" i="0" u="none" strike="noStrike" dirty="0">
                <a:solidFill>
                  <a:srgbClr val="0D47A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微指令的每一位是直接控制功能模块的控制信号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AB8978D-83F8-4D77-D0D8-85C855A91F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4686" y="4607109"/>
            <a:ext cx="4503236" cy="81695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ED5D04FE-20B3-6AD3-3BF5-2DCD3983D0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598" y="4270665"/>
            <a:ext cx="3893582" cy="232324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462DC61-1123-F7C8-94BA-FC3E899E83CE}"/>
              </a:ext>
            </a:extLst>
          </p:cNvPr>
          <p:cNvSpPr txBox="1"/>
          <p:nvPr/>
        </p:nvSpPr>
        <p:spPr>
          <a:xfrm>
            <a:off x="6926584" y="5664911"/>
            <a:ext cx="30043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en-US" sz="1000" b="1" dirty="0">
                <a:solidFill>
                  <a:srgbClr val="0D47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多个微指令构成的微码序列作为每个指令的控制流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107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B6BC8-4C9B-0742-49E3-2AEFFA440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AE9EA49-005E-52CE-2420-0DF98BA2B9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614164" y="372233"/>
            <a:ext cx="1592935" cy="485651"/>
          </a:xfrm>
          <a:prstGeom prst="rect">
            <a:avLst/>
          </a:prstGeom>
          <a:solidFill>
            <a:srgbClr val="004C8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核心架构设计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223851-1635-6BD1-AC81-1780A66264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207099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CAE49E-06D5-FE1D-57AE-0573345F3AA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0076645" y="372234"/>
            <a:ext cx="1869547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总结与展望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C9F173-3D77-3FFF-C39B-DB2A6995EE1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744618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引言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E19D30-F7A5-8F49-FE60-87CEF66BA423}"/>
              </a:ext>
            </a:extLst>
          </p:cNvPr>
          <p:cNvSpPr/>
          <p:nvPr/>
        </p:nvSpPr>
        <p:spPr>
          <a:xfrm>
            <a:off x="117187" y="911244"/>
            <a:ext cx="2982692" cy="499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780" marR="0" lvl="1" algn="l" defTabSz="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defRPr/>
            </a:pPr>
            <a:r>
              <a:rPr lang="zh-CN" altLang="en-US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难点</a:t>
            </a:r>
            <a:r>
              <a:rPr lang="en-US" altLang="zh-CN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统一矩阵乘法</a:t>
            </a:r>
            <a:endParaRPr lang="en-US" altLang="zh-CN" sz="2000" b="1" dirty="0">
              <a:solidFill>
                <a:srgbClr val="1976D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928FDFE-6475-ACB8-E1EB-9D9DF56428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1952137"/>
              </p:ext>
            </p:extLst>
          </p:nvPr>
        </p:nvGraphicFramePr>
        <p:xfrm>
          <a:off x="4685373" y="1038058"/>
          <a:ext cx="7043452" cy="2492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8181914" imgH="2895464" progId="Visio.Drawing.15">
                  <p:embed/>
                </p:oleObj>
              </mc:Choice>
              <mc:Fallback>
                <p:oleObj name="Visio" r:id="rId7" imgW="8181914" imgH="2895464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85373" y="1038058"/>
                        <a:ext cx="7043452" cy="24926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DE3AA841-5183-A476-A2E4-BF569AF516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073880"/>
              </p:ext>
            </p:extLst>
          </p:nvPr>
        </p:nvGraphicFramePr>
        <p:xfrm>
          <a:off x="4685373" y="3710908"/>
          <a:ext cx="7143893" cy="2576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8581779" imgH="3095489" progId="Visio.Drawing.15">
                  <p:embed/>
                </p:oleObj>
              </mc:Choice>
              <mc:Fallback>
                <p:oleObj name="Visio" r:id="rId9" imgW="8581779" imgH="3095489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85373" y="3710908"/>
                        <a:ext cx="7143893" cy="25768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6DE6677-7E91-66F4-4926-6C86526BDE31}"/>
                  </a:ext>
                </a:extLst>
              </p:cNvPr>
              <p:cNvSpPr txBox="1"/>
              <p:nvPr/>
            </p:nvSpPr>
            <p:spPr>
              <a:xfrm>
                <a:off x="117186" y="1762676"/>
                <a:ext cx="4568185" cy="1569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FrodoKEM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包含两种乘法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sz="16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×</m:t>
                    </m:r>
                    <m:r>
                      <a:rPr lang="en-US" altLang="zh-CN" sz="16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𝑆</m:t>
                    </m:r>
                  </m:oMath>
                </a14:m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altLang="zh-CN" sz="16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×</m:t>
                    </m:r>
                    <m:r>
                      <a:rPr lang="en-US" altLang="zh-CN" sz="16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endParaRPr lang="en-US" altLang="zh-CN" sz="1600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公钥矩阵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由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SHAKE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逐行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(row-wise)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生成</a:t>
                </a:r>
                <a:endParaRPr lang="en-US" altLang="zh-CN" sz="1600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p>
                        <m:r>
                          <a:rPr lang="en-US" altLang="zh-CN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altLang="zh-CN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×</m:t>
                    </m:r>
                    <m:r>
                      <a:rPr lang="en-US" altLang="zh-CN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𝐴</m:t>
                    </m:r>
                    <m:r>
                      <a:rPr lang="zh-CN" altLang="en-US" sz="16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操作</m:t>
                    </m:r>
                  </m:oMath>
                </a14:m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需要访问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的列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(column-wise)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，产生行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-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列不匹配，需要昂贵的转置或缓冲</a:t>
                </a:r>
                <a:endParaRPr lang="en-US" altLang="zh-CN" sz="1600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sz="1600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zh-CN" altLang="en-US" sz="16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6DE6677-7E91-66F4-4926-6C86526BD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86" y="1762676"/>
                <a:ext cx="4568185" cy="1569725"/>
              </a:xfrm>
              <a:prstGeom prst="rect">
                <a:avLst/>
              </a:prstGeom>
              <a:blipFill>
                <a:blip r:embed="rId11"/>
                <a:stretch>
                  <a:fillRect l="-533" t="-1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>
            <a:extLst>
              <a:ext uri="{FF2B5EF4-FFF2-40B4-BE49-F238E27FC236}">
                <a16:creationId xmlns:a16="http://schemas.microsoft.com/office/drawing/2014/main" id="{F1026D74-B48C-A4A0-D4FE-64EE86310007}"/>
              </a:ext>
            </a:extLst>
          </p:cNvPr>
          <p:cNvSpPr/>
          <p:nvPr/>
        </p:nvSpPr>
        <p:spPr>
          <a:xfrm>
            <a:off x="117187" y="3066691"/>
            <a:ext cx="4568183" cy="4589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780" marR="0" lvl="1" algn="l" defTabSz="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解决方法：调整矩阵乘法顺序，统一控制流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BD2F41D-4928-7A42-C301-895AE08F73C7}"/>
                  </a:ext>
                </a:extLst>
              </p:cNvPr>
              <p:cNvSpPr txBox="1"/>
              <p:nvPr/>
            </p:nvSpPr>
            <p:spPr>
              <a:xfrm>
                <a:off x="117187" y="3525599"/>
                <a:ext cx="4568185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统一的矩阵乘法单元</a:t>
                </a:r>
                <a:endParaRPr lang="en-US" altLang="zh-CN" sz="1600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使用多模式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AGU(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地址生成单元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)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智能处理两种寻址模式，使左右乘差异对控制端不可见</a:t>
                </a:r>
                <a:endParaRPr lang="en-US" altLang="zh-CN" sz="1600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sz="16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</a:rPr>
                  <a:t>两种乘法以相同的顺序访问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𝐴</m:t>
                    </m:r>
                    <m:r>
                      <a:rPr lang="zh-CN" altLang="en-US" sz="16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，</m:t>
                    </m:r>
                  </m:oMath>
                </a14:m>
                <a:r>
                  <a:rPr lang="en-US" altLang="zh-CN" sz="16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×</m:t>
                    </m:r>
                    <m:r>
                      <a:rPr lang="en-US" altLang="zh-CN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𝑆</m:t>
                    </m:r>
                  </m:oMath>
                </a14:m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p>
                        <m:r>
                          <a:rPr lang="en-US" altLang="zh-CN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altLang="zh-CN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×</m:t>
                    </m:r>
                    <m:r>
                      <a:rPr lang="en-US" altLang="zh-CN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共用一套微码执行，实现完全复用</a:t>
                </a:r>
                <a:endParaRPr lang="en-US" altLang="zh-CN" sz="1600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sz="1600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zh-CN" altLang="en-US" sz="16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BD2F41D-4928-7A42-C301-895AE08F7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87" y="3525599"/>
                <a:ext cx="4568185" cy="1815882"/>
              </a:xfrm>
              <a:prstGeom prst="rect">
                <a:avLst/>
              </a:prstGeom>
              <a:blipFill>
                <a:blip r:embed="rId12"/>
                <a:stretch>
                  <a:fillRect l="-533" t="-10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B4C55821-48F8-79F6-4EEC-9599DA08A75A}"/>
              </a:ext>
            </a:extLst>
          </p:cNvPr>
          <p:cNvSpPr/>
          <p:nvPr/>
        </p:nvSpPr>
        <p:spPr>
          <a:xfrm>
            <a:off x="117187" y="1364013"/>
            <a:ext cx="2982692" cy="4589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780" marR="0" lvl="1" algn="l" defTabSz="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挑战：左乘 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vs 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右乘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18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4E6C4-CE16-FAA3-A1EC-4070D6DD9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EAFCB4D-3ABF-FCC6-52FA-2711A443421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614164" y="372233"/>
            <a:ext cx="1592935" cy="485651"/>
          </a:xfrm>
          <a:prstGeom prst="rect">
            <a:avLst/>
          </a:prstGeom>
          <a:solidFill>
            <a:srgbClr val="004C8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核心架构设计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AE5D28-8F56-17BA-2B9A-711F2E2E96D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207099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02C825-FF43-7855-7F17-45DB49883D1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0076645" y="372234"/>
            <a:ext cx="1869547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总结与展望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139873-B48F-F65A-FA8D-A0120DE1D23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744618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引言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E57142-FA82-BA1E-2314-CF3E0E0B23CC}"/>
              </a:ext>
            </a:extLst>
          </p:cNvPr>
          <p:cNvSpPr/>
          <p:nvPr/>
        </p:nvSpPr>
        <p:spPr>
          <a:xfrm>
            <a:off x="117187" y="911244"/>
            <a:ext cx="3934206" cy="499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780" marR="0" lvl="1" algn="l" defTabSz="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defRPr/>
            </a:pPr>
            <a:r>
              <a:rPr lang="zh-CN" altLang="en-US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辅助模块设计</a:t>
            </a:r>
            <a:r>
              <a:rPr lang="en-US" altLang="zh-CN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折叠式</a:t>
            </a:r>
            <a:r>
              <a:rPr lang="en-US" altLang="zh-CN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9B64F1E-8CC0-7C01-6334-22180F5F1BDB}"/>
              </a:ext>
            </a:extLst>
          </p:cNvPr>
          <p:cNvSpPr txBox="1"/>
          <p:nvPr/>
        </p:nvSpPr>
        <p:spPr>
          <a:xfrm>
            <a:off x="117186" y="1762676"/>
            <a:ext cx="456818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Slice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Keccak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运算的基本单元</a:t>
            </a:r>
            <a:endParaRPr lang="en-US" altLang="zh-CN" sz="16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一轮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Keccak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处理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200bit(8slice)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重排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Keccak24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轮运算子步骤</a:t>
            </a:r>
            <a:endParaRPr lang="en-US" altLang="zh-CN" sz="16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设计分布式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RAM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集群与读写控制</a:t>
            </a:r>
            <a:endParaRPr lang="en-US" altLang="zh-CN" sz="16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6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B24047-3900-A62B-75CF-B8763ADA687A}"/>
              </a:ext>
            </a:extLst>
          </p:cNvPr>
          <p:cNvSpPr/>
          <p:nvPr/>
        </p:nvSpPr>
        <p:spPr>
          <a:xfrm>
            <a:off x="117187" y="1364013"/>
            <a:ext cx="3934206" cy="4589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780" marR="0" lvl="1" algn="l" defTabSz="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采用循环折叠的方法设计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Hash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B601F73-1C01-DD82-6599-B2EE4742A6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8912970"/>
              </p:ext>
            </p:extLst>
          </p:nvPr>
        </p:nvGraphicFramePr>
        <p:xfrm>
          <a:off x="6854663" y="1161056"/>
          <a:ext cx="4877484" cy="5130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6410092" imgH="6486525" progId="Visio.Drawing.15">
                  <p:embed/>
                </p:oleObj>
              </mc:Choice>
              <mc:Fallback>
                <p:oleObj name="Visio" r:id="rId7" imgW="6410092" imgH="6486525" progId="Visio.Drawing.15">
                  <p:embed/>
                  <p:pic>
                    <p:nvPicPr>
                      <p:cNvPr id="21" name="对象 2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54663" y="1161056"/>
                        <a:ext cx="4877484" cy="5130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右大括号 9">
            <a:extLst>
              <a:ext uri="{FF2B5EF4-FFF2-40B4-BE49-F238E27FC236}">
                <a16:creationId xmlns:a16="http://schemas.microsoft.com/office/drawing/2014/main" id="{BD1CE9DB-7DB2-A0B9-0D52-6BB90D7B0EE6}"/>
              </a:ext>
            </a:extLst>
          </p:cNvPr>
          <p:cNvSpPr/>
          <p:nvPr/>
        </p:nvSpPr>
        <p:spPr>
          <a:xfrm>
            <a:off x="3390042" y="1873421"/>
            <a:ext cx="226695" cy="387398"/>
          </a:xfrm>
          <a:prstGeom prst="rightBrac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44B71BC-522E-85FF-023A-D28414D0E94A}"/>
              </a:ext>
            </a:extLst>
          </p:cNvPr>
          <p:cNvSpPr txBox="1"/>
          <p:nvPr/>
        </p:nvSpPr>
        <p:spPr>
          <a:xfrm>
            <a:off x="3616737" y="1913231"/>
            <a:ext cx="1475740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实现循环折叠</a:t>
            </a:r>
          </a:p>
        </p:txBody>
      </p: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0D9D72D3-A33F-DD59-CDAC-9787F035E44B}"/>
              </a:ext>
            </a:extLst>
          </p:cNvPr>
          <p:cNvSpPr/>
          <p:nvPr/>
        </p:nvSpPr>
        <p:spPr>
          <a:xfrm>
            <a:off x="3390042" y="2311318"/>
            <a:ext cx="226695" cy="387398"/>
          </a:xfrm>
          <a:prstGeom prst="rightBrac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CD285D8-F734-1CA4-4CC8-93F2A47A8FE6}"/>
              </a:ext>
            </a:extLst>
          </p:cNvPr>
          <p:cNvSpPr txBox="1"/>
          <p:nvPr/>
        </p:nvSpPr>
        <p:spPr>
          <a:xfrm>
            <a:off x="3616736" y="2345784"/>
            <a:ext cx="2276805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解决数据依赖性问题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4B9B770F-3C79-46D7-EEFB-714608B70C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947" y="2988208"/>
            <a:ext cx="4128770" cy="99314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6DEC2FFF-B66A-7AA4-0433-1406E5C3D7DB}"/>
              </a:ext>
            </a:extLst>
          </p:cNvPr>
          <p:cNvSpPr txBox="1"/>
          <p:nvPr/>
        </p:nvSpPr>
        <p:spPr>
          <a:xfrm>
            <a:off x="176434" y="4186616"/>
            <a:ext cx="42687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运算降速，使得低资源开销场景下，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生成速度和矩阵乘运算速度相匹配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降低了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的资源开销</a:t>
            </a:r>
          </a:p>
        </p:txBody>
      </p:sp>
    </p:spTree>
    <p:extLst>
      <p:ext uri="{BB962C8B-B14F-4D97-AF65-F5344CB8AC3E}">
        <p14:creationId xmlns:p14="http://schemas.microsoft.com/office/powerpoint/2010/main" val="336094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05D5C-7B72-0BD7-983D-E5A482491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9E558BA-E036-D888-8439-6087FE8D837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614164" y="372233"/>
            <a:ext cx="1592935" cy="485651"/>
          </a:xfrm>
          <a:prstGeom prst="rect">
            <a:avLst/>
          </a:prstGeom>
          <a:solidFill>
            <a:srgbClr val="004C8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核心架构设计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903D7D-D0BD-5DDA-CAC8-4B21FFD1428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207099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1C987D-2157-9B01-615F-34414C45326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0076645" y="372234"/>
            <a:ext cx="1869547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总结与展望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B1CC07-7437-BFCD-9839-5A38D1DF453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744618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引言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5EBA52-E2D0-633A-5B02-7A2D33146B71}"/>
              </a:ext>
            </a:extLst>
          </p:cNvPr>
          <p:cNvSpPr/>
          <p:nvPr/>
        </p:nvSpPr>
        <p:spPr>
          <a:xfrm>
            <a:off x="117186" y="911244"/>
            <a:ext cx="4808559" cy="499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780" marR="0" lvl="1" algn="l" defTabSz="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defRPr/>
            </a:pPr>
            <a:r>
              <a:rPr lang="zh-CN" altLang="en-US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辅助模块设计</a:t>
            </a:r>
            <a:r>
              <a:rPr lang="en-US" altLang="zh-CN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存储系统与其它</a:t>
            </a:r>
            <a:endParaRPr lang="en-US" altLang="zh-CN" sz="2000" b="1" dirty="0">
              <a:solidFill>
                <a:srgbClr val="1976D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1D3819-78BE-70A7-0335-BF03C25B80ED}"/>
              </a:ext>
            </a:extLst>
          </p:cNvPr>
          <p:cNvSpPr txBox="1"/>
          <p:nvPr/>
        </p:nvSpPr>
        <p:spPr>
          <a:xfrm>
            <a:off x="167656" y="1901590"/>
            <a:ext cx="44369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短边连续映射</a:t>
            </a:r>
            <a:r>
              <a:rPr lang="en-US" altLang="zh-CN" sz="160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改变矩阵存储顺序，选择</a:t>
            </a:r>
            <a:r>
              <a:rPr lang="zh-CN" altLang="en-US" sz="1600" b="1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短边连续存储</a:t>
            </a:r>
            <a:r>
              <a:rPr lang="zh-CN" altLang="en-US" sz="160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而非顺序存储，优化矩阵寻址，</a:t>
            </a:r>
            <a:r>
              <a:rPr lang="en-US" altLang="zh-CN" sz="160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AGU</a:t>
            </a:r>
            <a:r>
              <a:rPr lang="zh-CN" altLang="en-US" sz="160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只需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</a:t>
            </a:r>
            <a:r>
              <a:rPr lang="zh-CN" altLang="en-US" sz="1600" b="1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步长递增</a:t>
            </a:r>
            <a:r>
              <a:rPr lang="zh-CN" altLang="en-US" sz="160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，极大降低逻辑开销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存储复用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精细的内存规划，同一空间</a:t>
            </a: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分时复用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，总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BRAM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占用极低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14.5BRAMs)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18E275-C743-9FA9-861C-16D53BB83EF3}"/>
              </a:ext>
            </a:extLst>
          </p:cNvPr>
          <p:cNvSpPr/>
          <p:nvPr/>
        </p:nvSpPr>
        <p:spPr>
          <a:xfrm>
            <a:off x="440492" y="1437008"/>
            <a:ext cx="2982692" cy="4589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780" marR="0" lvl="1" algn="l" defTabSz="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存储系统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40A6575-453F-F160-74BD-5C9F8FA0D4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853" y="3315979"/>
            <a:ext cx="2452257" cy="243914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119A171-CB03-083A-1B06-C7F537F75AA7}"/>
              </a:ext>
            </a:extLst>
          </p:cNvPr>
          <p:cNvSpPr/>
          <p:nvPr/>
        </p:nvSpPr>
        <p:spPr>
          <a:xfrm>
            <a:off x="4877489" y="1458589"/>
            <a:ext cx="2982692" cy="4589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780" marR="0" lvl="1" algn="l" defTabSz="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采样模块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F7AC117-C355-2FDF-0F0E-7315BB9C90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5208" y="3315979"/>
            <a:ext cx="3586685" cy="2439144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4AE9F752-D613-521D-F97F-C649FACDEBE6}"/>
              </a:ext>
            </a:extLst>
          </p:cNvPr>
          <p:cNvSpPr txBox="1"/>
          <p:nvPr/>
        </p:nvSpPr>
        <p:spPr>
          <a:xfrm>
            <a:off x="4604654" y="1933404"/>
            <a:ext cx="30843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160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CDF</a:t>
            </a:r>
            <a:r>
              <a:rPr lang="zh-CN" altLang="en-US" sz="160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查找表的组合逻辑电路，实现单周期采样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1F37AF4-861D-B101-B4A2-179D0745DDFE}"/>
              </a:ext>
            </a:extLst>
          </p:cNvPr>
          <p:cNvSpPr/>
          <p:nvPr/>
        </p:nvSpPr>
        <p:spPr>
          <a:xfrm>
            <a:off x="8207099" y="1442682"/>
            <a:ext cx="2982692" cy="4589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780" marR="0" lvl="1" algn="l" defTabSz="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编码模块</a:t>
            </a:r>
            <a:endParaRPr lang="en-US" altLang="zh-CN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D8350EA-1C9F-2AD4-4A94-5323A4DAB9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6480" y="3315979"/>
            <a:ext cx="2096624" cy="2213103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253B1E36-DC7B-8F50-346E-9F19020D4A00}"/>
              </a:ext>
            </a:extLst>
          </p:cNvPr>
          <p:cNvSpPr txBox="1"/>
          <p:nvPr/>
        </p:nvSpPr>
        <p:spPr>
          <a:xfrm>
            <a:off x="8051893" y="1979570"/>
            <a:ext cx="323460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160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zh-CN" altLang="en-US" sz="160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位的移位寄存器，无需完整的</a:t>
            </a:r>
            <a:r>
              <a:rPr lang="en-US" altLang="zh-CN" sz="1600" i="0" u="none" strike="noStrike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256bit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Encode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结构对偶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，可使用同一微码序列控制</a:t>
            </a:r>
          </a:p>
        </p:txBody>
      </p:sp>
    </p:spTree>
    <p:extLst>
      <p:ext uri="{BB962C8B-B14F-4D97-AF65-F5344CB8AC3E}">
        <p14:creationId xmlns:p14="http://schemas.microsoft.com/office/powerpoint/2010/main" val="2626588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29AA257-6E47-60E7-8304-3B9320DDAB0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502907" y="370795"/>
            <a:ext cx="1592935" cy="485651"/>
          </a:xfrm>
          <a:prstGeom prst="rect">
            <a:avLst/>
          </a:prstGeom>
          <a:solidFill>
            <a:srgbClr val="004C8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54C4BF-D794-5100-5E94-ABD9993F684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633361" y="376429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核心架构设计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40EB88-C376-5D23-CA20-5A66C566CDB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0095842" y="370796"/>
            <a:ext cx="1869547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总结与展望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163662E-D86F-3585-FE89-9CF5AF409E9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744618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引言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92DD92-AD44-6F52-FE6D-DB2639A149EC}"/>
              </a:ext>
            </a:extLst>
          </p:cNvPr>
          <p:cNvSpPr/>
          <p:nvPr/>
        </p:nvSpPr>
        <p:spPr>
          <a:xfrm>
            <a:off x="122754" y="991459"/>
            <a:ext cx="4870777" cy="499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780" marR="0" lvl="1" algn="l" defTabSz="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defRPr/>
            </a:pPr>
            <a:r>
              <a:rPr lang="zh-CN" altLang="en-US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资源开销与性能</a:t>
            </a:r>
            <a:endParaRPr lang="en-US" altLang="zh-CN" sz="2000" b="1" dirty="0">
              <a:solidFill>
                <a:srgbClr val="1976D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ED12FA6-BFFD-7117-41C2-00E7AE7526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017660"/>
              </p:ext>
            </p:extLst>
          </p:nvPr>
        </p:nvGraphicFramePr>
        <p:xfrm>
          <a:off x="421533" y="3440068"/>
          <a:ext cx="11372399" cy="2939691"/>
        </p:xfrm>
        <a:graphic>
          <a:graphicData uri="http://schemas.openxmlformats.org/drawingml/2006/table">
            <a:tbl>
              <a:tblPr/>
              <a:tblGrid>
                <a:gridCol w="4235237">
                  <a:extLst>
                    <a:ext uri="{9D8B030D-6E8A-4147-A177-3AD203B41FA5}">
                      <a16:colId xmlns:a16="http://schemas.microsoft.com/office/drawing/2014/main" val="3024989419"/>
                    </a:ext>
                  </a:extLst>
                </a:gridCol>
                <a:gridCol w="2558790">
                  <a:extLst>
                    <a:ext uri="{9D8B030D-6E8A-4147-A177-3AD203B41FA5}">
                      <a16:colId xmlns:a16="http://schemas.microsoft.com/office/drawing/2014/main" val="111146729"/>
                    </a:ext>
                  </a:extLst>
                </a:gridCol>
                <a:gridCol w="1568607">
                  <a:extLst>
                    <a:ext uri="{9D8B030D-6E8A-4147-A177-3AD203B41FA5}">
                      <a16:colId xmlns:a16="http://schemas.microsoft.com/office/drawing/2014/main" val="3462367205"/>
                    </a:ext>
                  </a:extLst>
                </a:gridCol>
                <a:gridCol w="1656842">
                  <a:extLst>
                    <a:ext uri="{9D8B030D-6E8A-4147-A177-3AD203B41FA5}">
                      <a16:colId xmlns:a16="http://schemas.microsoft.com/office/drawing/2014/main" val="1461160066"/>
                    </a:ext>
                  </a:extLst>
                </a:gridCol>
                <a:gridCol w="1352923">
                  <a:extLst>
                    <a:ext uri="{9D8B030D-6E8A-4147-A177-3AD203B41FA5}">
                      <a16:colId xmlns:a16="http://schemas.microsoft.com/office/drawing/2014/main" val="284604280"/>
                    </a:ext>
                  </a:extLst>
                </a:gridCol>
              </a:tblGrid>
              <a:tr h="3667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模块 </a:t>
                      </a:r>
                      <a:r>
                        <a:rPr lang="en-US" altLang="zh-CN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Module)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LUT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FF</a:t>
                      </a:r>
                      <a:endParaRPr 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BRAM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DSP</a:t>
                      </a:r>
                      <a:endParaRPr 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626774"/>
                  </a:ext>
                </a:extLst>
              </a:tr>
              <a:tr h="3667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矩阵乘法单元 </a:t>
                      </a:r>
                      <a:r>
                        <a:rPr lang="en-US" altLang="zh-CN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(MMU)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912085"/>
                  </a:ext>
                </a:extLst>
              </a:tr>
              <a:tr h="3667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内存子系统 </a:t>
                      </a:r>
                      <a:r>
                        <a:rPr lang="en-US" altLang="zh-CN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Memory)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264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13.5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925059"/>
                  </a:ext>
                </a:extLst>
              </a:tr>
              <a:tr h="3667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控制单元 </a:t>
                      </a:r>
                      <a:r>
                        <a:rPr lang="en-US" altLang="zh-CN" sz="1600" b="1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Control)</a:t>
                      </a:r>
                      <a:endParaRPr 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498 (13%)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306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078833"/>
                  </a:ext>
                </a:extLst>
              </a:tr>
              <a:tr h="3667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地址生成单元 </a:t>
                      </a: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AGU)</a:t>
                      </a:r>
                      <a:endParaRPr 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298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398863"/>
                  </a:ext>
                </a:extLst>
              </a:tr>
              <a:tr h="3667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 </a:t>
                      </a: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Hash)</a:t>
                      </a:r>
                      <a:endParaRPr 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1879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1442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570921"/>
                  </a:ext>
                </a:extLst>
              </a:tr>
              <a:tr h="36672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其它 </a:t>
                      </a: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Code, Sampler...)</a:t>
                      </a:r>
                      <a:endParaRPr 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296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155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571648"/>
                  </a:ext>
                </a:extLst>
              </a:tr>
              <a:tr h="3726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总计 </a:t>
                      </a:r>
                      <a:r>
                        <a:rPr lang="en-US" altLang="zh-CN" sz="1600" b="1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Total)</a:t>
                      </a:r>
                      <a:endParaRPr 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3792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2472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14.5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1286" marR="61286" marT="26266" marB="2626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388187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29C1DF59-434A-E4AC-0D0A-DD884A597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88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3D34519-AD69-623E-4FB1-2EAEDF92976F}"/>
                  </a:ext>
                </a:extLst>
              </p:cNvPr>
              <p:cNvSpPr txBox="1"/>
              <p:nvPr/>
            </p:nvSpPr>
            <p:spPr>
              <a:xfrm>
                <a:off x="117188" y="1515616"/>
                <a:ext cx="4383476" cy="2062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控制模块仅占总面积的</a:t>
                </a:r>
                <a:r>
                  <a:rPr lang="en-US" altLang="zh-CN" sz="16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13%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,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1600" b="1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Memory-for-logic</a:t>
                </a:r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思想效果显著</a:t>
                </a:r>
                <a:endParaRPr lang="en-US" altLang="zh-CN" sz="1600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周期数的增长与算法复杂度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𝑂</m:t>
                    </m:r>
                    <m:r>
                      <a:rPr lang="en-US" altLang="zh-CN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(</m:t>
                    </m:r>
                    <m:sSup>
                      <m:sSupPr>
                        <m:ctrlPr>
                          <a:rPr lang="en-US" altLang="zh-CN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𝑛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基本一致，架构扩展性良好，未引入额外开销</a:t>
                </a:r>
                <a:endParaRPr lang="en-US" altLang="zh-CN" sz="1600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sz="1600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设计最高频率可达</a:t>
                </a:r>
                <a:r>
                  <a:rPr lang="en-US" altLang="zh-CN" sz="1600" b="1" dirty="0">
                    <a:solidFill>
                      <a:prstClr val="black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214.6MHz</a:t>
                </a:r>
                <a:endParaRPr lang="en-US" altLang="zh-CN" sz="1600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sz="1600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sz="1600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zh-CN" altLang="en-US" sz="16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3D34519-AD69-623E-4FB1-2EAEDF929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88" y="1515616"/>
                <a:ext cx="4383476" cy="2062103"/>
              </a:xfrm>
              <a:prstGeom prst="rect">
                <a:avLst/>
              </a:prstGeom>
              <a:blipFill>
                <a:blip r:embed="rId7"/>
                <a:stretch>
                  <a:fillRect l="-556" t="-888" r="-5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14C4945-FE9B-6668-1C7B-D8C7DECD4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276440"/>
              </p:ext>
            </p:extLst>
          </p:nvPr>
        </p:nvGraphicFramePr>
        <p:xfrm>
          <a:off x="4744618" y="1219199"/>
          <a:ext cx="7049313" cy="1888478"/>
        </p:xfrm>
        <a:graphic>
          <a:graphicData uri="http://schemas.openxmlformats.org/drawingml/2006/table">
            <a:tbl>
              <a:tblPr/>
              <a:tblGrid>
                <a:gridCol w="2521952">
                  <a:extLst>
                    <a:ext uri="{9D8B030D-6E8A-4147-A177-3AD203B41FA5}">
                      <a16:colId xmlns:a16="http://schemas.microsoft.com/office/drawing/2014/main" val="3454249387"/>
                    </a:ext>
                  </a:extLst>
                </a:gridCol>
                <a:gridCol w="1531402">
                  <a:extLst>
                    <a:ext uri="{9D8B030D-6E8A-4147-A177-3AD203B41FA5}">
                      <a16:colId xmlns:a16="http://schemas.microsoft.com/office/drawing/2014/main" val="479710011"/>
                    </a:ext>
                  </a:extLst>
                </a:gridCol>
                <a:gridCol w="1482787">
                  <a:extLst>
                    <a:ext uri="{9D8B030D-6E8A-4147-A177-3AD203B41FA5}">
                      <a16:colId xmlns:a16="http://schemas.microsoft.com/office/drawing/2014/main" val="3773251572"/>
                    </a:ext>
                  </a:extLst>
                </a:gridCol>
                <a:gridCol w="1513172">
                  <a:extLst>
                    <a:ext uri="{9D8B030D-6E8A-4147-A177-3AD203B41FA5}">
                      <a16:colId xmlns:a16="http://schemas.microsoft.com/office/drawing/2014/main" val="4169254481"/>
                    </a:ext>
                  </a:extLst>
                </a:gridCol>
              </a:tblGrid>
              <a:tr h="44880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安全等级 </a:t>
                      </a:r>
                      <a:r>
                        <a:rPr lang="en-US" altLang="zh-CN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Parameter set)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 err="1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KeyGen</a:t>
                      </a:r>
                      <a:r>
                        <a:rPr lang="en-US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(</a:t>
                      </a:r>
                      <a:r>
                        <a:rPr lang="en-US" sz="1600" b="1" i="0" u="none" strike="noStrike" dirty="0" err="1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ms</a:t>
                      </a:r>
                      <a:r>
                        <a:rPr lang="en-US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Encaps (ms)</a:t>
                      </a:r>
                      <a:endParaRPr 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 err="1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Decaps</a:t>
                      </a:r>
                      <a:r>
                        <a:rPr lang="en-US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(</a:t>
                      </a:r>
                      <a:r>
                        <a:rPr lang="en-US" sz="1600" b="1" i="0" u="none" strike="noStrike" dirty="0" err="1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ms</a:t>
                      </a:r>
                      <a:r>
                        <a:rPr lang="en-US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429946"/>
                  </a:ext>
                </a:extLst>
              </a:tr>
              <a:tr h="44880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FrodoKEM-640</a:t>
                      </a:r>
                      <a:endParaRPr 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14.58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14.87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15.00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180164"/>
                  </a:ext>
                </a:extLst>
              </a:tr>
              <a:tr h="44880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FrodoKEM-976</a:t>
                      </a:r>
                      <a:endParaRPr 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33.32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33.80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34.00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609673"/>
                  </a:ext>
                </a:extLst>
              </a:tr>
              <a:tr h="44880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FrodoKEM-1344</a:t>
                      </a:r>
                      <a:endParaRPr 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62.13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62.78</a:t>
                      </a:r>
                      <a:endParaRPr lang="zh-CN" alt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63.06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19358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2E345-3BC9-167F-05F5-E086A291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CBA523C6-B60D-36BC-CC54-EF0FA2B3502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502907" y="370795"/>
            <a:ext cx="1592935" cy="485651"/>
          </a:xfrm>
          <a:prstGeom prst="rect">
            <a:avLst/>
          </a:prstGeom>
          <a:solidFill>
            <a:srgbClr val="004C8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ACBCBC0-BAE5-0100-4D81-09BCC48F564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633361" y="376429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核心架构设计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F30001-62DA-75DA-CCB5-306871391DD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0095842" y="370796"/>
            <a:ext cx="1869547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总结与展望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FD73B9B-82A2-C7C1-2F92-BCF482312DC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744618" y="372233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引言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C76620-29FA-4B1A-8537-214F99176C5F}"/>
              </a:ext>
            </a:extLst>
          </p:cNvPr>
          <p:cNvSpPr/>
          <p:nvPr/>
        </p:nvSpPr>
        <p:spPr>
          <a:xfrm>
            <a:off x="122754" y="991459"/>
            <a:ext cx="4870777" cy="499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780" marR="0" lvl="1" algn="l" defTabSz="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defRPr/>
            </a:pPr>
            <a:r>
              <a:rPr lang="zh-CN" altLang="en-US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综合对比</a:t>
            </a:r>
            <a:endParaRPr lang="en-US" altLang="zh-CN" sz="2000" b="1" dirty="0">
              <a:solidFill>
                <a:srgbClr val="1976D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BDC963-8E6A-410B-F0E1-B0124F2AE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88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AB37088-2FE2-3857-42FF-71B3EB6DD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347246"/>
              </p:ext>
            </p:extLst>
          </p:nvPr>
        </p:nvGraphicFramePr>
        <p:xfrm>
          <a:off x="117188" y="2592834"/>
          <a:ext cx="11692191" cy="2810205"/>
        </p:xfrm>
        <a:graphic>
          <a:graphicData uri="http://schemas.openxmlformats.org/drawingml/2006/table">
            <a:tbl>
              <a:tblPr/>
              <a:tblGrid>
                <a:gridCol w="2106610">
                  <a:extLst>
                    <a:ext uri="{9D8B030D-6E8A-4147-A177-3AD203B41FA5}">
                      <a16:colId xmlns:a16="http://schemas.microsoft.com/office/drawing/2014/main" val="202690294"/>
                    </a:ext>
                  </a:extLst>
                </a:gridCol>
                <a:gridCol w="1854624">
                  <a:extLst>
                    <a:ext uri="{9D8B030D-6E8A-4147-A177-3AD203B41FA5}">
                      <a16:colId xmlns:a16="http://schemas.microsoft.com/office/drawing/2014/main" val="2670671191"/>
                    </a:ext>
                  </a:extLst>
                </a:gridCol>
                <a:gridCol w="937391">
                  <a:extLst>
                    <a:ext uri="{9D8B030D-6E8A-4147-A177-3AD203B41FA5}">
                      <a16:colId xmlns:a16="http://schemas.microsoft.com/office/drawing/2014/main" val="673914919"/>
                    </a:ext>
                  </a:extLst>
                </a:gridCol>
                <a:gridCol w="937391">
                  <a:extLst>
                    <a:ext uri="{9D8B030D-6E8A-4147-A177-3AD203B41FA5}">
                      <a16:colId xmlns:a16="http://schemas.microsoft.com/office/drawing/2014/main" val="83854161"/>
                    </a:ext>
                  </a:extLst>
                </a:gridCol>
                <a:gridCol w="816438">
                  <a:extLst>
                    <a:ext uri="{9D8B030D-6E8A-4147-A177-3AD203B41FA5}">
                      <a16:colId xmlns:a16="http://schemas.microsoft.com/office/drawing/2014/main" val="1110453098"/>
                    </a:ext>
                  </a:extLst>
                </a:gridCol>
                <a:gridCol w="997868">
                  <a:extLst>
                    <a:ext uri="{9D8B030D-6E8A-4147-A177-3AD203B41FA5}">
                      <a16:colId xmlns:a16="http://schemas.microsoft.com/office/drawing/2014/main" val="3878813480"/>
                    </a:ext>
                  </a:extLst>
                </a:gridCol>
                <a:gridCol w="2177166">
                  <a:extLst>
                    <a:ext uri="{9D8B030D-6E8A-4147-A177-3AD203B41FA5}">
                      <a16:colId xmlns:a16="http://schemas.microsoft.com/office/drawing/2014/main" val="3603529636"/>
                    </a:ext>
                  </a:extLst>
                </a:gridCol>
                <a:gridCol w="1864703">
                  <a:extLst>
                    <a:ext uri="{9D8B030D-6E8A-4147-A177-3AD203B41FA5}">
                      <a16:colId xmlns:a16="http://schemas.microsoft.com/office/drawing/2014/main" val="1976845233"/>
                    </a:ext>
                  </a:extLst>
                </a:gridCol>
              </a:tblGrid>
              <a:tr h="5620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方案 </a:t>
                      </a:r>
                      <a:r>
                        <a:rPr lang="en-US" altLang="zh-CN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Work)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 </a:t>
                      </a:r>
                      <a:r>
                        <a:rPr lang="en-US" altLang="zh-CN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Method)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LUT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FF</a:t>
                      </a:r>
                      <a:endParaRPr 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DSP</a:t>
                      </a:r>
                      <a:endParaRPr 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BRAM</a:t>
                      </a:r>
                      <a:endParaRPr 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统一支持 </a:t>
                      </a:r>
                      <a:r>
                        <a:rPr lang="en-US" altLang="zh-CN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Unified)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 </a:t>
                      </a:r>
                      <a:r>
                        <a:rPr lang="en-US" altLang="zh-CN" sz="1600" b="1" i="0" u="none" strike="noStrike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b="1" i="0" u="none" strike="noStrike">
                          <a:solidFill>
                            <a:srgbClr val="0D47A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ms, 640)</a:t>
                      </a:r>
                      <a:endParaRPr lang="en-US" sz="16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70938"/>
                  </a:ext>
                </a:extLst>
              </a:tr>
              <a:tr h="5620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Howe et al.[1]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HW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7773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3559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D32F2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 </a:t>
                      </a:r>
                      <a:r>
                        <a:rPr lang="en-US" altLang="zh-CN" sz="1600" b="1" i="0" u="none" strike="noStrike" dirty="0">
                          <a:solidFill>
                            <a:srgbClr val="D32F2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D32F2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No)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19.62</a:t>
                      </a:r>
                      <a:endParaRPr lang="en-US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852616"/>
                  </a:ext>
                </a:extLst>
              </a:tr>
              <a:tr h="5620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Dang et al.[2]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HW/SW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7015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6610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17.5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kern="1200" dirty="0">
                          <a:solidFill>
                            <a:srgbClr val="D32F2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否 </a:t>
                      </a:r>
                      <a:r>
                        <a:rPr lang="en-US" altLang="zh-CN" sz="1600" b="1" i="0" u="none" strike="noStrike" kern="1200" dirty="0">
                          <a:solidFill>
                            <a:srgbClr val="D32F2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(No</a:t>
                      </a:r>
                      <a:r>
                        <a:rPr lang="en-US" sz="1600" b="1" i="0" u="none" strike="noStrike" kern="1200" dirty="0">
                          <a:solidFill>
                            <a:srgbClr val="D32F2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2.186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441760"/>
                  </a:ext>
                </a:extLst>
              </a:tr>
              <a:tr h="562041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Karl et al.[3]</a:t>
                      </a: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HW/SW</a:t>
                      </a: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US" altLang="zh-CN" sz="1600" b="0" i="0" u="none" strike="noStrike" kern="1200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5590</a:t>
                      </a:r>
                      <a:endParaRPr lang="zh-CN" altLang="en-US" sz="1600" b="0" i="0" u="none" strike="noStrike" kern="1200" dirty="0">
                        <a:solidFill>
                          <a:srgbClr val="333333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US" altLang="zh-CN" sz="1600" b="0" i="0" u="none" strike="noStrike" kern="1200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1118</a:t>
                      </a:r>
                      <a:endParaRPr lang="zh-CN" altLang="en-US" sz="1600" b="0" i="0" u="none" strike="noStrike" kern="1200" dirty="0">
                        <a:solidFill>
                          <a:srgbClr val="333333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US" altLang="zh-CN" sz="1600" b="0" i="0" u="none" strike="noStrike" kern="1200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endParaRPr lang="zh-CN" altLang="en-US" sz="1600" b="0" i="0" u="none" strike="noStrike" kern="1200" dirty="0">
                        <a:solidFill>
                          <a:srgbClr val="333333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US" altLang="zh-CN" sz="1600" b="0" i="0" u="none" strike="noStrike" kern="1200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1600" b="0" i="0" u="none" strike="noStrike" kern="1200" dirty="0">
                        <a:solidFill>
                          <a:srgbClr val="333333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zh-CN" altLang="en-US" sz="1600" b="1" i="0" u="none" strike="noStrike" kern="1200" dirty="0">
                          <a:solidFill>
                            <a:srgbClr val="2E7D3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</a:t>
                      </a:r>
                      <a:r>
                        <a:rPr lang="en-US" altLang="zh-CN" sz="1600" b="1" i="0" u="none" strike="noStrike" kern="1200" dirty="0">
                          <a:solidFill>
                            <a:srgbClr val="2E7D3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(Yes)</a:t>
                      </a:r>
                      <a:endParaRPr lang="en-US" sz="1600" b="1" i="0" u="none" strike="noStrike" kern="1200" dirty="0">
                        <a:solidFill>
                          <a:srgbClr val="2E7D3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buNone/>
                      </a:pPr>
                      <a:r>
                        <a:rPr lang="en-US" sz="1600" b="0" i="0" u="none" strike="noStrike" kern="1200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234</a:t>
                      </a: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831009"/>
                  </a:ext>
                </a:extLst>
              </a:tr>
              <a:tr h="5620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This Work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HW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3792</a:t>
                      </a:r>
                      <a:endParaRPr lang="zh-CN" altLang="en-US" sz="16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2472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1600" b="1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14.5</a:t>
                      </a:r>
                      <a:endParaRPr lang="zh-CN" alt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2E7D3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 </a:t>
                      </a:r>
                      <a:r>
                        <a:rPr lang="en-US" altLang="zh-CN" sz="1600" b="1" i="0" u="none" strike="noStrike" dirty="0">
                          <a:solidFill>
                            <a:srgbClr val="2E7D3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2E7D3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Yes)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13.20 </a:t>
                      </a:r>
                      <a:endParaRPr lang="en-US" sz="16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456" marR="63456" marT="27196" marB="2719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749929"/>
                  </a:ext>
                </a:extLst>
              </a:tr>
            </a:tbl>
          </a:graphicData>
        </a:graphic>
      </p:graphicFrame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0FDC332-B062-C01C-150C-59DA0F472613}"/>
              </a:ext>
            </a:extLst>
          </p:cNvPr>
          <p:cNvCxnSpPr/>
          <p:nvPr/>
        </p:nvCxnSpPr>
        <p:spPr>
          <a:xfrm>
            <a:off x="-19685" y="5972461"/>
            <a:ext cx="12211685" cy="635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EA930A0-C027-42BF-FD77-6E518D563D46}"/>
              </a:ext>
            </a:extLst>
          </p:cNvPr>
          <p:cNvSpPr txBox="1"/>
          <p:nvPr/>
        </p:nvSpPr>
        <p:spPr>
          <a:xfrm>
            <a:off x="0" y="5978811"/>
            <a:ext cx="969523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[1]J. Howe, T. Oder, M. Krausz, and T.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Gneysu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“Standard lattice-based key encapsulation on embedded devices,” IACR Transactions on Cryptographic Hardware and Embedded Systems, pp. 372–393,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aug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2018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[2]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V. B. Dang, F. Farahmand, M. Andrzejczak, and K. Gaj, “Implementing and Benchmarking Three Lattice-Based Post-Quantum Cryptography Algorithms Using Software/Hardware Codesign,” in 2019 International Conference on Field-Programmable Technology (ICFPT), IEEE, dec 2019.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dirty="0">
                <a:solidFill>
                  <a:prstClr val="black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[3]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P. Karl, T.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Fritzmann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and G. Sigl, “Hardware Accelerated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FrodoKEM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on RISC-V,” in 2022 25th International Symposium on Design and Diagnostics of Electronic Circuits and Systems (DDECS), Apr. 2022, pp. 154–159.</a:t>
            </a:r>
          </a:p>
          <a:p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01055C4-C708-18FD-A168-5A716FA32961}"/>
              </a:ext>
            </a:extLst>
          </p:cNvPr>
          <p:cNvSpPr txBox="1"/>
          <p:nvPr/>
        </p:nvSpPr>
        <p:spPr>
          <a:xfrm>
            <a:off x="117188" y="1515616"/>
            <a:ext cx="82291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在资源开销显著减少的情况下，速度仍具备一定的竞争力</a:t>
            </a:r>
            <a:endParaRPr lang="en-US" altLang="zh-CN" sz="16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首个支持</a:t>
            </a:r>
            <a:r>
              <a:rPr lang="en-US" altLang="zh-CN" sz="1600" dirty="0" err="1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FrodoKEM</a:t>
            </a: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全安全等级全算法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的纯硬件实现</a:t>
            </a:r>
            <a:endParaRPr lang="en-US" altLang="zh-CN" sz="16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96546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DEA5E-D802-FE39-A9CF-0F136230D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5300EC9-D390-3675-9218-7F8233B98C8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361349" y="349815"/>
            <a:ext cx="1592935" cy="485651"/>
          </a:xfrm>
          <a:prstGeom prst="rect">
            <a:avLst/>
          </a:prstGeom>
          <a:solidFill>
            <a:srgbClr val="004C8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总结与展望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7F8901-89AD-628D-D959-3D09FE69C14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491803" y="347357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AE19FF-0266-9E73-0FA1-23AD7B83244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829678" y="341722"/>
            <a:ext cx="1662125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核心架构设计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40A717-C04A-2493-D4DD-75A503A47E5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960132" y="349815"/>
            <a:ext cx="1869546" cy="4856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背景与动机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AE5D5F-E694-2FF7-2963-E13F2EDE891F}"/>
              </a:ext>
            </a:extLst>
          </p:cNvPr>
          <p:cNvSpPr/>
          <p:nvPr/>
        </p:nvSpPr>
        <p:spPr>
          <a:xfrm>
            <a:off x="89355" y="926608"/>
            <a:ext cx="4870777" cy="499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780" marR="0" lvl="1" algn="l" defTabSz="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defRPr/>
            </a:pPr>
            <a:r>
              <a:rPr lang="zh-CN" altLang="en-US" sz="2000" b="1" dirty="0">
                <a:solidFill>
                  <a:srgbClr val="1976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2000" b="1" dirty="0">
              <a:solidFill>
                <a:srgbClr val="1976D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0929F7-61B2-93EF-6EFC-F8E541E5A60F}"/>
              </a:ext>
            </a:extLst>
          </p:cNvPr>
          <p:cNvSpPr txBox="1"/>
          <p:nvPr/>
        </p:nvSpPr>
        <p:spPr>
          <a:xfrm>
            <a:off x="89354" y="1385516"/>
            <a:ext cx="518346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提出了一个轻量化、微指令控制的</a:t>
            </a:r>
            <a:r>
              <a:rPr lang="en-US" altLang="zh-CN" sz="1600" dirty="0" err="1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FrodoKEM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硬件架构</a:t>
            </a:r>
            <a:endParaRPr lang="en-US" altLang="zh-CN" sz="16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统一性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：首次实现单一硬件支持</a:t>
            </a:r>
            <a:r>
              <a:rPr lang="en-US" altLang="zh-CN" sz="1600" dirty="0" err="1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FrodoKEM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所有安全等级，无需重新综合</a:t>
            </a:r>
            <a:endParaRPr lang="en-US" altLang="zh-CN" sz="16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轻量化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Memory-for-Logic 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显著降低了控制开销和总面积</a:t>
            </a:r>
            <a:endParaRPr lang="en-US" altLang="zh-CN" sz="16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高速率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：在极低资源占用下，性能仍具有一定的竞争力</a:t>
            </a:r>
            <a:endParaRPr lang="en-US" altLang="zh-CN" sz="16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易迭代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：只需更改微码序列即可调整数据流与控制流</a:t>
            </a:r>
            <a:endParaRPr lang="en-US" altLang="zh-CN" sz="16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032196-DD1C-57E0-ACD0-FFB76623B3C7}"/>
              </a:ext>
            </a:extLst>
          </p:cNvPr>
          <p:cNvSpPr/>
          <p:nvPr/>
        </p:nvSpPr>
        <p:spPr>
          <a:xfrm>
            <a:off x="188525" y="3757256"/>
            <a:ext cx="4870777" cy="4589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780" marR="0" lvl="1" algn="l" defTabSz="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展望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A5390C-C42B-D0DD-14D6-68A55DECDD7E}"/>
              </a:ext>
            </a:extLst>
          </p:cNvPr>
          <p:cNvSpPr txBox="1"/>
          <p:nvPr/>
        </p:nvSpPr>
        <p:spPr>
          <a:xfrm>
            <a:off x="89354" y="4216164"/>
            <a:ext cx="80559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扩展架构以支持更广泛的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LWE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MLWE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方案</a:t>
            </a:r>
            <a:endParaRPr lang="en-US" altLang="zh-CN" sz="16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进一步优化数据流和内存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计算协同设计</a:t>
            </a:r>
            <a:endParaRPr lang="en-US" altLang="zh-CN" sz="16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优化微指令设计，压缩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Microcode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所需空间</a:t>
            </a:r>
            <a:endParaRPr lang="zh-CN" altLang="en-US" sz="16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A9A8020-2B7F-3590-6111-1D727FAC61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65" y="1385516"/>
            <a:ext cx="7199475" cy="417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38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503712" y="2938946"/>
            <a:ext cx="5492804" cy="980108"/>
          </a:xfrm>
          <a:prstGeom prst="rect">
            <a:avLst/>
          </a:prstGeom>
          <a:solidFill>
            <a:srgbClr val="074D87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zh-CN" altLang="en-US" sz="6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谢谢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3662"/>
    </mc:Choice>
    <mc:Fallback xmlns="">
      <p:transition advTm="13662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g2YjU5MjFjMWZkOGQ1N2ZlNzY3YTRkOTBlZGYzMzkifQ=="/>
  <p:tag name="RESOURCE_RECORD_KEY" val="{&quot;13&quot;:[4722044,2034146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95,&quot;left&quot;:510.04952755905515,&quot;top&quot;:128.7,&quot;width&quot;:350.9004724409448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95,&quot;left&quot;:510.04952755905515,&quot;top&quot;:128.7,&quot;width&quot;:350.9004724409448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95,&quot;left&quot;:510.04952755905515,&quot;top&quot;:128.7,&quot;width&quot;:350.9004724409448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5,&quot;left&quot;:510.04952755905515,&quot;top&quot;:128.7,&quot;width&quot;:350.9004724409448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5,&quot;left&quot;:510.04952755905515,&quot;top&quot;:128.7,&quot;width&quot;:350.9004724409448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5,&quot;left&quot;:510.04952755905515,&quot;top&quot;:128.7,&quot;width&quot;:350.9004724409448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95,&quot;left&quot;:510.04952755905515,&quot;top&quot;:128.7,&quot;width&quot;:350.9004724409448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2.35,&quot;left&quot;:510.04952755905515,&quot;top&quot;:128.7,&quot;width&quot;:350.9004724409448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12.35,&quot;left&quot;:510.04952755905515,&quot;top&quot;:128.7,&quot;width&quot;:350.9004724409448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12.35,&quot;left&quot;:510.04952755905515,&quot;top&quot;:128.7,&quot;width&quot;:350.9004724409448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12.35,&quot;left&quot;:510.04952755905515,&quot;top&quot;:128.7,&quot;width&quot;:350.9004724409448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12.35,&quot;left&quot;:510.04952755905515,&quot;top&quot;:128.7,&quot;width&quot;:350.9004724409448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12.35,&quot;left&quot;:510.04952755905515,&quot;top&quot;:128.7,&quot;width&quot;:350.9004724409448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12.35,&quot;left&quot;:510.04952755905515,&quot;top&quot;:128.7,&quot;width&quot;:350.9004724409448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12.35,&quot;left&quot;:510.04952755905515,&quot;top&quot;:128.7,&quot;width&quot;:350.900472440944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12.35,&quot;left&quot;:510.04952755905515,&quot;top&quot;:128.7,&quot;width&quot;:350.9004724409448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75,&quot;left&quot;:326.25,&quot;top&quot;:30.7,&quot;width&quot;:617.9763779527559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3540"/>
  <p:tag name="MH_LIBRARY" val="GRAPHIC"/>
  <p:tag name="MH_ORDER" val="矩形 4"/>
</p:tagLst>
</file>

<file path=ppt/theme/theme1.xml><?xml version="1.0" encoding="utf-8"?>
<a:theme xmlns:a="http://schemas.openxmlformats.org/drawingml/2006/main" name="1_Office 主题">
  <a:themeElements>
    <a:clrScheme name="自定义 309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BC3649"/>
      </a:accent1>
      <a:accent2>
        <a:srgbClr val="6A868F"/>
      </a:accent2>
      <a:accent3>
        <a:srgbClr val="31778D"/>
      </a:accent3>
      <a:accent4>
        <a:srgbClr val="D6C88B"/>
      </a:accent4>
      <a:accent5>
        <a:srgbClr val="D66E49"/>
      </a:accent5>
      <a:accent6>
        <a:srgbClr val="649EB2"/>
      </a:accent6>
      <a:hlink>
        <a:srgbClr val="BC3649"/>
      </a:hlink>
      <a:folHlink>
        <a:srgbClr val="BFBFBF"/>
      </a:folHlink>
    </a:clrScheme>
    <a:fontScheme name="思源黑体">
      <a:majorFont>
        <a:latin typeface="Century Gothic"/>
        <a:ea typeface="思源黑体 CN Medium"/>
        <a:cs typeface=""/>
      </a:majorFont>
      <a:minorFont>
        <a:latin typeface="Century Gothic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6050</TotalTime>
  <Words>3396</Words>
  <Application>Microsoft Office PowerPoint</Application>
  <PresentationFormat>宽屏</PresentationFormat>
  <Paragraphs>327</Paragraphs>
  <Slides>15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等线</vt:lpstr>
      <vt:lpstr>黑体</vt:lpstr>
      <vt:lpstr>华文楷体</vt:lpstr>
      <vt:lpstr>隶书</vt:lpstr>
      <vt:lpstr>微软雅黑</vt:lpstr>
      <vt:lpstr>Arial</vt:lpstr>
      <vt:lpstr>Calibri</vt:lpstr>
      <vt:lpstr>Cambria Math</vt:lpstr>
      <vt:lpstr>Lato</vt:lpstr>
      <vt:lpstr>Poppins</vt:lpstr>
      <vt:lpstr>Times New Roman</vt:lpstr>
      <vt:lpstr>Wingdings</vt:lpstr>
      <vt:lpstr>1_Office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AmazingNick</dc:creator>
  <cp:lastModifiedBy>正鹏 赵</cp:lastModifiedBy>
  <cp:revision>262</cp:revision>
  <dcterms:created xsi:type="dcterms:W3CDTF">2019-06-19T02:08:00Z</dcterms:created>
  <dcterms:modified xsi:type="dcterms:W3CDTF">2025-11-22T03:10:25Z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BC4DB2F69972472EBE3143EDD0A16104_13</vt:lpwstr>
  </property>
</Properties>
</file>