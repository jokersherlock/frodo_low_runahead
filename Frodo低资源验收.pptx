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703" r:id="rId3"/>
    <p:sldId id="774" r:id="rId4"/>
    <p:sldId id="755" r:id="rId6"/>
    <p:sldId id="776" r:id="rId7"/>
    <p:sldId id="777" r:id="rId8"/>
    <p:sldId id="779" r:id="rId9"/>
    <p:sldId id="772" r:id="rId10"/>
    <p:sldId id="781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F5F0EB"/>
    <a:srgbClr val="EEF7E9"/>
    <a:srgbClr val="B7DDE8"/>
    <a:srgbClr val="DDD6E5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4F53C15-A208-4BC9-BE0D-6754120E5082}" styleName="表样式 1 17">
    <a:wholeTbl>
      <a:tcTxStyle>
        <a:fontRef idx="none">
          <a:srgbClr val="000000"/>
        </a:fontRef>
      </a:tcTxStyle>
      <a:tcStyle>
        <a:tcBdr>
          <a:left>
            <a:ln w="12700" cmpd="sng">
              <a:solidFill>
                <a:srgbClr val="FFFFFF"/>
              </a:solidFill>
              <a:prstDash val="solid"/>
            </a:ln>
          </a:left>
          <a:right>
            <a:ln w="12700" cmpd="sng">
              <a:solidFill>
                <a:srgbClr val="FFFFFF"/>
              </a:solidFill>
              <a:prstDash val="solid"/>
            </a:ln>
          </a:right>
          <a:top>
            <a:ln w="12700" cmpd="sng">
              <a:solidFill>
                <a:srgbClr val="FFFFFF"/>
              </a:solidFill>
              <a:prstDash val="solid"/>
            </a:ln>
          </a:top>
          <a:bottom>
            <a:ln w="12700" cmpd="sng">
              <a:solidFill>
                <a:srgbClr val="FFFFFF"/>
              </a:solidFill>
              <a:prstDash val="solid"/>
            </a:ln>
          </a:bottom>
          <a:insideH>
            <a:ln w="12700" cmpd="sng">
              <a:solidFill>
                <a:srgbClr val="FFFFFF"/>
              </a:solidFill>
              <a:prstDash val="solid"/>
            </a:ln>
          </a:insideH>
          <a:insideV>
            <a:ln w="12700" cmpd="sng">
              <a:solidFill>
                <a:srgbClr val="FFFFFF"/>
              </a:solidFill>
              <a:prstDash val="solid"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wholeTbl>
    <a:band1H>
      <a:tcStyle>
        <a:tcBdr/>
        <a:fill>
          <a:solidFill>
            <a:schemeClr val="accent1">
              <a:lumMod val="40000"/>
              <a:lumOff val="60000"/>
            </a:schemeClr>
          </a:solidFill>
        </a:fill>
      </a:tcStyle>
    </a:band1H>
    <a:band1V>
      <a:tcStyle>
        <a:tcBdr/>
        <a:fill>
          <a:solidFill>
            <a:srgbClr val="B6C7EA"/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rgbClr val="FFFFFF"/>
              </a:solidFill>
              <a:prstDash val="solid"/>
            </a:ln>
          </a:left>
          <a:right>
            <a:ln w="12700" cmpd="sng">
              <a:solidFill>
                <a:srgbClr val="FFFFFF"/>
              </a:solidFill>
              <a:prstDash val="solid"/>
            </a:ln>
          </a:right>
          <a:top>
            <a:ln w="12700" cmpd="sng">
              <a:solidFill>
                <a:srgbClr val="FFFFFF"/>
              </a:solidFill>
              <a:prstDash val="solid"/>
            </a:ln>
          </a:top>
          <a:bottom>
            <a:ln w="12700" cmpd="sng">
              <a:solidFill>
                <a:srgbClr val="FFFFFF"/>
              </a:solidFill>
              <a:prstDash val="solid"/>
            </a:ln>
          </a:bottom>
          <a:insideH>
            <a:ln w="12700" cmpd="sng">
              <a:solidFill>
                <a:srgbClr val="FFFFFF"/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rgbClr val="FFFFFF"/>
              </a:solidFill>
              <a:prstDash val="solid"/>
            </a:ln>
          </a:left>
          <a:right>
            <a:ln w="12700" cmpd="sng">
              <a:solidFill>
                <a:srgbClr val="FFFFFF"/>
              </a:solidFill>
              <a:prstDash val="solid"/>
            </a:ln>
          </a:right>
          <a:top>
            <a:ln w="12700" cmpd="sng">
              <a:solidFill>
                <a:srgbClr val="FFFFFF"/>
              </a:solidFill>
              <a:prstDash val="solid"/>
            </a:ln>
          </a:top>
          <a:bottom>
            <a:ln w="12700" cmpd="sng">
              <a:solidFill>
                <a:srgbClr val="FFFFFF"/>
              </a:solidFill>
              <a:prstDash val="solid"/>
            </a:ln>
          </a:bottom>
          <a:insideH>
            <a:ln w="12700" cmpd="sng">
              <a:solidFill>
                <a:srgbClr val="FFFFFF"/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</a:schemeClr>
          </a:solidFill>
        </a:fill>
      </a:tcStyle>
    </a:firstCol>
    <a:lastRow>
      <a:tcTxStyle b="on">
        <a:fontRef idx="none">
          <a:srgbClr val="FFFFFF"/>
        </a:fontRef>
      </a:tcTxStyle>
      <a:tcStyle>
        <a:tcBdr>
          <a:left>
            <a:ln w="12700" cmpd="sng">
              <a:solidFill>
                <a:srgbClr val="FFFFFF"/>
              </a:solidFill>
              <a:prstDash val="solid"/>
            </a:ln>
          </a:left>
          <a:right>
            <a:ln w="12700" cmpd="sng">
              <a:solidFill>
                <a:srgbClr val="FFFFFF"/>
              </a:solidFill>
              <a:prstDash val="solid"/>
            </a:ln>
          </a:right>
          <a:top>
            <a:ln w="12700" cmpd="sng">
              <a:solidFill>
                <a:srgbClr val="FFFFFF"/>
              </a:solidFill>
              <a:prstDash val="solid"/>
            </a:ln>
          </a:top>
          <a:bottom>
            <a:ln w="12700" cmpd="sng">
              <a:solidFill>
                <a:srgbClr val="FFFFFF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 w="12700" cmpd="sng">
              <a:solidFill>
                <a:srgbClr val="FFFFFF"/>
              </a:solidFill>
              <a:prstDash val="solid"/>
            </a:ln>
          </a:left>
          <a:right>
            <a:ln w="12700" cmpd="sng">
              <a:solidFill>
                <a:srgbClr val="FFFFFF"/>
              </a:solidFill>
              <a:prstDash val="solid"/>
            </a:ln>
          </a:right>
          <a:top>
            <a:ln w="12700" cmpd="sng">
              <a:solidFill>
                <a:srgbClr val="FFFFFF"/>
              </a:solidFill>
              <a:prstDash val="solid"/>
            </a:ln>
          </a:top>
          <a:bottom>
            <a:ln w="12700" cmpd="sng">
              <a:solidFill>
                <a:srgbClr val="FFFFFF"/>
              </a:solidFill>
              <a:prstDash val="solid"/>
            </a:ln>
          </a:bottom>
          <a:insideH>
            <a:ln>
              <a:noFill/>
            </a:ln>
          </a:insideH>
          <a:insideV>
            <a:ln w="12700" cmpd="sng">
              <a:solidFill>
                <a:srgbClr val="FFFFFF"/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</a:tblStyle>
  <a:tblStyle styleId="{98FAF532-FB96-451D-AB7E-F02577DD167B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</a:tblStyle>
  <a:tblStyle styleId="{90DF1627-57B2-4AAF-B459-F58B89360DC7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36" autoAdjust="0"/>
    <p:restoredTop sz="96349" autoAdjust="0"/>
  </p:normalViewPr>
  <p:slideViewPr>
    <p:cSldViewPr snapToGrid="0">
      <p:cViewPr varScale="1">
        <p:scale>
          <a:sx n="111" d="100"/>
          <a:sy n="111" d="100"/>
        </p:scale>
        <p:origin x="9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3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BFF448-F295-4DE3-B682-FE57C8A33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21727C-9CCD-4C1B-8DC7-4CB838473EE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B670-E294-4967-8CDF-2DA207E54C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7ABB-B27C-4AF3-86DA-BB31160106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B670-E294-4967-8CDF-2DA207E54C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7ABB-B27C-4AF3-86DA-BB31160106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B670-E294-4967-8CDF-2DA207E54C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7ABB-B27C-4AF3-86DA-BB31160106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B670-E294-4967-8CDF-2DA207E54C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7ABB-B27C-4AF3-86DA-BB31160106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B670-E294-4967-8CDF-2DA207E54C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7ABB-B27C-4AF3-86DA-BB31160106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B670-E294-4967-8CDF-2DA207E54C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7ABB-B27C-4AF3-86DA-BB31160106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B670-E294-4967-8CDF-2DA207E54C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7ABB-B27C-4AF3-86DA-BB31160106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B670-E294-4967-8CDF-2DA207E54C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7ABB-B27C-4AF3-86DA-BB31160106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B670-E294-4967-8CDF-2DA207E54C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7ABB-B27C-4AF3-86DA-BB31160106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B670-E294-4967-8CDF-2DA207E54C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7ABB-B27C-4AF3-86DA-BB31160106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B670-E294-4967-8CDF-2DA207E54C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7ABB-B27C-4AF3-86DA-BB31160106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EB670-E294-4967-8CDF-2DA207E54C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E7ABB-B27C-4AF3-86DA-BB311601065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image" Target="../media/image8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0" Type="http://schemas.openxmlformats.org/officeDocument/2006/relationships/notesSlide" Target="../notesSlides/notesSlide6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 3"/>
          <p:cNvGrpSpPr/>
          <p:nvPr/>
        </p:nvGrpSpPr>
        <p:grpSpPr bwMode="auto">
          <a:xfrm>
            <a:off x="0" y="2873377"/>
            <a:ext cx="12212638" cy="1468755"/>
            <a:chOff x="-21102" y="2847433"/>
            <a:chExt cx="12213102" cy="1468026"/>
          </a:xfrm>
        </p:grpSpPr>
        <p:sp>
          <p:nvSpPr>
            <p:cNvPr id="51" name="矩形 50"/>
            <p:cNvSpPr/>
            <p:nvPr/>
          </p:nvSpPr>
          <p:spPr>
            <a:xfrm flipH="1">
              <a:off x="-463" y="2872820"/>
              <a:ext cx="12192463" cy="1251917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691" y="2847433"/>
              <a:ext cx="1273223" cy="1291584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373411" y="3077824"/>
              <a:ext cx="10818271" cy="1237635"/>
            </a:xfrm>
            <a:prstGeom prst="rect">
              <a:avLst/>
            </a:prstGeom>
            <a:noFill/>
          </p:spPr>
          <p:txBody>
            <a:bodyPr wrap="square" lIns="91438" tIns="45719" rIns="91438" bIns="45719">
              <a:noAutofit/>
            </a:bodyPr>
            <a:lstStyle/>
            <a:p>
              <a:pPr algn="ctr">
                <a:defRPr/>
              </a:pPr>
              <a:r>
                <a:rPr lang="zh-CN" altLang="en-US" sz="4800" b="1" spc="600" dirty="0">
                  <a:latin typeface="微软雅黑" panose="020B0503020204020204" charset="-122"/>
                  <a:ea typeface="微软雅黑" panose="020B0503020204020204" charset="-122"/>
                </a:rPr>
                <a:t>低资源开销</a:t>
              </a:r>
              <a:r>
                <a:rPr lang="en-US" altLang="zh-CN" sz="4800" b="1" spc="600" dirty="0">
                  <a:latin typeface="微软雅黑" panose="020B0503020204020204" charset="-122"/>
                  <a:ea typeface="微软雅黑" panose="020B0503020204020204" charset="-122"/>
                </a:rPr>
                <a:t>Frodo</a:t>
              </a:r>
              <a:endParaRPr lang="zh-CN" altLang="en-US" sz="4800" b="1" spc="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r">
                <a:defRPr/>
              </a:pPr>
              <a:endParaRPr lang="zh-CN" altLang="en-US" sz="4800" b="1" spc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4102" name="组 2"/>
            <p:cNvGrpSpPr/>
            <p:nvPr/>
          </p:nvGrpSpPr>
          <p:grpSpPr bwMode="auto">
            <a:xfrm>
              <a:off x="-21102" y="2858492"/>
              <a:ext cx="242777" cy="1285286"/>
              <a:chOff x="-21102" y="2858492"/>
              <a:chExt cx="242777" cy="1285286"/>
            </a:xfrm>
          </p:grpSpPr>
          <p:sp>
            <p:nvSpPr>
              <p:cNvPr id="46" name="圆角矩形 45"/>
              <p:cNvSpPr/>
              <p:nvPr/>
            </p:nvSpPr>
            <p:spPr>
              <a:xfrm rot="16200000" flipV="1">
                <a:off x="-13103" y="3643898"/>
                <a:ext cx="226899" cy="242897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47" name="圆角矩形 46"/>
              <p:cNvSpPr/>
              <p:nvPr/>
            </p:nvSpPr>
            <p:spPr>
              <a:xfrm rot="16200000" flipV="1">
                <a:off x="-13104" y="3908880"/>
                <a:ext cx="226900" cy="242897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48" name="圆角矩形 47"/>
              <p:cNvSpPr/>
              <p:nvPr/>
            </p:nvSpPr>
            <p:spPr>
              <a:xfrm rot="16200000" flipV="1">
                <a:off x="-13104" y="3121870"/>
                <a:ext cx="226900" cy="242897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49" name="圆角矩形 48"/>
              <p:cNvSpPr/>
              <p:nvPr/>
            </p:nvSpPr>
            <p:spPr>
              <a:xfrm rot="16200000" flipV="1">
                <a:off x="-13897" y="3387645"/>
                <a:ext cx="228487" cy="242897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45" name="圆角矩形 44"/>
              <p:cNvSpPr/>
              <p:nvPr/>
            </p:nvSpPr>
            <p:spPr>
              <a:xfrm rot="16200000" flipV="1">
                <a:off x="-13103" y="2850542"/>
                <a:ext cx="226899" cy="242897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53"/>
          <p:cNvSpPr/>
          <p:nvPr/>
        </p:nvSpPr>
        <p:spPr>
          <a:xfrm rot="10800000" flipV="1">
            <a:off x="-6350" y="249238"/>
            <a:ext cx="484188" cy="490537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600" dirty="0"/>
          </a:p>
        </p:txBody>
      </p:sp>
      <p:sp>
        <p:nvSpPr>
          <p:cNvPr id="5" name="文本框 2"/>
          <p:cNvSpPr txBox="1"/>
          <p:nvPr/>
        </p:nvSpPr>
        <p:spPr>
          <a:xfrm>
            <a:off x="554990" y="277495"/>
            <a:ext cx="6944937" cy="520700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低资源消耗</a:t>
            </a: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Frodo——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汇总</a:t>
            </a:r>
            <a:endParaRPr lang="zh-CN" altLang="en-US" sz="2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6" name="组合 17"/>
          <p:cNvGrpSpPr/>
          <p:nvPr/>
        </p:nvGrpSpPr>
        <p:grpSpPr>
          <a:xfrm>
            <a:off x="6200869" y="78051"/>
            <a:ext cx="5991131" cy="707884"/>
            <a:chOff x="6200869" y="78051"/>
            <a:chExt cx="5991131" cy="707884"/>
          </a:xfrm>
        </p:grpSpPr>
        <p:grpSp>
          <p:nvGrpSpPr>
            <p:cNvPr id="7" name="组 13"/>
            <p:cNvGrpSpPr/>
            <p:nvPr/>
          </p:nvGrpSpPr>
          <p:grpSpPr>
            <a:xfrm>
              <a:off x="6200869" y="78051"/>
              <a:ext cx="5991131" cy="707884"/>
              <a:chOff x="6201071" y="148098"/>
              <a:chExt cx="5990926" cy="708515"/>
            </a:xfrm>
          </p:grpSpPr>
          <p:grpSp>
            <p:nvGrpSpPr>
              <p:cNvPr id="8" name="组 2"/>
              <p:cNvGrpSpPr/>
              <p:nvPr/>
            </p:nvGrpSpPr>
            <p:grpSpPr>
              <a:xfrm>
                <a:off x="11454105" y="252856"/>
                <a:ext cx="737892" cy="484288"/>
                <a:chOff x="11454105" y="252856"/>
                <a:chExt cx="737892" cy="484288"/>
              </a:xfrm>
            </p:grpSpPr>
            <p:grpSp>
              <p:nvGrpSpPr>
                <p:cNvPr id="9" name="组 1"/>
                <p:cNvGrpSpPr/>
                <p:nvPr/>
              </p:nvGrpSpPr>
              <p:grpSpPr>
                <a:xfrm>
                  <a:off x="12039604" y="252856"/>
                  <a:ext cx="152393" cy="484287"/>
                  <a:chOff x="12039604" y="252856"/>
                  <a:chExt cx="152393" cy="484287"/>
                </a:xfrm>
              </p:grpSpPr>
              <p:sp>
                <p:nvSpPr>
                  <p:cNvPr id="10" name="圆角矩形 79"/>
                  <p:cNvSpPr/>
                  <p:nvPr/>
                </p:nvSpPr>
                <p:spPr>
                  <a:xfrm rot="16200000" flipV="1">
                    <a:off x="12072898" y="518110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1" name="圆角矩形 80"/>
                  <p:cNvSpPr/>
                  <p:nvPr/>
                </p:nvSpPr>
                <p:spPr>
                  <a:xfrm rot="16200000" flipV="1">
                    <a:off x="12072898" y="618211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2" name="圆角矩形 81"/>
                  <p:cNvSpPr/>
                  <p:nvPr/>
                </p:nvSpPr>
                <p:spPr>
                  <a:xfrm rot="16200000" flipV="1">
                    <a:off x="12072898" y="321085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3" name="圆角矩形 82"/>
                  <p:cNvSpPr/>
                  <p:nvPr/>
                </p:nvSpPr>
                <p:spPr>
                  <a:xfrm rot="16200000" flipV="1">
                    <a:off x="12072898" y="421186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" name="圆角矩形 83"/>
                  <p:cNvSpPr/>
                  <p:nvPr/>
                </p:nvSpPr>
                <p:spPr>
                  <a:xfrm rot="16200000" flipV="1">
                    <a:off x="12072898" y="219394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</p:grpSp>
            <p:sp>
              <p:nvSpPr>
                <p:cNvPr id="15" name="圆角矩形 78"/>
                <p:cNvSpPr/>
                <p:nvPr/>
              </p:nvSpPr>
              <p:spPr>
                <a:xfrm rot="16200000" flipV="1">
                  <a:off x="11456787" y="249739"/>
                  <a:ext cx="484617" cy="490520"/>
                </a:xfrm>
                <a:prstGeom prst="roundRect">
                  <a:avLst>
                    <a:gd name="adj" fmla="val 5039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6" name="文本框 76"/>
              <p:cNvSpPr txBox="1">
                <a:spLocks noChangeArrowheads="1"/>
              </p:cNvSpPr>
              <p:nvPr/>
            </p:nvSpPr>
            <p:spPr bwMode="auto">
              <a:xfrm>
                <a:off x="6201071" y="148098"/>
                <a:ext cx="5239271" cy="708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38" tIns="45719" rIns="91438" bIns="45719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华中科技大学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Huazhong </a:t>
                </a:r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University of</a:t>
                </a:r>
                <a:endParaRPr lang="en-US" altLang="zh-CN" sz="14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 Science and  Technology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17" name="KSO_Shape"/>
            <p:cNvSpPr/>
            <p:nvPr/>
          </p:nvSpPr>
          <p:spPr bwMode="auto">
            <a:xfrm>
              <a:off x="11426825" y="101587"/>
              <a:ext cx="420688" cy="646112"/>
            </a:xfrm>
            <a:custGeom>
              <a:avLst/>
              <a:gdLst>
                <a:gd name="connsiteX0" fmla="*/ 682214 w 1399652"/>
                <a:gd name="connsiteY0" fmla="*/ 622044 h 1669396"/>
                <a:gd name="connsiteX1" fmla="*/ 728400 w 1399652"/>
                <a:gd name="connsiteY1" fmla="*/ 622044 h 1669396"/>
                <a:gd name="connsiteX2" fmla="*/ 728400 w 1399652"/>
                <a:gd name="connsiteY2" fmla="*/ 1069491 h 1669396"/>
                <a:gd name="connsiteX3" fmla="*/ 682214 w 1399652"/>
                <a:gd name="connsiteY3" fmla="*/ 1069491 h 1669396"/>
                <a:gd name="connsiteX4" fmla="*/ 682214 w 1399652"/>
                <a:gd name="connsiteY4" fmla="*/ 868862 h 1669396"/>
                <a:gd name="connsiteX5" fmla="*/ 0 w 1399652"/>
                <a:gd name="connsiteY5" fmla="*/ 868862 h 1669396"/>
                <a:gd name="connsiteX6" fmla="*/ 0 w 1399652"/>
                <a:gd name="connsiteY6" fmla="*/ 822676 h 1669396"/>
                <a:gd name="connsiteX7" fmla="*/ 682214 w 1399652"/>
                <a:gd name="connsiteY7" fmla="*/ 822676 h 1669396"/>
                <a:gd name="connsiteX8" fmla="*/ 1353466 w 1399652"/>
                <a:gd name="connsiteY8" fmla="*/ 0 h 1669396"/>
                <a:gd name="connsiteX9" fmla="*/ 1399652 w 1399652"/>
                <a:gd name="connsiteY9" fmla="*/ 0 h 1669396"/>
                <a:gd name="connsiteX10" fmla="*/ 1399652 w 1399652"/>
                <a:gd name="connsiteY10" fmla="*/ 650823 h 1669396"/>
                <a:gd name="connsiteX11" fmla="*/ 1399652 w 1399652"/>
                <a:gd name="connsiteY11" fmla="*/ 650832 h 1669396"/>
                <a:gd name="connsiteX12" fmla="*/ 1399652 w 1399652"/>
                <a:gd name="connsiteY12" fmla="*/ 697009 h 1669396"/>
                <a:gd name="connsiteX13" fmla="*/ 869253 w 1399652"/>
                <a:gd name="connsiteY13" fmla="*/ 697009 h 1669396"/>
                <a:gd name="connsiteX14" fmla="*/ 869253 w 1399652"/>
                <a:gd name="connsiteY14" fmla="*/ 995295 h 1669396"/>
                <a:gd name="connsiteX15" fmla="*/ 1227733 w 1399652"/>
                <a:gd name="connsiteY15" fmla="*/ 995295 h 1669396"/>
                <a:gd name="connsiteX16" fmla="*/ 1168719 w 1399652"/>
                <a:gd name="connsiteY16" fmla="*/ 919117 h 1669396"/>
                <a:gd name="connsiteX17" fmla="*/ 1168719 w 1399652"/>
                <a:gd name="connsiteY17" fmla="*/ 917509 h 1669396"/>
                <a:gd name="connsiteX18" fmla="*/ 1399652 w 1399652"/>
                <a:gd name="connsiteY18" fmla="*/ 1018388 h 1669396"/>
                <a:gd name="connsiteX19" fmla="*/ 1399250 w 1399652"/>
                <a:gd name="connsiteY19" fmla="*/ 1018564 h 1669396"/>
                <a:gd name="connsiteX20" fmla="*/ 1399652 w 1399652"/>
                <a:gd name="connsiteY20" fmla="*/ 1018564 h 1669396"/>
                <a:gd name="connsiteX21" fmla="*/ 1399652 w 1399652"/>
                <a:gd name="connsiteY21" fmla="*/ 1669396 h 1669396"/>
                <a:gd name="connsiteX22" fmla="*/ 1353466 w 1399652"/>
                <a:gd name="connsiteY22" fmla="*/ 1669396 h 1669396"/>
                <a:gd name="connsiteX23" fmla="*/ 1353466 w 1399652"/>
                <a:gd name="connsiteY23" fmla="*/ 1038564 h 1669396"/>
                <a:gd name="connsiteX24" fmla="*/ 1168719 w 1399652"/>
                <a:gd name="connsiteY24" fmla="*/ 1119268 h 1669396"/>
                <a:gd name="connsiteX25" fmla="*/ 1168719 w 1399652"/>
                <a:gd name="connsiteY25" fmla="*/ 1117661 h 1669396"/>
                <a:gd name="connsiteX26" fmla="*/ 1227733 w 1399652"/>
                <a:gd name="connsiteY26" fmla="*/ 1041482 h 1669396"/>
                <a:gd name="connsiteX27" fmla="*/ 869253 w 1399652"/>
                <a:gd name="connsiteY27" fmla="*/ 1041482 h 1669396"/>
                <a:gd name="connsiteX28" fmla="*/ 869253 w 1399652"/>
                <a:gd name="connsiteY28" fmla="*/ 1122886 h 1669396"/>
                <a:gd name="connsiteX29" fmla="*/ 823067 w 1399652"/>
                <a:gd name="connsiteY29" fmla="*/ 1122886 h 1669396"/>
                <a:gd name="connsiteX30" fmla="*/ 823067 w 1399652"/>
                <a:gd name="connsiteY30" fmla="*/ 568650 h 1669396"/>
                <a:gd name="connsiteX31" fmla="*/ 869253 w 1399652"/>
                <a:gd name="connsiteY31" fmla="*/ 568650 h 1669396"/>
                <a:gd name="connsiteX32" fmla="*/ 869253 w 1399652"/>
                <a:gd name="connsiteY32" fmla="*/ 650823 h 1669396"/>
                <a:gd name="connsiteX33" fmla="*/ 1353466 w 1399652"/>
                <a:gd name="connsiteY33" fmla="*/ 650823 h 166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9652" h="1669396">
                  <a:moveTo>
                    <a:pt x="682214" y="622044"/>
                  </a:moveTo>
                  <a:lnTo>
                    <a:pt x="728400" y="622044"/>
                  </a:lnTo>
                  <a:lnTo>
                    <a:pt x="728400" y="1069491"/>
                  </a:lnTo>
                  <a:lnTo>
                    <a:pt x="682214" y="1069491"/>
                  </a:lnTo>
                  <a:lnTo>
                    <a:pt x="682214" y="868862"/>
                  </a:lnTo>
                  <a:lnTo>
                    <a:pt x="0" y="868862"/>
                  </a:lnTo>
                  <a:lnTo>
                    <a:pt x="0" y="822676"/>
                  </a:lnTo>
                  <a:lnTo>
                    <a:pt x="682214" y="822676"/>
                  </a:lnTo>
                  <a:close/>
                  <a:moveTo>
                    <a:pt x="1353466" y="0"/>
                  </a:moveTo>
                  <a:lnTo>
                    <a:pt x="1399652" y="0"/>
                  </a:lnTo>
                  <a:lnTo>
                    <a:pt x="1399652" y="650823"/>
                  </a:lnTo>
                  <a:lnTo>
                    <a:pt x="1399652" y="650832"/>
                  </a:lnTo>
                  <a:lnTo>
                    <a:pt x="1399652" y="697009"/>
                  </a:lnTo>
                  <a:lnTo>
                    <a:pt x="869253" y="697009"/>
                  </a:lnTo>
                  <a:lnTo>
                    <a:pt x="869253" y="995295"/>
                  </a:lnTo>
                  <a:lnTo>
                    <a:pt x="1227733" y="995295"/>
                  </a:lnTo>
                  <a:lnTo>
                    <a:pt x="1168719" y="919117"/>
                  </a:lnTo>
                  <a:lnTo>
                    <a:pt x="1168719" y="917509"/>
                  </a:lnTo>
                  <a:lnTo>
                    <a:pt x="1399652" y="1018388"/>
                  </a:lnTo>
                  <a:lnTo>
                    <a:pt x="1399250" y="1018564"/>
                  </a:lnTo>
                  <a:lnTo>
                    <a:pt x="1399652" y="1018564"/>
                  </a:lnTo>
                  <a:lnTo>
                    <a:pt x="1399652" y="1669396"/>
                  </a:lnTo>
                  <a:lnTo>
                    <a:pt x="1353466" y="1669396"/>
                  </a:lnTo>
                  <a:lnTo>
                    <a:pt x="1353466" y="1038564"/>
                  </a:lnTo>
                  <a:lnTo>
                    <a:pt x="1168719" y="1119268"/>
                  </a:lnTo>
                  <a:lnTo>
                    <a:pt x="1168719" y="1117661"/>
                  </a:lnTo>
                  <a:lnTo>
                    <a:pt x="1227733" y="1041482"/>
                  </a:lnTo>
                  <a:lnTo>
                    <a:pt x="869253" y="1041482"/>
                  </a:lnTo>
                  <a:lnTo>
                    <a:pt x="869253" y="1122886"/>
                  </a:lnTo>
                  <a:lnTo>
                    <a:pt x="823067" y="1122886"/>
                  </a:lnTo>
                  <a:lnTo>
                    <a:pt x="823067" y="568650"/>
                  </a:lnTo>
                  <a:lnTo>
                    <a:pt x="869253" y="568650"/>
                  </a:lnTo>
                  <a:lnTo>
                    <a:pt x="869253" y="650823"/>
                  </a:lnTo>
                  <a:lnTo>
                    <a:pt x="1353466" y="650823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2" name="圆角矩形 21"/>
          <p:cNvSpPr/>
          <p:nvPr>
            <p:custDataLst>
              <p:tags r:id="rId1"/>
            </p:custDataLst>
          </p:nvPr>
        </p:nvSpPr>
        <p:spPr>
          <a:xfrm>
            <a:off x="171450" y="1225550"/>
            <a:ext cx="5601335" cy="3573780"/>
          </a:xfrm>
          <a:prstGeom prst="roundRect">
            <a:avLst>
              <a:gd name="adj" fmla="val 3486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>
            <p:custDataLst>
              <p:tags r:id="rId2"/>
            </p:custDataLst>
          </p:nvPr>
        </p:nvSpPr>
        <p:spPr>
          <a:xfrm>
            <a:off x="176851" y="1777823"/>
            <a:ext cx="5248641" cy="5232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研究内容：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完成系统架构构建，并基于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AMD </a:t>
            </a:r>
            <a:r>
              <a:rPr lang="en-US" altLang="zh-CN" sz="1400" dirty="0" err="1">
                <a:latin typeface="微软雅黑" panose="020B0503020204020204" charset="-122"/>
                <a:ea typeface="微软雅黑" panose="020B0503020204020204" charset="-122"/>
              </a:rPr>
              <a:t>UltraScale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+ FPGA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开发板完成原型验证，同时基于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28nm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工艺，完成硬件实现评估</a:t>
            </a:r>
            <a:endParaRPr lang="zh-CN" altLang="en-US" sz="1400" dirty="0"/>
          </a:p>
        </p:txBody>
      </p:sp>
      <p:sp>
        <p:nvSpPr>
          <p:cNvPr id="24" name="矩形 23"/>
          <p:cNvSpPr/>
          <p:nvPr>
            <p:custDataLst>
              <p:tags r:id="rId3"/>
            </p:custDataLst>
          </p:nvPr>
        </p:nvSpPr>
        <p:spPr>
          <a:xfrm>
            <a:off x="246937" y="1225142"/>
            <a:ext cx="5178555" cy="369332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高性能与低资源开销的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Frodo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硬件实现</a:t>
            </a:r>
            <a:endParaRPr lang="zh-CN" altLang="en-US" dirty="0"/>
          </a:p>
        </p:txBody>
      </p:sp>
      <p:sp>
        <p:nvSpPr>
          <p:cNvPr id="25" name="矩形 24"/>
          <p:cNvSpPr/>
          <p:nvPr>
            <p:custDataLst>
              <p:tags r:id="rId4"/>
            </p:custDataLst>
          </p:nvPr>
        </p:nvSpPr>
        <p:spPr>
          <a:xfrm>
            <a:off x="136919" y="2301043"/>
            <a:ext cx="5635611" cy="235331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性能指标：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(1)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支持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Frodo-640/ Frodo-976/ Frodo-1344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三种不同的安全等级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(2)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支持完整的密钥生成、封装与解封装功能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低资源开销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Frodo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硬件实现：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  (2.1)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硬件实现等效逻辑门数小于等于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100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万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  (2.2)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基于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PTPX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功耗分析工具，评估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16MHz/24MHz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频率下的芯片运行功耗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6" name="表格 3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6101715" y="1033780"/>
          <a:ext cx="5678170" cy="4431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910"/>
                <a:gridCol w="3477260"/>
              </a:tblGrid>
              <a:tr h="365760"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</a:pP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任务目标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</a:pP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完成进度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731520"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  <a:spcAft>
                          <a:spcPts val="600"/>
                        </a:spcAft>
                      </a:pPr>
                      <a:r>
                        <a:rPr lang="zh-CN" altLang="en-US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系统架构搭建与硬件实现</a:t>
                      </a:r>
                      <a:endParaRPr lang="zh-CN" altLang="en-US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  <a:spcAft>
                          <a:spcPts val="600"/>
                        </a:spcAft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完成工程设计，支持三种安全等级下的完整密钥生成、封装与解封装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功能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73152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进行</a:t>
                      </a: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FPGA</a:t>
                      </a:r>
                      <a:r>
                        <a:rPr lang="zh-CN" altLang="en-US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原型验证</a:t>
                      </a:r>
                      <a:endParaRPr lang="zh-CN" altLang="en-US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  <a:spcAft>
                          <a:spcPts val="600"/>
                        </a:spcAft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完成所有安全等级和算法功能的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FPGA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上板验证，且正确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无误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1148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评估报告</a:t>
                      </a:r>
                      <a:endParaRPr lang="zh-CN" altLang="en-US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  <a:spcAft>
                          <a:spcPts val="600"/>
                        </a:spcAft>
                      </a:pPr>
                      <a:r>
                        <a:rPr lang="zh-CN" altLang="en-US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完成硬件实现评估报告</a:t>
                      </a:r>
                      <a:endParaRPr lang="zh-CN" altLang="en-US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731520"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基于</a:t>
                      </a: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28nm</a:t>
                      </a:r>
                      <a:r>
                        <a:rPr lang="zh-CN" altLang="en-US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工艺进行硬件实现</a:t>
                      </a:r>
                      <a:r>
                        <a:rPr lang="zh-CN" altLang="en-US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评估</a:t>
                      </a:r>
                      <a:endParaRPr lang="zh-CN" altLang="en-US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完成硬件实现评估，等效逻辑门数符合要求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</a:tr>
              <a:tr h="731520"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基于</a:t>
                      </a: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PTPX</a:t>
                      </a:r>
                      <a:r>
                        <a:rPr lang="zh-CN" altLang="en-US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评估功耗</a:t>
                      </a:r>
                      <a:endParaRPr lang="zh-CN" altLang="en-US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14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完成基于</a:t>
                      </a: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PTPX</a:t>
                      </a:r>
                      <a:r>
                        <a:rPr lang="zh-CN" altLang="en-US" sz="14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工具的</a:t>
                      </a: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16Mhz/24Mhz</a:t>
                      </a:r>
                      <a:r>
                        <a:rPr lang="zh-CN" altLang="en-US" sz="1400" b="1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功耗评估</a:t>
                      </a:r>
                      <a:endParaRPr lang="zh-CN" altLang="en-US" sz="1400" b="1" dirty="0">
                        <a:solidFill>
                          <a:srgbClr val="00B05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</a:tr>
              <a:tr h="727710"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Frodo</a:t>
                      </a:r>
                      <a:r>
                        <a:rPr lang="zh-CN" altLang="en-US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专利</a:t>
                      </a:r>
                      <a:endParaRPr lang="zh-CN" altLang="en-US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提交初稿，正在提供附属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资料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443865" y="5682615"/>
            <a:ext cx="46088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硬件实现评估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报告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左大括号 19"/>
          <p:cNvSpPr/>
          <p:nvPr/>
        </p:nvSpPr>
        <p:spPr>
          <a:xfrm>
            <a:off x="2444115" y="5633720"/>
            <a:ext cx="608965" cy="895985"/>
          </a:xfrm>
          <a:prstGeom prst="leftBrace">
            <a:avLst>
              <a:gd name="adj1" fmla="val 8333"/>
              <a:gd name="adj2" fmla="val 2771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053080" y="5444490"/>
            <a:ext cx="46088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部分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053080" y="6338570"/>
            <a:ext cx="46088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第二部分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包含等效逻辑门数分析、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PTPX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功耗评估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53"/>
          <p:cNvSpPr/>
          <p:nvPr/>
        </p:nvSpPr>
        <p:spPr>
          <a:xfrm rot="10800000" flipV="1">
            <a:off x="-6350" y="249238"/>
            <a:ext cx="484188" cy="490537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600" dirty="0"/>
          </a:p>
        </p:txBody>
      </p:sp>
      <p:sp>
        <p:nvSpPr>
          <p:cNvPr id="5" name="文本框 2"/>
          <p:cNvSpPr txBox="1"/>
          <p:nvPr/>
        </p:nvSpPr>
        <p:spPr>
          <a:xfrm>
            <a:off x="554990" y="277495"/>
            <a:ext cx="6944937" cy="520700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低资源消耗</a:t>
            </a: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Frodo——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总体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架构</a:t>
            </a:r>
            <a:endParaRPr lang="zh-CN" altLang="en-US" sz="2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6" name="组合 17"/>
          <p:cNvGrpSpPr/>
          <p:nvPr/>
        </p:nvGrpSpPr>
        <p:grpSpPr>
          <a:xfrm>
            <a:off x="6200869" y="78051"/>
            <a:ext cx="5991131" cy="707884"/>
            <a:chOff x="6200869" y="78051"/>
            <a:chExt cx="5991131" cy="707884"/>
          </a:xfrm>
        </p:grpSpPr>
        <p:grpSp>
          <p:nvGrpSpPr>
            <p:cNvPr id="7" name="组 13"/>
            <p:cNvGrpSpPr/>
            <p:nvPr/>
          </p:nvGrpSpPr>
          <p:grpSpPr>
            <a:xfrm>
              <a:off x="6200869" y="78051"/>
              <a:ext cx="5991131" cy="707884"/>
              <a:chOff x="6201071" y="148098"/>
              <a:chExt cx="5990926" cy="708515"/>
            </a:xfrm>
          </p:grpSpPr>
          <p:grpSp>
            <p:nvGrpSpPr>
              <p:cNvPr id="8" name="组 2"/>
              <p:cNvGrpSpPr/>
              <p:nvPr/>
            </p:nvGrpSpPr>
            <p:grpSpPr>
              <a:xfrm>
                <a:off x="11454105" y="252856"/>
                <a:ext cx="737892" cy="484288"/>
                <a:chOff x="11454105" y="252856"/>
                <a:chExt cx="737892" cy="484288"/>
              </a:xfrm>
            </p:grpSpPr>
            <p:grpSp>
              <p:nvGrpSpPr>
                <p:cNvPr id="9" name="组 1"/>
                <p:cNvGrpSpPr/>
                <p:nvPr/>
              </p:nvGrpSpPr>
              <p:grpSpPr>
                <a:xfrm>
                  <a:off x="12039604" y="252856"/>
                  <a:ext cx="152393" cy="484287"/>
                  <a:chOff x="12039604" y="252856"/>
                  <a:chExt cx="152393" cy="484287"/>
                </a:xfrm>
              </p:grpSpPr>
              <p:sp>
                <p:nvSpPr>
                  <p:cNvPr id="10" name="圆角矩形 79"/>
                  <p:cNvSpPr/>
                  <p:nvPr/>
                </p:nvSpPr>
                <p:spPr>
                  <a:xfrm rot="16200000" flipV="1">
                    <a:off x="12072898" y="518110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1" name="圆角矩形 80"/>
                  <p:cNvSpPr/>
                  <p:nvPr/>
                </p:nvSpPr>
                <p:spPr>
                  <a:xfrm rot="16200000" flipV="1">
                    <a:off x="12072898" y="618211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2" name="圆角矩形 81"/>
                  <p:cNvSpPr/>
                  <p:nvPr/>
                </p:nvSpPr>
                <p:spPr>
                  <a:xfrm rot="16200000" flipV="1">
                    <a:off x="12072898" y="321085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3" name="圆角矩形 82"/>
                  <p:cNvSpPr/>
                  <p:nvPr/>
                </p:nvSpPr>
                <p:spPr>
                  <a:xfrm rot="16200000" flipV="1">
                    <a:off x="12072898" y="421186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" name="圆角矩形 83"/>
                  <p:cNvSpPr/>
                  <p:nvPr/>
                </p:nvSpPr>
                <p:spPr>
                  <a:xfrm rot="16200000" flipV="1">
                    <a:off x="12072898" y="219394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</p:grpSp>
            <p:sp>
              <p:nvSpPr>
                <p:cNvPr id="15" name="圆角矩形 78"/>
                <p:cNvSpPr/>
                <p:nvPr/>
              </p:nvSpPr>
              <p:spPr>
                <a:xfrm rot="16200000" flipV="1">
                  <a:off x="11456787" y="249739"/>
                  <a:ext cx="484617" cy="490520"/>
                </a:xfrm>
                <a:prstGeom prst="roundRect">
                  <a:avLst>
                    <a:gd name="adj" fmla="val 5039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6" name="文本框 76"/>
              <p:cNvSpPr txBox="1">
                <a:spLocks noChangeArrowheads="1"/>
              </p:cNvSpPr>
              <p:nvPr/>
            </p:nvSpPr>
            <p:spPr bwMode="auto">
              <a:xfrm>
                <a:off x="6201071" y="148098"/>
                <a:ext cx="5239271" cy="708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38" tIns="45719" rIns="91438" bIns="45719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华中科技大学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Huazhong </a:t>
                </a:r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University of</a:t>
                </a:r>
                <a:endParaRPr lang="en-US" altLang="zh-CN" sz="14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 Science and  Technology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17" name="KSO_Shape"/>
            <p:cNvSpPr/>
            <p:nvPr/>
          </p:nvSpPr>
          <p:spPr bwMode="auto">
            <a:xfrm>
              <a:off x="11426825" y="101587"/>
              <a:ext cx="420688" cy="646112"/>
            </a:xfrm>
            <a:custGeom>
              <a:avLst/>
              <a:gdLst>
                <a:gd name="connsiteX0" fmla="*/ 682214 w 1399652"/>
                <a:gd name="connsiteY0" fmla="*/ 622044 h 1669396"/>
                <a:gd name="connsiteX1" fmla="*/ 728400 w 1399652"/>
                <a:gd name="connsiteY1" fmla="*/ 622044 h 1669396"/>
                <a:gd name="connsiteX2" fmla="*/ 728400 w 1399652"/>
                <a:gd name="connsiteY2" fmla="*/ 1069491 h 1669396"/>
                <a:gd name="connsiteX3" fmla="*/ 682214 w 1399652"/>
                <a:gd name="connsiteY3" fmla="*/ 1069491 h 1669396"/>
                <a:gd name="connsiteX4" fmla="*/ 682214 w 1399652"/>
                <a:gd name="connsiteY4" fmla="*/ 868862 h 1669396"/>
                <a:gd name="connsiteX5" fmla="*/ 0 w 1399652"/>
                <a:gd name="connsiteY5" fmla="*/ 868862 h 1669396"/>
                <a:gd name="connsiteX6" fmla="*/ 0 w 1399652"/>
                <a:gd name="connsiteY6" fmla="*/ 822676 h 1669396"/>
                <a:gd name="connsiteX7" fmla="*/ 682214 w 1399652"/>
                <a:gd name="connsiteY7" fmla="*/ 822676 h 1669396"/>
                <a:gd name="connsiteX8" fmla="*/ 1353466 w 1399652"/>
                <a:gd name="connsiteY8" fmla="*/ 0 h 1669396"/>
                <a:gd name="connsiteX9" fmla="*/ 1399652 w 1399652"/>
                <a:gd name="connsiteY9" fmla="*/ 0 h 1669396"/>
                <a:gd name="connsiteX10" fmla="*/ 1399652 w 1399652"/>
                <a:gd name="connsiteY10" fmla="*/ 650823 h 1669396"/>
                <a:gd name="connsiteX11" fmla="*/ 1399652 w 1399652"/>
                <a:gd name="connsiteY11" fmla="*/ 650832 h 1669396"/>
                <a:gd name="connsiteX12" fmla="*/ 1399652 w 1399652"/>
                <a:gd name="connsiteY12" fmla="*/ 697009 h 1669396"/>
                <a:gd name="connsiteX13" fmla="*/ 869253 w 1399652"/>
                <a:gd name="connsiteY13" fmla="*/ 697009 h 1669396"/>
                <a:gd name="connsiteX14" fmla="*/ 869253 w 1399652"/>
                <a:gd name="connsiteY14" fmla="*/ 995295 h 1669396"/>
                <a:gd name="connsiteX15" fmla="*/ 1227733 w 1399652"/>
                <a:gd name="connsiteY15" fmla="*/ 995295 h 1669396"/>
                <a:gd name="connsiteX16" fmla="*/ 1168719 w 1399652"/>
                <a:gd name="connsiteY16" fmla="*/ 919117 h 1669396"/>
                <a:gd name="connsiteX17" fmla="*/ 1168719 w 1399652"/>
                <a:gd name="connsiteY17" fmla="*/ 917509 h 1669396"/>
                <a:gd name="connsiteX18" fmla="*/ 1399652 w 1399652"/>
                <a:gd name="connsiteY18" fmla="*/ 1018388 h 1669396"/>
                <a:gd name="connsiteX19" fmla="*/ 1399250 w 1399652"/>
                <a:gd name="connsiteY19" fmla="*/ 1018564 h 1669396"/>
                <a:gd name="connsiteX20" fmla="*/ 1399652 w 1399652"/>
                <a:gd name="connsiteY20" fmla="*/ 1018564 h 1669396"/>
                <a:gd name="connsiteX21" fmla="*/ 1399652 w 1399652"/>
                <a:gd name="connsiteY21" fmla="*/ 1669396 h 1669396"/>
                <a:gd name="connsiteX22" fmla="*/ 1353466 w 1399652"/>
                <a:gd name="connsiteY22" fmla="*/ 1669396 h 1669396"/>
                <a:gd name="connsiteX23" fmla="*/ 1353466 w 1399652"/>
                <a:gd name="connsiteY23" fmla="*/ 1038564 h 1669396"/>
                <a:gd name="connsiteX24" fmla="*/ 1168719 w 1399652"/>
                <a:gd name="connsiteY24" fmla="*/ 1119268 h 1669396"/>
                <a:gd name="connsiteX25" fmla="*/ 1168719 w 1399652"/>
                <a:gd name="connsiteY25" fmla="*/ 1117661 h 1669396"/>
                <a:gd name="connsiteX26" fmla="*/ 1227733 w 1399652"/>
                <a:gd name="connsiteY26" fmla="*/ 1041482 h 1669396"/>
                <a:gd name="connsiteX27" fmla="*/ 869253 w 1399652"/>
                <a:gd name="connsiteY27" fmla="*/ 1041482 h 1669396"/>
                <a:gd name="connsiteX28" fmla="*/ 869253 w 1399652"/>
                <a:gd name="connsiteY28" fmla="*/ 1122886 h 1669396"/>
                <a:gd name="connsiteX29" fmla="*/ 823067 w 1399652"/>
                <a:gd name="connsiteY29" fmla="*/ 1122886 h 1669396"/>
                <a:gd name="connsiteX30" fmla="*/ 823067 w 1399652"/>
                <a:gd name="connsiteY30" fmla="*/ 568650 h 1669396"/>
                <a:gd name="connsiteX31" fmla="*/ 869253 w 1399652"/>
                <a:gd name="connsiteY31" fmla="*/ 568650 h 1669396"/>
                <a:gd name="connsiteX32" fmla="*/ 869253 w 1399652"/>
                <a:gd name="connsiteY32" fmla="*/ 650823 h 1669396"/>
                <a:gd name="connsiteX33" fmla="*/ 1353466 w 1399652"/>
                <a:gd name="connsiteY33" fmla="*/ 650823 h 166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9652" h="1669396">
                  <a:moveTo>
                    <a:pt x="682214" y="622044"/>
                  </a:moveTo>
                  <a:lnTo>
                    <a:pt x="728400" y="622044"/>
                  </a:lnTo>
                  <a:lnTo>
                    <a:pt x="728400" y="1069491"/>
                  </a:lnTo>
                  <a:lnTo>
                    <a:pt x="682214" y="1069491"/>
                  </a:lnTo>
                  <a:lnTo>
                    <a:pt x="682214" y="868862"/>
                  </a:lnTo>
                  <a:lnTo>
                    <a:pt x="0" y="868862"/>
                  </a:lnTo>
                  <a:lnTo>
                    <a:pt x="0" y="822676"/>
                  </a:lnTo>
                  <a:lnTo>
                    <a:pt x="682214" y="822676"/>
                  </a:lnTo>
                  <a:close/>
                  <a:moveTo>
                    <a:pt x="1353466" y="0"/>
                  </a:moveTo>
                  <a:lnTo>
                    <a:pt x="1399652" y="0"/>
                  </a:lnTo>
                  <a:lnTo>
                    <a:pt x="1399652" y="650823"/>
                  </a:lnTo>
                  <a:lnTo>
                    <a:pt x="1399652" y="650832"/>
                  </a:lnTo>
                  <a:lnTo>
                    <a:pt x="1399652" y="697009"/>
                  </a:lnTo>
                  <a:lnTo>
                    <a:pt x="869253" y="697009"/>
                  </a:lnTo>
                  <a:lnTo>
                    <a:pt x="869253" y="995295"/>
                  </a:lnTo>
                  <a:lnTo>
                    <a:pt x="1227733" y="995295"/>
                  </a:lnTo>
                  <a:lnTo>
                    <a:pt x="1168719" y="919117"/>
                  </a:lnTo>
                  <a:lnTo>
                    <a:pt x="1168719" y="917509"/>
                  </a:lnTo>
                  <a:lnTo>
                    <a:pt x="1399652" y="1018388"/>
                  </a:lnTo>
                  <a:lnTo>
                    <a:pt x="1399250" y="1018564"/>
                  </a:lnTo>
                  <a:lnTo>
                    <a:pt x="1399652" y="1018564"/>
                  </a:lnTo>
                  <a:lnTo>
                    <a:pt x="1399652" y="1669396"/>
                  </a:lnTo>
                  <a:lnTo>
                    <a:pt x="1353466" y="1669396"/>
                  </a:lnTo>
                  <a:lnTo>
                    <a:pt x="1353466" y="1038564"/>
                  </a:lnTo>
                  <a:lnTo>
                    <a:pt x="1168719" y="1119268"/>
                  </a:lnTo>
                  <a:lnTo>
                    <a:pt x="1168719" y="1117661"/>
                  </a:lnTo>
                  <a:lnTo>
                    <a:pt x="1227733" y="1041482"/>
                  </a:lnTo>
                  <a:lnTo>
                    <a:pt x="869253" y="1041482"/>
                  </a:lnTo>
                  <a:lnTo>
                    <a:pt x="869253" y="1122886"/>
                  </a:lnTo>
                  <a:lnTo>
                    <a:pt x="823067" y="1122886"/>
                  </a:lnTo>
                  <a:lnTo>
                    <a:pt x="823067" y="568650"/>
                  </a:lnTo>
                  <a:lnTo>
                    <a:pt x="869253" y="568650"/>
                  </a:lnTo>
                  <a:lnTo>
                    <a:pt x="869253" y="650823"/>
                  </a:lnTo>
                  <a:lnTo>
                    <a:pt x="1353466" y="650823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</p:grpSp>
      <p:graphicFrame>
        <p:nvGraphicFramePr>
          <p:cNvPr id="19" name="对象 18"/>
          <p:cNvGraphicFramePr/>
          <p:nvPr/>
        </p:nvGraphicFramePr>
        <p:xfrm>
          <a:off x="182880" y="1056005"/>
          <a:ext cx="8456295" cy="4745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1" imgW="7611110" imgH="4765040" progId="Visio.Drawing.15">
                  <p:embed/>
                </p:oleObj>
              </mc:Choice>
              <mc:Fallback>
                <p:oleObj name="" r:id="rId1" imgW="7611110" imgH="4765040" progId="Visio.Drawing.15">
                  <p:embed/>
                  <p:pic>
                    <p:nvPicPr>
                      <p:cNvPr id="0" name="图片 2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2880" y="1056005"/>
                        <a:ext cx="8456295" cy="4745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792210" y="2160905"/>
            <a:ext cx="253365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子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功能模块列表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哈希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采样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DSP	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Decoder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Encoder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172460" y="5928995"/>
            <a:ext cx="1104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整体架构</a:t>
            </a:r>
            <a:endParaRPr lang="zh-CN" altLang="en-US" b="1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53"/>
          <p:cNvSpPr/>
          <p:nvPr/>
        </p:nvSpPr>
        <p:spPr>
          <a:xfrm rot="10800000" flipV="1">
            <a:off x="-6350" y="249238"/>
            <a:ext cx="484188" cy="490537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600" dirty="0"/>
          </a:p>
        </p:txBody>
      </p:sp>
      <p:sp>
        <p:nvSpPr>
          <p:cNvPr id="4" name="矩形 6"/>
          <p:cNvSpPr/>
          <p:nvPr/>
        </p:nvSpPr>
        <p:spPr>
          <a:xfrm>
            <a:off x="195329" y="1515802"/>
            <a:ext cx="3541063" cy="3876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n"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二级译码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p"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r>
              <a:rPr lang="zh-CN" altLang="en-US" b="1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使用算法</a:t>
            </a:r>
            <a:r>
              <a:rPr lang="en-US" altLang="zh-CN" b="1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—</a:t>
            </a:r>
            <a:r>
              <a:rPr lang="zh-CN" altLang="en-US" b="1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指令</a:t>
            </a:r>
            <a:r>
              <a:rPr lang="en-US" altLang="zh-CN" b="1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—</a:t>
            </a:r>
            <a:r>
              <a:rPr lang="zh-CN" altLang="en-US" b="1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微指令的调度机制，算法任务译码为对应的指令段，指令译码为由微指令组成的微程序。</a:t>
            </a:r>
            <a:endParaRPr lang="zh-CN" altLang="en-US" b="1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p"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r>
              <a:rPr lang="zh-CN" altLang="en-US" b="1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指令段提供地址模式等信息，微指令提供工作模块所需控制信号。</a:t>
            </a:r>
            <a:endParaRPr lang="zh-CN" altLang="en-US" b="1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554990" y="277495"/>
            <a:ext cx="6944937" cy="520700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创新点</a:t>
            </a: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总体控制策略</a:t>
            </a:r>
            <a:endParaRPr lang="zh-CN" altLang="en-US" sz="2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6" name="组合 17"/>
          <p:cNvGrpSpPr/>
          <p:nvPr/>
        </p:nvGrpSpPr>
        <p:grpSpPr>
          <a:xfrm>
            <a:off x="6200869" y="78051"/>
            <a:ext cx="5991131" cy="707884"/>
            <a:chOff x="6200869" y="78051"/>
            <a:chExt cx="5991131" cy="707884"/>
          </a:xfrm>
        </p:grpSpPr>
        <p:grpSp>
          <p:nvGrpSpPr>
            <p:cNvPr id="7" name="组 13"/>
            <p:cNvGrpSpPr/>
            <p:nvPr/>
          </p:nvGrpSpPr>
          <p:grpSpPr>
            <a:xfrm>
              <a:off x="6200869" y="78051"/>
              <a:ext cx="5991131" cy="707884"/>
              <a:chOff x="6201071" y="148098"/>
              <a:chExt cx="5990926" cy="708515"/>
            </a:xfrm>
          </p:grpSpPr>
          <p:grpSp>
            <p:nvGrpSpPr>
              <p:cNvPr id="8" name="组 2"/>
              <p:cNvGrpSpPr/>
              <p:nvPr/>
            </p:nvGrpSpPr>
            <p:grpSpPr>
              <a:xfrm>
                <a:off x="11454105" y="252856"/>
                <a:ext cx="737892" cy="484288"/>
                <a:chOff x="11454105" y="252856"/>
                <a:chExt cx="737892" cy="484288"/>
              </a:xfrm>
            </p:grpSpPr>
            <p:grpSp>
              <p:nvGrpSpPr>
                <p:cNvPr id="9" name="组 1"/>
                <p:cNvGrpSpPr/>
                <p:nvPr/>
              </p:nvGrpSpPr>
              <p:grpSpPr>
                <a:xfrm>
                  <a:off x="12039604" y="252856"/>
                  <a:ext cx="152393" cy="484287"/>
                  <a:chOff x="12039604" y="252856"/>
                  <a:chExt cx="152393" cy="484287"/>
                </a:xfrm>
              </p:grpSpPr>
              <p:sp>
                <p:nvSpPr>
                  <p:cNvPr id="10" name="圆角矩形 79"/>
                  <p:cNvSpPr/>
                  <p:nvPr/>
                </p:nvSpPr>
                <p:spPr>
                  <a:xfrm rot="16200000" flipV="1">
                    <a:off x="12072898" y="518110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1" name="圆角矩形 80"/>
                  <p:cNvSpPr/>
                  <p:nvPr/>
                </p:nvSpPr>
                <p:spPr>
                  <a:xfrm rot="16200000" flipV="1">
                    <a:off x="12072898" y="618211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2" name="圆角矩形 81"/>
                  <p:cNvSpPr/>
                  <p:nvPr/>
                </p:nvSpPr>
                <p:spPr>
                  <a:xfrm rot="16200000" flipV="1">
                    <a:off x="12072898" y="321085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3" name="圆角矩形 82"/>
                  <p:cNvSpPr/>
                  <p:nvPr/>
                </p:nvSpPr>
                <p:spPr>
                  <a:xfrm rot="16200000" flipV="1">
                    <a:off x="12072898" y="421186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" name="圆角矩形 83"/>
                  <p:cNvSpPr/>
                  <p:nvPr/>
                </p:nvSpPr>
                <p:spPr>
                  <a:xfrm rot="16200000" flipV="1">
                    <a:off x="12072898" y="219394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</p:grpSp>
            <p:sp>
              <p:nvSpPr>
                <p:cNvPr id="15" name="圆角矩形 78"/>
                <p:cNvSpPr/>
                <p:nvPr/>
              </p:nvSpPr>
              <p:spPr>
                <a:xfrm rot="16200000" flipV="1">
                  <a:off x="11456787" y="249739"/>
                  <a:ext cx="484617" cy="490520"/>
                </a:xfrm>
                <a:prstGeom prst="roundRect">
                  <a:avLst>
                    <a:gd name="adj" fmla="val 5039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6" name="文本框 76"/>
              <p:cNvSpPr txBox="1">
                <a:spLocks noChangeArrowheads="1"/>
              </p:cNvSpPr>
              <p:nvPr/>
            </p:nvSpPr>
            <p:spPr bwMode="auto">
              <a:xfrm>
                <a:off x="6201071" y="148098"/>
                <a:ext cx="5239271" cy="708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38" tIns="45719" rIns="91438" bIns="45719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华中科技大学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Huazhong </a:t>
                </a:r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University of</a:t>
                </a:r>
                <a:endParaRPr lang="en-US" altLang="zh-CN" sz="14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 Science and  Technology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17" name="KSO_Shape"/>
            <p:cNvSpPr/>
            <p:nvPr/>
          </p:nvSpPr>
          <p:spPr bwMode="auto">
            <a:xfrm>
              <a:off x="11426825" y="101587"/>
              <a:ext cx="420688" cy="646112"/>
            </a:xfrm>
            <a:custGeom>
              <a:avLst/>
              <a:gdLst>
                <a:gd name="connsiteX0" fmla="*/ 682214 w 1399652"/>
                <a:gd name="connsiteY0" fmla="*/ 622044 h 1669396"/>
                <a:gd name="connsiteX1" fmla="*/ 728400 w 1399652"/>
                <a:gd name="connsiteY1" fmla="*/ 622044 h 1669396"/>
                <a:gd name="connsiteX2" fmla="*/ 728400 w 1399652"/>
                <a:gd name="connsiteY2" fmla="*/ 1069491 h 1669396"/>
                <a:gd name="connsiteX3" fmla="*/ 682214 w 1399652"/>
                <a:gd name="connsiteY3" fmla="*/ 1069491 h 1669396"/>
                <a:gd name="connsiteX4" fmla="*/ 682214 w 1399652"/>
                <a:gd name="connsiteY4" fmla="*/ 868862 h 1669396"/>
                <a:gd name="connsiteX5" fmla="*/ 0 w 1399652"/>
                <a:gd name="connsiteY5" fmla="*/ 868862 h 1669396"/>
                <a:gd name="connsiteX6" fmla="*/ 0 w 1399652"/>
                <a:gd name="connsiteY6" fmla="*/ 822676 h 1669396"/>
                <a:gd name="connsiteX7" fmla="*/ 682214 w 1399652"/>
                <a:gd name="connsiteY7" fmla="*/ 822676 h 1669396"/>
                <a:gd name="connsiteX8" fmla="*/ 1353466 w 1399652"/>
                <a:gd name="connsiteY8" fmla="*/ 0 h 1669396"/>
                <a:gd name="connsiteX9" fmla="*/ 1399652 w 1399652"/>
                <a:gd name="connsiteY9" fmla="*/ 0 h 1669396"/>
                <a:gd name="connsiteX10" fmla="*/ 1399652 w 1399652"/>
                <a:gd name="connsiteY10" fmla="*/ 650823 h 1669396"/>
                <a:gd name="connsiteX11" fmla="*/ 1399652 w 1399652"/>
                <a:gd name="connsiteY11" fmla="*/ 650832 h 1669396"/>
                <a:gd name="connsiteX12" fmla="*/ 1399652 w 1399652"/>
                <a:gd name="connsiteY12" fmla="*/ 697009 h 1669396"/>
                <a:gd name="connsiteX13" fmla="*/ 869253 w 1399652"/>
                <a:gd name="connsiteY13" fmla="*/ 697009 h 1669396"/>
                <a:gd name="connsiteX14" fmla="*/ 869253 w 1399652"/>
                <a:gd name="connsiteY14" fmla="*/ 995295 h 1669396"/>
                <a:gd name="connsiteX15" fmla="*/ 1227733 w 1399652"/>
                <a:gd name="connsiteY15" fmla="*/ 995295 h 1669396"/>
                <a:gd name="connsiteX16" fmla="*/ 1168719 w 1399652"/>
                <a:gd name="connsiteY16" fmla="*/ 919117 h 1669396"/>
                <a:gd name="connsiteX17" fmla="*/ 1168719 w 1399652"/>
                <a:gd name="connsiteY17" fmla="*/ 917509 h 1669396"/>
                <a:gd name="connsiteX18" fmla="*/ 1399652 w 1399652"/>
                <a:gd name="connsiteY18" fmla="*/ 1018388 h 1669396"/>
                <a:gd name="connsiteX19" fmla="*/ 1399250 w 1399652"/>
                <a:gd name="connsiteY19" fmla="*/ 1018564 h 1669396"/>
                <a:gd name="connsiteX20" fmla="*/ 1399652 w 1399652"/>
                <a:gd name="connsiteY20" fmla="*/ 1018564 h 1669396"/>
                <a:gd name="connsiteX21" fmla="*/ 1399652 w 1399652"/>
                <a:gd name="connsiteY21" fmla="*/ 1669396 h 1669396"/>
                <a:gd name="connsiteX22" fmla="*/ 1353466 w 1399652"/>
                <a:gd name="connsiteY22" fmla="*/ 1669396 h 1669396"/>
                <a:gd name="connsiteX23" fmla="*/ 1353466 w 1399652"/>
                <a:gd name="connsiteY23" fmla="*/ 1038564 h 1669396"/>
                <a:gd name="connsiteX24" fmla="*/ 1168719 w 1399652"/>
                <a:gd name="connsiteY24" fmla="*/ 1119268 h 1669396"/>
                <a:gd name="connsiteX25" fmla="*/ 1168719 w 1399652"/>
                <a:gd name="connsiteY25" fmla="*/ 1117661 h 1669396"/>
                <a:gd name="connsiteX26" fmla="*/ 1227733 w 1399652"/>
                <a:gd name="connsiteY26" fmla="*/ 1041482 h 1669396"/>
                <a:gd name="connsiteX27" fmla="*/ 869253 w 1399652"/>
                <a:gd name="connsiteY27" fmla="*/ 1041482 h 1669396"/>
                <a:gd name="connsiteX28" fmla="*/ 869253 w 1399652"/>
                <a:gd name="connsiteY28" fmla="*/ 1122886 h 1669396"/>
                <a:gd name="connsiteX29" fmla="*/ 823067 w 1399652"/>
                <a:gd name="connsiteY29" fmla="*/ 1122886 h 1669396"/>
                <a:gd name="connsiteX30" fmla="*/ 823067 w 1399652"/>
                <a:gd name="connsiteY30" fmla="*/ 568650 h 1669396"/>
                <a:gd name="connsiteX31" fmla="*/ 869253 w 1399652"/>
                <a:gd name="connsiteY31" fmla="*/ 568650 h 1669396"/>
                <a:gd name="connsiteX32" fmla="*/ 869253 w 1399652"/>
                <a:gd name="connsiteY32" fmla="*/ 650823 h 1669396"/>
                <a:gd name="connsiteX33" fmla="*/ 1353466 w 1399652"/>
                <a:gd name="connsiteY33" fmla="*/ 650823 h 166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9652" h="1669396">
                  <a:moveTo>
                    <a:pt x="682214" y="622044"/>
                  </a:moveTo>
                  <a:lnTo>
                    <a:pt x="728400" y="622044"/>
                  </a:lnTo>
                  <a:lnTo>
                    <a:pt x="728400" y="1069491"/>
                  </a:lnTo>
                  <a:lnTo>
                    <a:pt x="682214" y="1069491"/>
                  </a:lnTo>
                  <a:lnTo>
                    <a:pt x="682214" y="868862"/>
                  </a:lnTo>
                  <a:lnTo>
                    <a:pt x="0" y="868862"/>
                  </a:lnTo>
                  <a:lnTo>
                    <a:pt x="0" y="822676"/>
                  </a:lnTo>
                  <a:lnTo>
                    <a:pt x="682214" y="822676"/>
                  </a:lnTo>
                  <a:close/>
                  <a:moveTo>
                    <a:pt x="1353466" y="0"/>
                  </a:moveTo>
                  <a:lnTo>
                    <a:pt x="1399652" y="0"/>
                  </a:lnTo>
                  <a:lnTo>
                    <a:pt x="1399652" y="650823"/>
                  </a:lnTo>
                  <a:lnTo>
                    <a:pt x="1399652" y="650832"/>
                  </a:lnTo>
                  <a:lnTo>
                    <a:pt x="1399652" y="697009"/>
                  </a:lnTo>
                  <a:lnTo>
                    <a:pt x="869253" y="697009"/>
                  </a:lnTo>
                  <a:lnTo>
                    <a:pt x="869253" y="995295"/>
                  </a:lnTo>
                  <a:lnTo>
                    <a:pt x="1227733" y="995295"/>
                  </a:lnTo>
                  <a:lnTo>
                    <a:pt x="1168719" y="919117"/>
                  </a:lnTo>
                  <a:lnTo>
                    <a:pt x="1168719" y="917509"/>
                  </a:lnTo>
                  <a:lnTo>
                    <a:pt x="1399652" y="1018388"/>
                  </a:lnTo>
                  <a:lnTo>
                    <a:pt x="1399250" y="1018564"/>
                  </a:lnTo>
                  <a:lnTo>
                    <a:pt x="1399652" y="1018564"/>
                  </a:lnTo>
                  <a:lnTo>
                    <a:pt x="1399652" y="1669396"/>
                  </a:lnTo>
                  <a:lnTo>
                    <a:pt x="1353466" y="1669396"/>
                  </a:lnTo>
                  <a:lnTo>
                    <a:pt x="1353466" y="1038564"/>
                  </a:lnTo>
                  <a:lnTo>
                    <a:pt x="1168719" y="1119268"/>
                  </a:lnTo>
                  <a:lnTo>
                    <a:pt x="1168719" y="1117661"/>
                  </a:lnTo>
                  <a:lnTo>
                    <a:pt x="1227733" y="1041482"/>
                  </a:lnTo>
                  <a:lnTo>
                    <a:pt x="869253" y="1041482"/>
                  </a:lnTo>
                  <a:lnTo>
                    <a:pt x="869253" y="1122886"/>
                  </a:lnTo>
                  <a:lnTo>
                    <a:pt x="823067" y="1122886"/>
                  </a:lnTo>
                  <a:lnTo>
                    <a:pt x="823067" y="568650"/>
                  </a:lnTo>
                  <a:lnTo>
                    <a:pt x="869253" y="568650"/>
                  </a:lnTo>
                  <a:lnTo>
                    <a:pt x="869253" y="650823"/>
                  </a:lnTo>
                  <a:lnTo>
                    <a:pt x="1353466" y="650823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1878" y="1106260"/>
            <a:ext cx="3991368" cy="365875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8608695" y="4902200"/>
            <a:ext cx="131826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控制模块架构图</a:t>
            </a:r>
            <a:endParaRPr lang="zh-CN" altLang="en-US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561" y="1576091"/>
            <a:ext cx="1247840" cy="3188924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561" y="1152570"/>
            <a:ext cx="1658198" cy="3810947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3736428" y="5082182"/>
            <a:ext cx="117306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指令状态机</a:t>
            </a:r>
            <a:endParaRPr lang="zh-CN" altLang="en-US" sz="12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310111" y="5082182"/>
            <a:ext cx="117306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微指令状态机</a:t>
            </a:r>
            <a:endParaRPr lang="zh-CN" altLang="en-US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52730" y="1012825"/>
            <a:ext cx="3536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利用指令控制算法的全流程，采取二级指令调度策略。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78155" y="5603240"/>
            <a:ext cx="863028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优点：</a:t>
            </a:r>
            <a:endParaRPr lang="zh-CN" altLang="en-US" b="1" dirty="0">
              <a:solidFill>
                <a:schemeClr val="accent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</a:t>
            </a:r>
            <a:r>
              <a:rPr lang="zh-CN" altLang="en-US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以少量的存储资源</a:t>
            </a:r>
            <a:r>
              <a:rPr lang="en-US" altLang="zh-CN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(1.4KB)</a:t>
            </a:r>
            <a:r>
              <a:rPr lang="zh-CN" altLang="en-US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开销换取控制模块的逻辑资源开销</a:t>
            </a:r>
            <a:r>
              <a:rPr lang="en-US" altLang="zh-CN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(984/272)</a:t>
            </a:r>
            <a:r>
              <a:rPr lang="zh-CN" altLang="en-US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b="1" dirty="0">
              <a:solidFill>
                <a:schemeClr val="accent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控制过程中流程明确，每个操作的逻辑清晰。</a:t>
            </a:r>
            <a:endParaRPr lang="zh-CN" altLang="en-US" b="1" dirty="0">
              <a:solidFill>
                <a:schemeClr val="accent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489825" y="2016125"/>
            <a:ext cx="8045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/>
              <a:t>总线</a:t>
            </a:r>
            <a:endParaRPr lang="zh-CN" altLang="en-US" sz="1600" b="1"/>
          </a:p>
        </p:txBody>
      </p:sp>
      <p:sp>
        <p:nvSpPr>
          <p:cNvPr id="28" name="文本框 27"/>
          <p:cNvSpPr txBox="1"/>
          <p:nvPr/>
        </p:nvSpPr>
        <p:spPr>
          <a:xfrm>
            <a:off x="6620510" y="2568575"/>
            <a:ext cx="13754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/>
              <a:t>微指令</a:t>
            </a:r>
            <a:endParaRPr lang="zh-CN" altLang="en-US" sz="1600" b="1"/>
          </a:p>
          <a:p>
            <a:r>
              <a:rPr lang="zh-CN" altLang="en-US" sz="1600" b="1"/>
              <a:t>地址</a:t>
            </a:r>
            <a:endParaRPr lang="zh-CN" altLang="en-US" sz="1600" b="1"/>
          </a:p>
        </p:txBody>
      </p:sp>
      <p:sp>
        <p:nvSpPr>
          <p:cNvPr id="29" name="文本框 28"/>
          <p:cNvSpPr txBox="1"/>
          <p:nvPr/>
        </p:nvSpPr>
        <p:spPr>
          <a:xfrm>
            <a:off x="6620510" y="3367405"/>
            <a:ext cx="13754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/>
              <a:t>微指令</a:t>
            </a:r>
            <a:endParaRPr lang="zh-CN" altLang="en-US" sz="1600" b="1"/>
          </a:p>
          <a:p>
            <a:r>
              <a:rPr lang="en-US" altLang="zh-CN" sz="1600" b="1"/>
              <a:t>Rom</a:t>
            </a:r>
            <a:endParaRPr lang="en-US" altLang="zh-CN" sz="1600" b="1"/>
          </a:p>
        </p:txBody>
      </p:sp>
      <p:sp>
        <p:nvSpPr>
          <p:cNvPr id="30" name="文本框 29"/>
          <p:cNvSpPr txBox="1"/>
          <p:nvPr/>
        </p:nvSpPr>
        <p:spPr>
          <a:xfrm>
            <a:off x="11277600" y="2568575"/>
            <a:ext cx="13754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/>
              <a:t>指令</a:t>
            </a:r>
            <a:endParaRPr lang="zh-CN" altLang="en-US" sz="1600" b="1"/>
          </a:p>
          <a:p>
            <a:r>
              <a:rPr lang="en-US" altLang="zh-CN" sz="1600" b="1"/>
              <a:t>Rom</a:t>
            </a:r>
            <a:endParaRPr lang="en-US" altLang="zh-CN" sz="1600" b="1"/>
          </a:p>
        </p:txBody>
      </p:sp>
      <p:sp>
        <p:nvSpPr>
          <p:cNvPr id="31" name="文本框 30"/>
          <p:cNvSpPr txBox="1"/>
          <p:nvPr/>
        </p:nvSpPr>
        <p:spPr>
          <a:xfrm>
            <a:off x="9999345" y="4377055"/>
            <a:ext cx="13754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/>
              <a:t>地址生成</a:t>
            </a:r>
            <a:endParaRPr lang="zh-CN" altLang="en-US" sz="1600" b="1"/>
          </a:p>
        </p:txBody>
      </p:sp>
      <p:sp>
        <p:nvSpPr>
          <p:cNvPr id="32" name="文本框 31"/>
          <p:cNvSpPr txBox="1"/>
          <p:nvPr/>
        </p:nvSpPr>
        <p:spPr>
          <a:xfrm>
            <a:off x="7233920" y="4377055"/>
            <a:ext cx="12712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/>
              <a:t>数据预处理</a:t>
            </a:r>
            <a:endParaRPr lang="zh-CN" altLang="en-US" sz="1600" b="1"/>
          </a:p>
        </p:txBody>
      </p:sp>
      <p:sp>
        <p:nvSpPr>
          <p:cNvPr id="33" name="文本框 32"/>
          <p:cNvSpPr txBox="1"/>
          <p:nvPr/>
        </p:nvSpPr>
        <p:spPr>
          <a:xfrm>
            <a:off x="11191875" y="3545840"/>
            <a:ext cx="13754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Hash</a:t>
            </a:r>
            <a:r>
              <a:rPr lang="zh-CN" altLang="en-US" sz="1600" b="1"/>
              <a:t>相关</a:t>
            </a:r>
            <a:endParaRPr lang="zh-CN" altLang="en-US" sz="1600" b="1"/>
          </a:p>
          <a:p>
            <a:r>
              <a:rPr lang="zh-CN" altLang="en-US" sz="1600" b="1"/>
              <a:t>地址生成</a:t>
            </a:r>
            <a:endParaRPr lang="zh-CN" altLang="en-US" sz="16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53"/>
          <p:cNvSpPr/>
          <p:nvPr/>
        </p:nvSpPr>
        <p:spPr>
          <a:xfrm rot="10800000" flipV="1">
            <a:off x="-6350" y="249238"/>
            <a:ext cx="484188" cy="490537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600" dirty="0"/>
          </a:p>
        </p:txBody>
      </p:sp>
      <p:grpSp>
        <p:nvGrpSpPr>
          <p:cNvPr id="6" name="组合 17"/>
          <p:cNvGrpSpPr/>
          <p:nvPr/>
        </p:nvGrpSpPr>
        <p:grpSpPr>
          <a:xfrm>
            <a:off x="6200869" y="78051"/>
            <a:ext cx="5991131" cy="707884"/>
            <a:chOff x="6200869" y="78051"/>
            <a:chExt cx="5991131" cy="707884"/>
          </a:xfrm>
        </p:grpSpPr>
        <p:grpSp>
          <p:nvGrpSpPr>
            <p:cNvPr id="7" name="组 13"/>
            <p:cNvGrpSpPr/>
            <p:nvPr/>
          </p:nvGrpSpPr>
          <p:grpSpPr>
            <a:xfrm>
              <a:off x="6200869" y="78051"/>
              <a:ext cx="5991131" cy="707884"/>
              <a:chOff x="6201071" y="148098"/>
              <a:chExt cx="5990926" cy="708515"/>
            </a:xfrm>
          </p:grpSpPr>
          <p:grpSp>
            <p:nvGrpSpPr>
              <p:cNvPr id="8" name="组 2"/>
              <p:cNvGrpSpPr/>
              <p:nvPr/>
            </p:nvGrpSpPr>
            <p:grpSpPr>
              <a:xfrm>
                <a:off x="11454105" y="252856"/>
                <a:ext cx="737892" cy="484288"/>
                <a:chOff x="11454105" y="252856"/>
                <a:chExt cx="737892" cy="484288"/>
              </a:xfrm>
            </p:grpSpPr>
            <p:grpSp>
              <p:nvGrpSpPr>
                <p:cNvPr id="9" name="组 1"/>
                <p:cNvGrpSpPr/>
                <p:nvPr/>
              </p:nvGrpSpPr>
              <p:grpSpPr>
                <a:xfrm>
                  <a:off x="12039604" y="252856"/>
                  <a:ext cx="152393" cy="484287"/>
                  <a:chOff x="12039604" y="252856"/>
                  <a:chExt cx="152393" cy="484287"/>
                </a:xfrm>
              </p:grpSpPr>
              <p:sp>
                <p:nvSpPr>
                  <p:cNvPr id="10" name="圆角矩形 79"/>
                  <p:cNvSpPr/>
                  <p:nvPr/>
                </p:nvSpPr>
                <p:spPr>
                  <a:xfrm rot="16200000" flipV="1">
                    <a:off x="12072898" y="518110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1" name="圆角矩形 80"/>
                  <p:cNvSpPr/>
                  <p:nvPr/>
                </p:nvSpPr>
                <p:spPr>
                  <a:xfrm rot="16200000" flipV="1">
                    <a:off x="12072898" y="618211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2" name="圆角矩形 81"/>
                  <p:cNvSpPr/>
                  <p:nvPr/>
                </p:nvSpPr>
                <p:spPr>
                  <a:xfrm rot="16200000" flipV="1">
                    <a:off x="12072898" y="321085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3" name="圆角矩形 82"/>
                  <p:cNvSpPr/>
                  <p:nvPr/>
                </p:nvSpPr>
                <p:spPr>
                  <a:xfrm rot="16200000" flipV="1">
                    <a:off x="12072898" y="421186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" name="圆角矩形 83"/>
                  <p:cNvSpPr/>
                  <p:nvPr/>
                </p:nvSpPr>
                <p:spPr>
                  <a:xfrm rot="16200000" flipV="1">
                    <a:off x="12072898" y="219394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</p:grpSp>
            <p:sp>
              <p:nvSpPr>
                <p:cNvPr id="15" name="圆角矩形 78"/>
                <p:cNvSpPr/>
                <p:nvPr/>
              </p:nvSpPr>
              <p:spPr>
                <a:xfrm rot="16200000" flipV="1">
                  <a:off x="11456787" y="249739"/>
                  <a:ext cx="484617" cy="490520"/>
                </a:xfrm>
                <a:prstGeom prst="roundRect">
                  <a:avLst>
                    <a:gd name="adj" fmla="val 5039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6" name="文本框 76"/>
              <p:cNvSpPr txBox="1">
                <a:spLocks noChangeArrowheads="1"/>
              </p:cNvSpPr>
              <p:nvPr/>
            </p:nvSpPr>
            <p:spPr bwMode="auto">
              <a:xfrm>
                <a:off x="6201071" y="148098"/>
                <a:ext cx="5239271" cy="708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38" tIns="45719" rIns="91438" bIns="45719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华中科技大学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Huazhong </a:t>
                </a:r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University of</a:t>
                </a:r>
                <a:endParaRPr lang="en-US" altLang="zh-CN" sz="14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 Science and  Technology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17" name="KSO_Shape"/>
            <p:cNvSpPr/>
            <p:nvPr/>
          </p:nvSpPr>
          <p:spPr bwMode="auto">
            <a:xfrm>
              <a:off x="11426825" y="101587"/>
              <a:ext cx="420688" cy="646112"/>
            </a:xfrm>
            <a:custGeom>
              <a:avLst/>
              <a:gdLst>
                <a:gd name="connsiteX0" fmla="*/ 682214 w 1399652"/>
                <a:gd name="connsiteY0" fmla="*/ 622044 h 1669396"/>
                <a:gd name="connsiteX1" fmla="*/ 728400 w 1399652"/>
                <a:gd name="connsiteY1" fmla="*/ 622044 h 1669396"/>
                <a:gd name="connsiteX2" fmla="*/ 728400 w 1399652"/>
                <a:gd name="connsiteY2" fmla="*/ 1069491 h 1669396"/>
                <a:gd name="connsiteX3" fmla="*/ 682214 w 1399652"/>
                <a:gd name="connsiteY3" fmla="*/ 1069491 h 1669396"/>
                <a:gd name="connsiteX4" fmla="*/ 682214 w 1399652"/>
                <a:gd name="connsiteY4" fmla="*/ 868862 h 1669396"/>
                <a:gd name="connsiteX5" fmla="*/ 0 w 1399652"/>
                <a:gd name="connsiteY5" fmla="*/ 868862 h 1669396"/>
                <a:gd name="connsiteX6" fmla="*/ 0 w 1399652"/>
                <a:gd name="connsiteY6" fmla="*/ 822676 h 1669396"/>
                <a:gd name="connsiteX7" fmla="*/ 682214 w 1399652"/>
                <a:gd name="connsiteY7" fmla="*/ 822676 h 1669396"/>
                <a:gd name="connsiteX8" fmla="*/ 1353466 w 1399652"/>
                <a:gd name="connsiteY8" fmla="*/ 0 h 1669396"/>
                <a:gd name="connsiteX9" fmla="*/ 1399652 w 1399652"/>
                <a:gd name="connsiteY9" fmla="*/ 0 h 1669396"/>
                <a:gd name="connsiteX10" fmla="*/ 1399652 w 1399652"/>
                <a:gd name="connsiteY10" fmla="*/ 650823 h 1669396"/>
                <a:gd name="connsiteX11" fmla="*/ 1399652 w 1399652"/>
                <a:gd name="connsiteY11" fmla="*/ 650832 h 1669396"/>
                <a:gd name="connsiteX12" fmla="*/ 1399652 w 1399652"/>
                <a:gd name="connsiteY12" fmla="*/ 697009 h 1669396"/>
                <a:gd name="connsiteX13" fmla="*/ 869253 w 1399652"/>
                <a:gd name="connsiteY13" fmla="*/ 697009 h 1669396"/>
                <a:gd name="connsiteX14" fmla="*/ 869253 w 1399652"/>
                <a:gd name="connsiteY14" fmla="*/ 995295 h 1669396"/>
                <a:gd name="connsiteX15" fmla="*/ 1227733 w 1399652"/>
                <a:gd name="connsiteY15" fmla="*/ 995295 h 1669396"/>
                <a:gd name="connsiteX16" fmla="*/ 1168719 w 1399652"/>
                <a:gd name="connsiteY16" fmla="*/ 919117 h 1669396"/>
                <a:gd name="connsiteX17" fmla="*/ 1168719 w 1399652"/>
                <a:gd name="connsiteY17" fmla="*/ 917509 h 1669396"/>
                <a:gd name="connsiteX18" fmla="*/ 1399652 w 1399652"/>
                <a:gd name="connsiteY18" fmla="*/ 1018388 h 1669396"/>
                <a:gd name="connsiteX19" fmla="*/ 1399250 w 1399652"/>
                <a:gd name="connsiteY19" fmla="*/ 1018564 h 1669396"/>
                <a:gd name="connsiteX20" fmla="*/ 1399652 w 1399652"/>
                <a:gd name="connsiteY20" fmla="*/ 1018564 h 1669396"/>
                <a:gd name="connsiteX21" fmla="*/ 1399652 w 1399652"/>
                <a:gd name="connsiteY21" fmla="*/ 1669396 h 1669396"/>
                <a:gd name="connsiteX22" fmla="*/ 1353466 w 1399652"/>
                <a:gd name="connsiteY22" fmla="*/ 1669396 h 1669396"/>
                <a:gd name="connsiteX23" fmla="*/ 1353466 w 1399652"/>
                <a:gd name="connsiteY23" fmla="*/ 1038564 h 1669396"/>
                <a:gd name="connsiteX24" fmla="*/ 1168719 w 1399652"/>
                <a:gd name="connsiteY24" fmla="*/ 1119268 h 1669396"/>
                <a:gd name="connsiteX25" fmla="*/ 1168719 w 1399652"/>
                <a:gd name="connsiteY25" fmla="*/ 1117661 h 1669396"/>
                <a:gd name="connsiteX26" fmla="*/ 1227733 w 1399652"/>
                <a:gd name="connsiteY26" fmla="*/ 1041482 h 1669396"/>
                <a:gd name="connsiteX27" fmla="*/ 869253 w 1399652"/>
                <a:gd name="connsiteY27" fmla="*/ 1041482 h 1669396"/>
                <a:gd name="connsiteX28" fmla="*/ 869253 w 1399652"/>
                <a:gd name="connsiteY28" fmla="*/ 1122886 h 1669396"/>
                <a:gd name="connsiteX29" fmla="*/ 823067 w 1399652"/>
                <a:gd name="connsiteY29" fmla="*/ 1122886 h 1669396"/>
                <a:gd name="connsiteX30" fmla="*/ 823067 w 1399652"/>
                <a:gd name="connsiteY30" fmla="*/ 568650 h 1669396"/>
                <a:gd name="connsiteX31" fmla="*/ 869253 w 1399652"/>
                <a:gd name="connsiteY31" fmla="*/ 568650 h 1669396"/>
                <a:gd name="connsiteX32" fmla="*/ 869253 w 1399652"/>
                <a:gd name="connsiteY32" fmla="*/ 650823 h 1669396"/>
                <a:gd name="connsiteX33" fmla="*/ 1353466 w 1399652"/>
                <a:gd name="connsiteY33" fmla="*/ 650823 h 166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9652" h="1669396">
                  <a:moveTo>
                    <a:pt x="682214" y="622044"/>
                  </a:moveTo>
                  <a:lnTo>
                    <a:pt x="728400" y="622044"/>
                  </a:lnTo>
                  <a:lnTo>
                    <a:pt x="728400" y="1069491"/>
                  </a:lnTo>
                  <a:lnTo>
                    <a:pt x="682214" y="1069491"/>
                  </a:lnTo>
                  <a:lnTo>
                    <a:pt x="682214" y="868862"/>
                  </a:lnTo>
                  <a:lnTo>
                    <a:pt x="0" y="868862"/>
                  </a:lnTo>
                  <a:lnTo>
                    <a:pt x="0" y="822676"/>
                  </a:lnTo>
                  <a:lnTo>
                    <a:pt x="682214" y="822676"/>
                  </a:lnTo>
                  <a:close/>
                  <a:moveTo>
                    <a:pt x="1353466" y="0"/>
                  </a:moveTo>
                  <a:lnTo>
                    <a:pt x="1399652" y="0"/>
                  </a:lnTo>
                  <a:lnTo>
                    <a:pt x="1399652" y="650823"/>
                  </a:lnTo>
                  <a:lnTo>
                    <a:pt x="1399652" y="650832"/>
                  </a:lnTo>
                  <a:lnTo>
                    <a:pt x="1399652" y="697009"/>
                  </a:lnTo>
                  <a:lnTo>
                    <a:pt x="869253" y="697009"/>
                  </a:lnTo>
                  <a:lnTo>
                    <a:pt x="869253" y="995295"/>
                  </a:lnTo>
                  <a:lnTo>
                    <a:pt x="1227733" y="995295"/>
                  </a:lnTo>
                  <a:lnTo>
                    <a:pt x="1168719" y="919117"/>
                  </a:lnTo>
                  <a:lnTo>
                    <a:pt x="1168719" y="917509"/>
                  </a:lnTo>
                  <a:lnTo>
                    <a:pt x="1399652" y="1018388"/>
                  </a:lnTo>
                  <a:lnTo>
                    <a:pt x="1399250" y="1018564"/>
                  </a:lnTo>
                  <a:lnTo>
                    <a:pt x="1399652" y="1018564"/>
                  </a:lnTo>
                  <a:lnTo>
                    <a:pt x="1399652" y="1669396"/>
                  </a:lnTo>
                  <a:lnTo>
                    <a:pt x="1353466" y="1669396"/>
                  </a:lnTo>
                  <a:lnTo>
                    <a:pt x="1353466" y="1038564"/>
                  </a:lnTo>
                  <a:lnTo>
                    <a:pt x="1168719" y="1119268"/>
                  </a:lnTo>
                  <a:lnTo>
                    <a:pt x="1168719" y="1117661"/>
                  </a:lnTo>
                  <a:lnTo>
                    <a:pt x="1227733" y="1041482"/>
                  </a:lnTo>
                  <a:lnTo>
                    <a:pt x="869253" y="1041482"/>
                  </a:lnTo>
                  <a:lnTo>
                    <a:pt x="869253" y="1122886"/>
                  </a:lnTo>
                  <a:lnTo>
                    <a:pt x="823067" y="1122886"/>
                  </a:lnTo>
                  <a:lnTo>
                    <a:pt x="823067" y="568650"/>
                  </a:lnTo>
                  <a:lnTo>
                    <a:pt x="869253" y="568650"/>
                  </a:lnTo>
                  <a:lnTo>
                    <a:pt x="869253" y="650823"/>
                  </a:lnTo>
                  <a:lnTo>
                    <a:pt x="1353466" y="650823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3" name="矩形 26"/>
          <p:cNvSpPr/>
          <p:nvPr/>
        </p:nvSpPr>
        <p:spPr>
          <a:xfrm>
            <a:off x="187960" y="904240"/>
            <a:ext cx="4824730" cy="23666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复用存储策略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lvl="2" indent="-342900" algn="just">
              <a:lnSpc>
                <a:spcPct val="150000"/>
              </a:lnSpc>
              <a:buFont typeface="Wingdings" panose="05000000000000000000" pitchFamily="2" charset="2"/>
              <a:buChar char="p"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r>
              <a:rPr 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E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与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E'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与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B'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lvl="2" indent="-342900" algn="just">
              <a:lnSpc>
                <a:spcPct val="150000"/>
              </a:lnSpc>
              <a:buFont typeface="Wingdings" panose="05000000000000000000" pitchFamily="2" charset="2"/>
              <a:buChar char="p"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E''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V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M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C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lvl="2" indent="-342900" algn="just">
              <a:lnSpc>
                <a:spcPct val="150000"/>
              </a:lnSpc>
              <a:buFont typeface="Wingdings" panose="05000000000000000000" pitchFamily="2" charset="2"/>
              <a:buChar char="p"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E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''</a:t>
            </a:r>
            <a:r>
              <a:rPr lang="en-US" altLang="zh-CN" b="1" baseline="300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T</a:t>
            </a:r>
            <a:r>
              <a:rPr lang="zh-CN" altLang="en-US" b="1" baseline="-250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b="1" baseline="300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T</a:t>
            </a:r>
            <a:r>
              <a:rPr lang="zh-CN" altLang="en-US" b="1" baseline="-250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C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lvl="2" indent="-342900" algn="just">
              <a:lnSpc>
                <a:spcPct val="150000"/>
              </a:lnSpc>
              <a:buFont typeface="Wingdings" panose="05000000000000000000" pitchFamily="2" charset="2"/>
              <a:buChar char="p"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seed</a:t>
            </a:r>
            <a:r>
              <a:rPr lang="en-US" altLang="zh-CN" b="1" baseline="-250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SE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与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seed</a:t>
            </a:r>
            <a:r>
              <a:rPr lang="en-US" altLang="zh-CN" b="1" baseline="-250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SE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’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571500" lvl="2" indent="0" algn="just">
              <a:lnSpc>
                <a:spcPct val="150000"/>
              </a:lnSpc>
              <a:buFont typeface="Wingdings" panose="05000000000000000000" pitchFamily="2" charset="2"/>
              <a:buNone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文本框 2"/>
          <p:cNvSpPr txBox="1"/>
          <p:nvPr/>
        </p:nvSpPr>
        <p:spPr>
          <a:xfrm>
            <a:off x="554990" y="277495"/>
            <a:ext cx="6944937" cy="520700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创新点</a:t>
            </a: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存储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策略</a:t>
            </a:r>
            <a:endParaRPr lang="zh-CN" altLang="en-US" sz="2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87960" y="5603240"/>
            <a:ext cx="863028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优点：</a:t>
            </a:r>
            <a:endParaRPr lang="zh-CN" altLang="en-US" b="1" dirty="0">
              <a:solidFill>
                <a:schemeClr val="accent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</a:t>
            </a:r>
            <a:r>
              <a:rPr lang="zh-CN" altLang="en-US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复用存储节约了</a:t>
            </a:r>
            <a:r>
              <a:rPr lang="en-US" altLang="zh-CN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RAM</a:t>
            </a:r>
            <a:r>
              <a:rPr lang="zh-CN" altLang="en-US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资源使用，降低了总体资源</a:t>
            </a:r>
            <a:r>
              <a:rPr lang="zh-CN" altLang="en-US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开销</a:t>
            </a:r>
            <a:endParaRPr lang="zh-CN" altLang="en-US" b="1" dirty="0">
              <a:solidFill>
                <a:schemeClr val="accent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索引查表设计配合指令调度利于处理</a:t>
            </a:r>
            <a:r>
              <a:rPr lang="en-US" altLang="zh-CN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Frodo</a:t>
            </a:r>
            <a:r>
              <a:rPr lang="zh-CN" altLang="en-US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中复杂的地址</a:t>
            </a:r>
            <a:r>
              <a:rPr lang="zh-CN" altLang="en-US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跳转</a:t>
            </a:r>
            <a:endParaRPr lang="zh-CN" altLang="en-US" b="1" dirty="0">
              <a:solidFill>
                <a:schemeClr val="accent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7395845" y="904240"/>
          <a:ext cx="4361180" cy="5785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1" imgW="3142615" imgH="4526915" progId="Visio.Drawing.15">
                  <p:embed/>
                </p:oleObj>
              </mc:Choice>
              <mc:Fallback>
                <p:oleObj name="" r:id="rId1" imgW="3142615" imgH="4526915" progId="Visio.Drawing.15">
                  <p:embed/>
                  <p:pic>
                    <p:nvPicPr>
                      <p:cNvPr id="0" name="图片 1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395845" y="904240"/>
                        <a:ext cx="4361180" cy="5785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-292100" y="2970530"/>
            <a:ext cx="702945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71500" lvl="2" indent="0" algn="just">
              <a:lnSpc>
                <a:spcPct val="150000"/>
              </a:lnSpc>
              <a:buFont typeface="Wingdings" panose="05000000000000000000" pitchFamily="2" charset="2"/>
              <a:buNone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+mn-ea"/>
              </a:rPr>
              <a:t>将所需存储大小一致且同属一个运算过程的数据进行覆盖存储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+mn-ea"/>
            </a:endParaRPr>
          </a:p>
        </p:txBody>
      </p:sp>
      <p:sp>
        <p:nvSpPr>
          <p:cNvPr id="31" name="矩形 26"/>
          <p:cNvSpPr/>
          <p:nvPr/>
        </p:nvSpPr>
        <p:spPr>
          <a:xfrm>
            <a:off x="187960" y="3376930"/>
            <a:ext cx="4824730" cy="2366645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索引查表设计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lvl="2" indent="-342900" algn="just">
              <a:lnSpc>
                <a:spcPct val="150000"/>
              </a:lnSpc>
              <a:buFont typeface="Wingdings" panose="05000000000000000000" pitchFamily="2" charset="2"/>
              <a:buChar char="p"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关键数据的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首地址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lvl="2" indent="-342900" algn="just">
              <a:lnSpc>
                <a:spcPct val="150000"/>
              </a:lnSpc>
              <a:buFont typeface="Wingdings" panose="05000000000000000000" pitchFamily="2" charset="2"/>
              <a:buChar char="p"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微指令段首地址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571500" lvl="2" indent="0" algn="just">
              <a:lnSpc>
                <a:spcPct val="150000"/>
              </a:lnSpc>
              <a:buFont typeface="Wingdings" panose="05000000000000000000" pitchFamily="2" charset="2"/>
              <a:buNone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-225425" y="4675505"/>
            <a:ext cx="702945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71500" lvl="2" indent="0" algn="just">
              <a:lnSpc>
                <a:spcPct val="150000"/>
              </a:lnSpc>
              <a:buFont typeface="Wingdings" panose="05000000000000000000" pitchFamily="2" charset="2"/>
              <a:buNone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+mn-ea"/>
              </a:rPr>
              <a:t>配合指令控制方案，实现运算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+mn-ea"/>
              </a:rPr>
              <a:t>调度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53"/>
          <p:cNvSpPr/>
          <p:nvPr/>
        </p:nvSpPr>
        <p:spPr>
          <a:xfrm rot="10800000" flipV="1">
            <a:off x="-6350" y="249238"/>
            <a:ext cx="484188" cy="490537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600" dirty="0"/>
          </a:p>
        </p:txBody>
      </p:sp>
      <p:grpSp>
        <p:nvGrpSpPr>
          <p:cNvPr id="6" name="组合 17"/>
          <p:cNvGrpSpPr/>
          <p:nvPr/>
        </p:nvGrpSpPr>
        <p:grpSpPr>
          <a:xfrm>
            <a:off x="6200869" y="78051"/>
            <a:ext cx="5991131" cy="707884"/>
            <a:chOff x="6200869" y="78051"/>
            <a:chExt cx="5991131" cy="707884"/>
          </a:xfrm>
        </p:grpSpPr>
        <p:grpSp>
          <p:nvGrpSpPr>
            <p:cNvPr id="7" name="组 13"/>
            <p:cNvGrpSpPr/>
            <p:nvPr/>
          </p:nvGrpSpPr>
          <p:grpSpPr>
            <a:xfrm>
              <a:off x="6200869" y="78051"/>
              <a:ext cx="5991131" cy="707884"/>
              <a:chOff x="6201071" y="148098"/>
              <a:chExt cx="5990926" cy="708515"/>
            </a:xfrm>
          </p:grpSpPr>
          <p:grpSp>
            <p:nvGrpSpPr>
              <p:cNvPr id="8" name="组 2"/>
              <p:cNvGrpSpPr/>
              <p:nvPr/>
            </p:nvGrpSpPr>
            <p:grpSpPr>
              <a:xfrm>
                <a:off x="11454105" y="252856"/>
                <a:ext cx="737892" cy="484288"/>
                <a:chOff x="11454105" y="252856"/>
                <a:chExt cx="737892" cy="484288"/>
              </a:xfrm>
            </p:grpSpPr>
            <p:grpSp>
              <p:nvGrpSpPr>
                <p:cNvPr id="9" name="组 1"/>
                <p:cNvGrpSpPr/>
                <p:nvPr/>
              </p:nvGrpSpPr>
              <p:grpSpPr>
                <a:xfrm>
                  <a:off x="12039604" y="252856"/>
                  <a:ext cx="152393" cy="484287"/>
                  <a:chOff x="12039604" y="252856"/>
                  <a:chExt cx="152393" cy="484287"/>
                </a:xfrm>
              </p:grpSpPr>
              <p:sp>
                <p:nvSpPr>
                  <p:cNvPr id="10" name="圆角矩形 79"/>
                  <p:cNvSpPr/>
                  <p:nvPr/>
                </p:nvSpPr>
                <p:spPr>
                  <a:xfrm rot="16200000" flipV="1">
                    <a:off x="12072898" y="518110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1" name="圆角矩形 80"/>
                  <p:cNvSpPr/>
                  <p:nvPr/>
                </p:nvSpPr>
                <p:spPr>
                  <a:xfrm rot="16200000" flipV="1">
                    <a:off x="12072898" y="618211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2" name="圆角矩形 81"/>
                  <p:cNvSpPr/>
                  <p:nvPr/>
                </p:nvSpPr>
                <p:spPr>
                  <a:xfrm rot="16200000" flipV="1">
                    <a:off x="12072898" y="321085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3" name="圆角矩形 82"/>
                  <p:cNvSpPr/>
                  <p:nvPr/>
                </p:nvSpPr>
                <p:spPr>
                  <a:xfrm rot="16200000" flipV="1">
                    <a:off x="12072898" y="421186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" name="圆角矩形 83"/>
                  <p:cNvSpPr/>
                  <p:nvPr/>
                </p:nvSpPr>
                <p:spPr>
                  <a:xfrm rot="16200000" flipV="1">
                    <a:off x="12072898" y="219394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</p:grpSp>
            <p:sp>
              <p:nvSpPr>
                <p:cNvPr id="15" name="圆角矩形 78"/>
                <p:cNvSpPr/>
                <p:nvPr/>
              </p:nvSpPr>
              <p:spPr>
                <a:xfrm rot="16200000" flipV="1">
                  <a:off x="11456787" y="249739"/>
                  <a:ext cx="484617" cy="490520"/>
                </a:xfrm>
                <a:prstGeom prst="roundRect">
                  <a:avLst>
                    <a:gd name="adj" fmla="val 5039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6" name="文本框 76"/>
              <p:cNvSpPr txBox="1">
                <a:spLocks noChangeArrowheads="1"/>
              </p:cNvSpPr>
              <p:nvPr/>
            </p:nvSpPr>
            <p:spPr bwMode="auto">
              <a:xfrm>
                <a:off x="6201071" y="148098"/>
                <a:ext cx="5239271" cy="708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38" tIns="45719" rIns="91438" bIns="45719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华中科技大学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Huazhong </a:t>
                </a:r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University of</a:t>
                </a:r>
                <a:endParaRPr lang="en-US" altLang="zh-CN" sz="14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 Science and  Technology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17" name="KSO_Shape"/>
            <p:cNvSpPr/>
            <p:nvPr/>
          </p:nvSpPr>
          <p:spPr bwMode="auto">
            <a:xfrm>
              <a:off x="11426825" y="101587"/>
              <a:ext cx="420688" cy="646112"/>
            </a:xfrm>
            <a:custGeom>
              <a:avLst/>
              <a:gdLst>
                <a:gd name="connsiteX0" fmla="*/ 682214 w 1399652"/>
                <a:gd name="connsiteY0" fmla="*/ 622044 h 1669396"/>
                <a:gd name="connsiteX1" fmla="*/ 728400 w 1399652"/>
                <a:gd name="connsiteY1" fmla="*/ 622044 h 1669396"/>
                <a:gd name="connsiteX2" fmla="*/ 728400 w 1399652"/>
                <a:gd name="connsiteY2" fmla="*/ 1069491 h 1669396"/>
                <a:gd name="connsiteX3" fmla="*/ 682214 w 1399652"/>
                <a:gd name="connsiteY3" fmla="*/ 1069491 h 1669396"/>
                <a:gd name="connsiteX4" fmla="*/ 682214 w 1399652"/>
                <a:gd name="connsiteY4" fmla="*/ 868862 h 1669396"/>
                <a:gd name="connsiteX5" fmla="*/ 0 w 1399652"/>
                <a:gd name="connsiteY5" fmla="*/ 868862 h 1669396"/>
                <a:gd name="connsiteX6" fmla="*/ 0 w 1399652"/>
                <a:gd name="connsiteY6" fmla="*/ 822676 h 1669396"/>
                <a:gd name="connsiteX7" fmla="*/ 682214 w 1399652"/>
                <a:gd name="connsiteY7" fmla="*/ 822676 h 1669396"/>
                <a:gd name="connsiteX8" fmla="*/ 1353466 w 1399652"/>
                <a:gd name="connsiteY8" fmla="*/ 0 h 1669396"/>
                <a:gd name="connsiteX9" fmla="*/ 1399652 w 1399652"/>
                <a:gd name="connsiteY9" fmla="*/ 0 h 1669396"/>
                <a:gd name="connsiteX10" fmla="*/ 1399652 w 1399652"/>
                <a:gd name="connsiteY10" fmla="*/ 650823 h 1669396"/>
                <a:gd name="connsiteX11" fmla="*/ 1399652 w 1399652"/>
                <a:gd name="connsiteY11" fmla="*/ 650832 h 1669396"/>
                <a:gd name="connsiteX12" fmla="*/ 1399652 w 1399652"/>
                <a:gd name="connsiteY12" fmla="*/ 697009 h 1669396"/>
                <a:gd name="connsiteX13" fmla="*/ 869253 w 1399652"/>
                <a:gd name="connsiteY13" fmla="*/ 697009 h 1669396"/>
                <a:gd name="connsiteX14" fmla="*/ 869253 w 1399652"/>
                <a:gd name="connsiteY14" fmla="*/ 995295 h 1669396"/>
                <a:gd name="connsiteX15" fmla="*/ 1227733 w 1399652"/>
                <a:gd name="connsiteY15" fmla="*/ 995295 h 1669396"/>
                <a:gd name="connsiteX16" fmla="*/ 1168719 w 1399652"/>
                <a:gd name="connsiteY16" fmla="*/ 919117 h 1669396"/>
                <a:gd name="connsiteX17" fmla="*/ 1168719 w 1399652"/>
                <a:gd name="connsiteY17" fmla="*/ 917509 h 1669396"/>
                <a:gd name="connsiteX18" fmla="*/ 1399652 w 1399652"/>
                <a:gd name="connsiteY18" fmla="*/ 1018388 h 1669396"/>
                <a:gd name="connsiteX19" fmla="*/ 1399250 w 1399652"/>
                <a:gd name="connsiteY19" fmla="*/ 1018564 h 1669396"/>
                <a:gd name="connsiteX20" fmla="*/ 1399652 w 1399652"/>
                <a:gd name="connsiteY20" fmla="*/ 1018564 h 1669396"/>
                <a:gd name="connsiteX21" fmla="*/ 1399652 w 1399652"/>
                <a:gd name="connsiteY21" fmla="*/ 1669396 h 1669396"/>
                <a:gd name="connsiteX22" fmla="*/ 1353466 w 1399652"/>
                <a:gd name="connsiteY22" fmla="*/ 1669396 h 1669396"/>
                <a:gd name="connsiteX23" fmla="*/ 1353466 w 1399652"/>
                <a:gd name="connsiteY23" fmla="*/ 1038564 h 1669396"/>
                <a:gd name="connsiteX24" fmla="*/ 1168719 w 1399652"/>
                <a:gd name="connsiteY24" fmla="*/ 1119268 h 1669396"/>
                <a:gd name="connsiteX25" fmla="*/ 1168719 w 1399652"/>
                <a:gd name="connsiteY25" fmla="*/ 1117661 h 1669396"/>
                <a:gd name="connsiteX26" fmla="*/ 1227733 w 1399652"/>
                <a:gd name="connsiteY26" fmla="*/ 1041482 h 1669396"/>
                <a:gd name="connsiteX27" fmla="*/ 869253 w 1399652"/>
                <a:gd name="connsiteY27" fmla="*/ 1041482 h 1669396"/>
                <a:gd name="connsiteX28" fmla="*/ 869253 w 1399652"/>
                <a:gd name="connsiteY28" fmla="*/ 1122886 h 1669396"/>
                <a:gd name="connsiteX29" fmla="*/ 823067 w 1399652"/>
                <a:gd name="connsiteY29" fmla="*/ 1122886 h 1669396"/>
                <a:gd name="connsiteX30" fmla="*/ 823067 w 1399652"/>
                <a:gd name="connsiteY30" fmla="*/ 568650 h 1669396"/>
                <a:gd name="connsiteX31" fmla="*/ 869253 w 1399652"/>
                <a:gd name="connsiteY31" fmla="*/ 568650 h 1669396"/>
                <a:gd name="connsiteX32" fmla="*/ 869253 w 1399652"/>
                <a:gd name="connsiteY32" fmla="*/ 650823 h 1669396"/>
                <a:gd name="connsiteX33" fmla="*/ 1353466 w 1399652"/>
                <a:gd name="connsiteY33" fmla="*/ 650823 h 166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9652" h="1669396">
                  <a:moveTo>
                    <a:pt x="682214" y="622044"/>
                  </a:moveTo>
                  <a:lnTo>
                    <a:pt x="728400" y="622044"/>
                  </a:lnTo>
                  <a:lnTo>
                    <a:pt x="728400" y="1069491"/>
                  </a:lnTo>
                  <a:lnTo>
                    <a:pt x="682214" y="1069491"/>
                  </a:lnTo>
                  <a:lnTo>
                    <a:pt x="682214" y="868862"/>
                  </a:lnTo>
                  <a:lnTo>
                    <a:pt x="0" y="868862"/>
                  </a:lnTo>
                  <a:lnTo>
                    <a:pt x="0" y="822676"/>
                  </a:lnTo>
                  <a:lnTo>
                    <a:pt x="682214" y="822676"/>
                  </a:lnTo>
                  <a:close/>
                  <a:moveTo>
                    <a:pt x="1353466" y="0"/>
                  </a:moveTo>
                  <a:lnTo>
                    <a:pt x="1399652" y="0"/>
                  </a:lnTo>
                  <a:lnTo>
                    <a:pt x="1399652" y="650823"/>
                  </a:lnTo>
                  <a:lnTo>
                    <a:pt x="1399652" y="650832"/>
                  </a:lnTo>
                  <a:lnTo>
                    <a:pt x="1399652" y="697009"/>
                  </a:lnTo>
                  <a:lnTo>
                    <a:pt x="869253" y="697009"/>
                  </a:lnTo>
                  <a:lnTo>
                    <a:pt x="869253" y="995295"/>
                  </a:lnTo>
                  <a:lnTo>
                    <a:pt x="1227733" y="995295"/>
                  </a:lnTo>
                  <a:lnTo>
                    <a:pt x="1168719" y="919117"/>
                  </a:lnTo>
                  <a:lnTo>
                    <a:pt x="1168719" y="917509"/>
                  </a:lnTo>
                  <a:lnTo>
                    <a:pt x="1399652" y="1018388"/>
                  </a:lnTo>
                  <a:lnTo>
                    <a:pt x="1399250" y="1018564"/>
                  </a:lnTo>
                  <a:lnTo>
                    <a:pt x="1399652" y="1018564"/>
                  </a:lnTo>
                  <a:lnTo>
                    <a:pt x="1399652" y="1669396"/>
                  </a:lnTo>
                  <a:lnTo>
                    <a:pt x="1353466" y="1669396"/>
                  </a:lnTo>
                  <a:lnTo>
                    <a:pt x="1353466" y="1038564"/>
                  </a:lnTo>
                  <a:lnTo>
                    <a:pt x="1168719" y="1119268"/>
                  </a:lnTo>
                  <a:lnTo>
                    <a:pt x="1168719" y="1117661"/>
                  </a:lnTo>
                  <a:lnTo>
                    <a:pt x="1227733" y="1041482"/>
                  </a:lnTo>
                  <a:lnTo>
                    <a:pt x="869253" y="1041482"/>
                  </a:lnTo>
                  <a:lnTo>
                    <a:pt x="869253" y="1122886"/>
                  </a:lnTo>
                  <a:lnTo>
                    <a:pt x="823067" y="1122886"/>
                  </a:lnTo>
                  <a:lnTo>
                    <a:pt x="823067" y="568650"/>
                  </a:lnTo>
                  <a:lnTo>
                    <a:pt x="869253" y="568650"/>
                  </a:lnTo>
                  <a:lnTo>
                    <a:pt x="869253" y="650823"/>
                  </a:lnTo>
                  <a:lnTo>
                    <a:pt x="1353466" y="650823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</p:grpSp>
      <p:graphicFrame>
        <p:nvGraphicFramePr>
          <p:cNvPr id="21" name="对象 20"/>
          <p:cNvGraphicFramePr/>
          <p:nvPr/>
        </p:nvGraphicFramePr>
        <p:xfrm>
          <a:off x="7012623" y="929005"/>
          <a:ext cx="5133340" cy="5509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4340225" imgH="4391660" progId="Visio.Drawing.15">
                  <p:embed/>
                </p:oleObj>
              </mc:Choice>
              <mc:Fallback>
                <p:oleObj name="" r:id="rId1" imgW="4340225" imgH="4391660" progId="Visio.Drawing.15">
                  <p:embed/>
                  <p:pic>
                    <p:nvPicPr>
                      <p:cNvPr id="0" name="图片 2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12623" y="929005"/>
                        <a:ext cx="5133340" cy="55092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6"/>
          <p:cNvSpPr/>
          <p:nvPr/>
        </p:nvSpPr>
        <p:spPr>
          <a:xfrm>
            <a:off x="187960" y="1013460"/>
            <a:ext cx="4824730" cy="23666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采用循环折叠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(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切片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Slice)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的方法设计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Hash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减少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Keccak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运算所需的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LUT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资源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lvl="2" indent="-342900" algn="just">
              <a:lnSpc>
                <a:spcPct val="150000"/>
              </a:lnSpc>
              <a:buFont typeface="Wingdings" panose="05000000000000000000" pitchFamily="2" charset="2"/>
              <a:buChar char="p"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Slice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为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Keccak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运算基本单位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lvl="2" indent="-342900" algn="just">
              <a:lnSpc>
                <a:spcPct val="150000"/>
              </a:lnSpc>
              <a:buFont typeface="Wingdings" panose="05000000000000000000" pitchFamily="2" charset="2"/>
              <a:buChar char="p"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一轮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Keccak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处理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200bit(8slice)</a:t>
            </a:r>
            <a:endParaRPr lang="en-US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/>
            </a:endParaRPr>
          </a:p>
          <a:p>
            <a:pPr lvl="2" indent="-342900" algn="just">
              <a:lnSpc>
                <a:spcPct val="150000"/>
              </a:lnSpc>
              <a:buFont typeface="Wingdings" panose="05000000000000000000" pitchFamily="2" charset="2"/>
              <a:buChar char="p"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重排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Keccak24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轮运算子步骤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lvl="2" indent="-342900" algn="just">
              <a:lnSpc>
                <a:spcPct val="150000"/>
              </a:lnSpc>
              <a:buFont typeface="Wingdings" panose="05000000000000000000" pitchFamily="2" charset="2"/>
              <a:buChar char="p"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设计分布式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RAM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集群与读写控制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lvl="2" indent="-342900" algn="just">
              <a:lnSpc>
                <a:spcPct val="150000"/>
              </a:lnSpc>
              <a:buFont typeface="Wingdings" panose="05000000000000000000" pitchFamily="2" charset="2"/>
              <a:buChar char="p"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55" y="3994785"/>
            <a:ext cx="4128770" cy="993140"/>
          </a:xfrm>
          <a:prstGeom prst="rect">
            <a:avLst/>
          </a:prstGeom>
        </p:spPr>
      </p:pic>
      <p:sp>
        <p:nvSpPr>
          <p:cNvPr id="27" name="右大括号 26"/>
          <p:cNvSpPr/>
          <p:nvPr/>
        </p:nvSpPr>
        <p:spPr>
          <a:xfrm>
            <a:off x="4518025" y="2451735"/>
            <a:ext cx="226695" cy="57658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右大括号 27"/>
          <p:cNvSpPr/>
          <p:nvPr/>
        </p:nvSpPr>
        <p:spPr>
          <a:xfrm>
            <a:off x="4518025" y="3364865"/>
            <a:ext cx="226695" cy="57658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4965700" y="2572385"/>
            <a:ext cx="14757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实现循环折叠</a:t>
            </a:r>
            <a:endParaRPr lang="zh-CN" altLang="en-US" sz="16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965700" y="3476625"/>
            <a:ext cx="20281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解决数据依赖性问题</a:t>
            </a:r>
            <a:endParaRPr lang="zh-CN" altLang="en-US" sz="16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0190" y="5041265"/>
            <a:ext cx="609600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插入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Buffer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，配合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Hash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的控制，规范输出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文本框 2"/>
          <p:cNvSpPr txBox="1"/>
          <p:nvPr/>
        </p:nvSpPr>
        <p:spPr>
          <a:xfrm>
            <a:off x="554990" y="277495"/>
            <a:ext cx="6944937" cy="520700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创新点</a:t>
            </a: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折叠</a:t>
            </a: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Hash</a:t>
            </a:r>
            <a:endParaRPr lang="zh-CN" altLang="en-US" sz="2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87960" y="5603240"/>
            <a:ext cx="863028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优点：</a:t>
            </a:r>
            <a:endParaRPr lang="zh-CN" altLang="en-US" b="1" dirty="0">
              <a:solidFill>
                <a:schemeClr val="accent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</a:t>
            </a:r>
            <a:r>
              <a:rPr lang="zh-CN" altLang="en-US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使</a:t>
            </a:r>
            <a:r>
              <a:rPr lang="en-US" altLang="zh-CN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Hash</a:t>
            </a:r>
            <a:r>
              <a:rPr lang="zh-CN" altLang="en-US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运算降速，解决</a:t>
            </a:r>
            <a:r>
              <a:rPr lang="en-US" altLang="zh-CN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Hash</a:t>
            </a:r>
            <a:r>
              <a:rPr lang="zh-CN" altLang="en-US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速率大于矩阵运算处理的</a:t>
            </a:r>
            <a:r>
              <a:rPr lang="zh-CN" altLang="en-US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问题。</a:t>
            </a:r>
            <a:endParaRPr lang="zh-CN" altLang="en-US" b="1" dirty="0">
              <a:solidFill>
                <a:schemeClr val="accent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降低了</a:t>
            </a:r>
            <a:r>
              <a:rPr lang="en-US" altLang="zh-CN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Hash</a:t>
            </a:r>
            <a:r>
              <a:rPr lang="zh-CN" altLang="en-US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模块的资源开销（</a:t>
            </a:r>
            <a:r>
              <a:rPr lang="en-US" altLang="zh-CN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40%</a:t>
            </a:r>
            <a:r>
              <a:rPr lang="zh-CN" altLang="en-US" b="1" dirty="0">
                <a:solidFill>
                  <a:schemeClr val="accent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）。</a:t>
            </a:r>
            <a:endParaRPr lang="zh-CN" altLang="en-US" b="1" dirty="0">
              <a:solidFill>
                <a:schemeClr val="accent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53"/>
          <p:cNvSpPr/>
          <p:nvPr/>
        </p:nvSpPr>
        <p:spPr>
          <a:xfrm rot="10800000" flipV="1">
            <a:off x="-6350" y="249238"/>
            <a:ext cx="484188" cy="490537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dirty="0"/>
              <a:t>3</a:t>
            </a:r>
            <a:endParaRPr lang="en-US" altLang="zh-CN" sz="3600" dirty="0"/>
          </a:p>
        </p:txBody>
      </p:sp>
      <p:sp>
        <p:nvSpPr>
          <p:cNvPr id="5" name="文本框 2"/>
          <p:cNvSpPr txBox="1"/>
          <p:nvPr/>
        </p:nvSpPr>
        <p:spPr>
          <a:xfrm>
            <a:off x="554990" y="277495"/>
            <a:ext cx="6944937" cy="520700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低资源消耗</a:t>
            </a: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Frodo——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性能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列表</a:t>
            </a:r>
            <a:endParaRPr lang="zh-CN" altLang="en-US" sz="2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6" name="组合 17"/>
          <p:cNvGrpSpPr/>
          <p:nvPr/>
        </p:nvGrpSpPr>
        <p:grpSpPr>
          <a:xfrm>
            <a:off x="6200869" y="78051"/>
            <a:ext cx="5991131" cy="707884"/>
            <a:chOff x="6200869" y="78051"/>
            <a:chExt cx="5991131" cy="707884"/>
          </a:xfrm>
        </p:grpSpPr>
        <p:grpSp>
          <p:nvGrpSpPr>
            <p:cNvPr id="7" name="组 13"/>
            <p:cNvGrpSpPr/>
            <p:nvPr/>
          </p:nvGrpSpPr>
          <p:grpSpPr>
            <a:xfrm>
              <a:off x="6200869" y="78051"/>
              <a:ext cx="5991131" cy="707884"/>
              <a:chOff x="6201071" y="148098"/>
              <a:chExt cx="5990926" cy="708515"/>
            </a:xfrm>
          </p:grpSpPr>
          <p:grpSp>
            <p:nvGrpSpPr>
              <p:cNvPr id="8" name="组 2"/>
              <p:cNvGrpSpPr/>
              <p:nvPr/>
            </p:nvGrpSpPr>
            <p:grpSpPr>
              <a:xfrm>
                <a:off x="11454105" y="252856"/>
                <a:ext cx="737892" cy="484288"/>
                <a:chOff x="11454105" y="252856"/>
                <a:chExt cx="737892" cy="484288"/>
              </a:xfrm>
            </p:grpSpPr>
            <p:grpSp>
              <p:nvGrpSpPr>
                <p:cNvPr id="9" name="组 1"/>
                <p:cNvGrpSpPr/>
                <p:nvPr/>
              </p:nvGrpSpPr>
              <p:grpSpPr>
                <a:xfrm>
                  <a:off x="12039604" y="252856"/>
                  <a:ext cx="152393" cy="484287"/>
                  <a:chOff x="12039604" y="252856"/>
                  <a:chExt cx="152393" cy="484287"/>
                </a:xfrm>
              </p:grpSpPr>
              <p:sp>
                <p:nvSpPr>
                  <p:cNvPr id="10" name="圆角矩形 79"/>
                  <p:cNvSpPr/>
                  <p:nvPr/>
                </p:nvSpPr>
                <p:spPr>
                  <a:xfrm rot="16200000" flipV="1">
                    <a:off x="12072898" y="518110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1" name="圆角矩形 80"/>
                  <p:cNvSpPr/>
                  <p:nvPr/>
                </p:nvSpPr>
                <p:spPr>
                  <a:xfrm rot="16200000" flipV="1">
                    <a:off x="12072898" y="618211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2" name="圆角矩形 81"/>
                  <p:cNvSpPr/>
                  <p:nvPr/>
                </p:nvSpPr>
                <p:spPr>
                  <a:xfrm rot="16200000" flipV="1">
                    <a:off x="12072898" y="321085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3" name="圆角矩形 82"/>
                  <p:cNvSpPr/>
                  <p:nvPr/>
                </p:nvSpPr>
                <p:spPr>
                  <a:xfrm rot="16200000" flipV="1">
                    <a:off x="12072898" y="421186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" name="圆角矩形 83"/>
                  <p:cNvSpPr/>
                  <p:nvPr/>
                </p:nvSpPr>
                <p:spPr>
                  <a:xfrm rot="16200000" flipV="1">
                    <a:off x="12072898" y="219394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</p:grpSp>
            <p:sp>
              <p:nvSpPr>
                <p:cNvPr id="15" name="圆角矩形 78"/>
                <p:cNvSpPr/>
                <p:nvPr/>
              </p:nvSpPr>
              <p:spPr>
                <a:xfrm rot="16200000" flipV="1">
                  <a:off x="11456787" y="249739"/>
                  <a:ext cx="484617" cy="490520"/>
                </a:xfrm>
                <a:prstGeom prst="roundRect">
                  <a:avLst>
                    <a:gd name="adj" fmla="val 5039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6" name="文本框 76"/>
              <p:cNvSpPr txBox="1">
                <a:spLocks noChangeArrowheads="1"/>
              </p:cNvSpPr>
              <p:nvPr/>
            </p:nvSpPr>
            <p:spPr bwMode="auto">
              <a:xfrm>
                <a:off x="6201071" y="148098"/>
                <a:ext cx="5239271" cy="708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38" tIns="45719" rIns="91438" bIns="45719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华中科技大学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Huazhong </a:t>
                </a:r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University of</a:t>
                </a:r>
                <a:endParaRPr lang="en-US" altLang="zh-CN" sz="14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 Science and  Technology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17" name="KSO_Shape"/>
            <p:cNvSpPr/>
            <p:nvPr/>
          </p:nvSpPr>
          <p:spPr bwMode="auto">
            <a:xfrm>
              <a:off x="11426825" y="101587"/>
              <a:ext cx="420688" cy="646112"/>
            </a:xfrm>
            <a:custGeom>
              <a:avLst/>
              <a:gdLst>
                <a:gd name="connsiteX0" fmla="*/ 682214 w 1399652"/>
                <a:gd name="connsiteY0" fmla="*/ 622044 h 1669396"/>
                <a:gd name="connsiteX1" fmla="*/ 728400 w 1399652"/>
                <a:gd name="connsiteY1" fmla="*/ 622044 h 1669396"/>
                <a:gd name="connsiteX2" fmla="*/ 728400 w 1399652"/>
                <a:gd name="connsiteY2" fmla="*/ 1069491 h 1669396"/>
                <a:gd name="connsiteX3" fmla="*/ 682214 w 1399652"/>
                <a:gd name="connsiteY3" fmla="*/ 1069491 h 1669396"/>
                <a:gd name="connsiteX4" fmla="*/ 682214 w 1399652"/>
                <a:gd name="connsiteY4" fmla="*/ 868862 h 1669396"/>
                <a:gd name="connsiteX5" fmla="*/ 0 w 1399652"/>
                <a:gd name="connsiteY5" fmla="*/ 868862 h 1669396"/>
                <a:gd name="connsiteX6" fmla="*/ 0 w 1399652"/>
                <a:gd name="connsiteY6" fmla="*/ 822676 h 1669396"/>
                <a:gd name="connsiteX7" fmla="*/ 682214 w 1399652"/>
                <a:gd name="connsiteY7" fmla="*/ 822676 h 1669396"/>
                <a:gd name="connsiteX8" fmla="*/ 1353466 w 1399652"/>
                <a:gd name="connsiteY8" fmla="*/ 0 h 1669396"/>
                <a:gd name="connsiteX9" fmla="*/ 1399652 w 1399652"/>
                <a:gd name="connsiteY9" fmla="*/ 0 h 1669396"/>
                <a:gd name="connsiteX10" fmla="*/ 1399652 w 1399652"/>
                <a:gd name="connsiteY10" fmla="*/ 650823 h 1669396"/>
                <a:gd name="connsiteX11" fmla="*/ 1399652 w 1399652"/>
                <a:gd name="connsiteY11" fmla="*/ 650832 h 1669396"/>
                <a:gd name="connsiteX12" fmla="*/ 1399652 w 1399652"/>
                <a:gd name="connsiteY12" fmla="*/ 697009 h 1669396"/>
                <a:gd name="connsiteX13" fmla="*/ 869253 w 1399652"/>
                <a:gd name="connsiteY13" fmla="*/ 697009 h 1669396"/>
                <a:gd name="connsiteX14" fmla="*/ 869253 w 1399652"/>
                <a:gd name="connsiteY14" fmla="*/ 995295 h 1669396"/>
                <a:gd name="connsiteX15" fmla="*/ 1227733 w 1399652"/>
                <a:gd name="connsiteY15" fmla="*/ 995295 h 1669396"/>
                <a:gd name="connsiteX16" fmla="*/ 1168719 w 1399652"/>
                <a:gd name="connsiteY16" fmla="*/ 919117 h 1669396"/>
                <a:gd name="connsiteX17" fmla="*/ 1168719 w 1399652"/>
                <a:gd name="connsiteY17" fmla="*/ 917509 h 1669396"/>
                <a:gd name="connsiteX18" fmla="*/ 1399652 w 1399652"/>
                <a:gd name="connsiteY18" fmla="*/ 1018388 h 1669396"/>
                <a:gd name="connsiteX19" fmla="*/ 1399250 w 1399652"/>
                <a:gd name="connsiteY19" fmla="*/ 1018564 h 1669396"/>
                <a:gd name="connsiteX20" fmla="*/ 1399652 w 1399652"/>
                <a:gd name="connsiteY20" fmla="*/ 1018564 h 1669396"/>
                <a:gd name="connsiteX21" fmla="*/ 1399652 w 1399652"/>
                <a:gd name="connsiteY21" fmla="*/ 1669396 h 1669396"/>
                <a:gd name="connsiteX22" fmla="*/ 1353466 w 1399652"/>
                <a:gd name="connsiteY22" fmla="*/ 1669396 h 1669396"/>
                <a:gd name="connsiteX23" fmla="*/ 1353466 w 1399652"/>
                <a:gd name="connsiteY23" fmla="*/ 1038564 h 1669396"/>
                <a:gd name="connsiteX24" fmla="*/ 1168719 w 1399652"/>
                <a:gd name="connsiteY24" fmla="*/ 1119268 h 1669396"/>
                <a:gd name="connsiteX25" fmla="*/ 1168719 w 1399652"/>
                <a:gd name="connsiteY25" fmla="*/ 1117661 h 1669396"/>
                <a:gd name="connsiteX26" fmla="*/ 1227733 w 1399652"/>
                <a:gd name="connsiteY26" fmla="*/ 1041482 h 1669396"/>
                <a:gd name="connsiteX27" fmla="*/ 869253 w 1399652"/>
                <a:gd name="connsiteY27" fmla="*/ 1041482 h 1669396"/>
                <a:gd name="connsiteX28" fmla="*/ 869253 w 1399652"/>
                <a:gd name="connsiteY28" fmla="*/ 1122886 h 1669396"/>
                <a:gd name="connsiteX29" fmla="*/ 823067 w 1399652"/>
                <a:gd name="connsiteY29" fmla="*/ 1122886 h 1669396"/>
                <a:gd name="connsiteX30" fmla="*/ 823067 w 1399652"/>
                <a:gd name="connsiteY30" fmla="*/ 568650 h 1669396"/>
                <a:gd name="connsiteX31" fmla="*/ 869253 w 1399652"/>
                <a:gd name="connsiteY31" fmla="*/ 568650 h 1669396"/>
                <a:gd name="connsiteX32" fmla="*/ 869253 w 1399652"/>
                <a:gd name="connsiteY32" fmla="*/ 650823 h 1669396"/>
                <a:gd name="connsiteX33" fmla="*/ 1353466 w 1399652"/>
                <a:gd name="connsiteY33" fmla="*/ 650823 h 166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9652" h="1669396">
                  <a:moveTo>
                    <a:pt x="682214" y="622044"/>
                  </a:moveTo>
                  <a:lnTo>
                    <a:pt x="728400" y="622044"/>
                  </a:lnTo>
                  <a:lnTo>
                    <a:pt x="728400" y="1069491"/>
                  </a:lnTo>
                  <a:lnTo>
                    <a:pt x="682214" y="1069491"/>
                  </a:lnTo>
                  <a:lnTo>
                    <a:pt x="682214" y="868862"/>
                  </a:lnTo>
                  <a:lnTo>
                    <a:pt x="0" y="868862"/>
                  </a:lnTo>
                  <a:lnTo>
                    <a:pt x="0" y="822676"/>
                  </a:lnTo>
                  <a:lnTo>
                    <a:pt x="682214" y="822676"/>
                  </a:lnTo>
                  <a:close/>
                  <a:moveTo>
                    <a:pt x="1353466" y="0"/>
                  </a:moveTo>
                  <a:lnTo>
                    <a:pt x="1399652" y="0"/>
                  </a:lnTo>
                  <a:lnTo>
                    <a:pt x="1399652" y="650823"/>
                  </a:lnTo>
                  <a:lnTo>
                    <a:pt x="1399652" y="650832"/>
                  </a:lnTo>
                  <a:lnTo>
                    <a:pt x="1399652" y="697009"/>
                  </a:lnTo>
                  <a:lnTo>
                    <a:pt x="869253" y="697009"/>
                  </a:lnTo>
                  <a:lnTo>
                    <a:pt x="869253" y="995295"/>
                  </a:lnTo>
                  <a:lnTo>
                    <a:pt x="1227733" y="995295"/>
                  </a:lnTo>
                  <a:lnTo>
                    <a:pt x="1168719" y="919117"/>
                  </a:lnTo>
                  <a:lnTo>
                    <a:pt x="1168719" y="917509"/>
                  </a:lnTo>
                  <a:lnTo>
                    <a:pt x="1399652" y="1018388"/>
                  </a:lnTo>
                  <a:lnTo>
                    <a:pt x="1399250" y="1018564"/>
                  </a:lnTo>
                  <a:lnTo>
                    <a:pt x="1399652" y="1018564"/>
                  </a:lnTo>
                  <a:lnTo>
                    <a:pt x="1399652" y="1669396"/>
                  </a:lnTo>
                  <a:lnTo>
                    <a:pt x="1353466" y="1669396"/>
                  </a:lnTo>
                  <a:lnTo>
                    <a:pt x="1353466" y="1038564"/>
                  </a:lnTo>
                  <a:lnTo>
                    <a:pt x="1168719" y="1119268"/>
                  </a:lnTo>
                  <a:lnTo>
                    <a:pt x="1168719" y="1117661"/>
                  </a:lnTo>
                  <a:lnTo>
                    <a:pt x="1227733" y="1041482"/>
                  </a:lnTo>
                  <a:lnTo>
                    <a:pt x="869253" y="1041482"/>
                  </a:lnTo>
                  <a:lnTo>
                    <a:pt x="869253" y="1122886"/>
                  </a:lnTo>
                  <a:lnTo>
                    <a:pt x="823067" y="1122886"/>
                  </a:lnTo>
                  <a:lnTo>
                    <a:pt x="823067" y="568650"/>
                  </a:lnTo>
                  <a:lnTo>
                    <a:pt x="869253" y="568650"/>
                  </a:lnTo>
                  <a:lnTo>
                    <a:pt x="869253" y="650823"/>
                  </a:lnTo>
                  <a:lnTo>
                    <a:pt x="1353466" y="650823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</p:grpSp>
      <p:graphicFrame>
        <p:nvGraphicFramePr>
          <p:cNvPr id="18" name="表格 17"/>
          <p:cNvGraphicFramePr/>
          <p:nvPr>
            <p:custDataLst>
              <p:tags r:id="rId1"/>
            </p:custDataLst>
          </p:nvPr>
        </p:nvGraphicFramePr>
        <p:xfrm>
          <a:off x="93980" y="995680"/>
          <a:ext cx="6106795" cy="1005840"/>
        </p:xfrm>
        <a:graphic>
          <a:graphicData uri="http://schemas.openxmlformats.org/drawingml/2006/table">
            <a:tbl>
              <a:tblPr firstRow="1" bandRow="1">
                <a:tableStyleId>{D4F53C15-A208-4BC9-BE0D-6754120E5082}</a:tableStyleId>
              </a:tblPr>
              <a:tblGrid>
                <a:gridCol w="1275715"/>
                <a:gridCol w="760095"/>
                <a:gridCol w="1017905"/>
                <a:gridCol w="1017270"/>
                <a:gridCol w="1018540"/>
                <a:gridCol w="1017270"/>
              </a:tblGrid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/>
                        <a:t>资源类别</a:t>
                      </a:r>
                      <a:endParaRPr lang="zh-CN" altLang="en-US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LUT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FF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CLB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BRAM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DSP</a:t>
                      </a:r>
                      <a:endParaRPr lang="en-US" altLang="zh-CN" sz="1600" b="1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+driver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6640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4923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1304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19.5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4</a:t>
                      </a:r>
                      <a:endParaRPr lang="en-US" altLang="zh-CN" sz="1600" b="1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Frodo</a:t>
                      </a:r>
                      <a:r>
                        <a:rPr lang="zh-CN" altLang="en-US" sz="1600" b="1"/>
                        <a:t>本体</a:t>
                      </a:r>
                      <a:endParaRPr lang="zh-CN" altLang="en-US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5144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2530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914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16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4</a:t>
                      </a:r>
                      <a:endParaRPr lang="en-US" altLang="zh-CN" sz="1600" b="1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表格 19"/>
          <p:cNvGraphicFramePr/>
          <p:nvPr>
            <p:custDataLst>
              <p:tags r:id="rId2"/>
            </p:custDataLst>
          </p:nvPr>
        </p:nvGraphicFramePr>
        <p:xfrm>
          <a:off x="93980" y="2145030"/>
          <a:ext cx="6106795" cy="1544955"/>
        </p:xfrm>
        <a:graphic>
          <a:graphicData uri="http://schemas.openxmlformats.org/drawingml/2006/table">
            <a:tbl>
              <a:tblPr firstRow="1" bandRow="1">
                <a:tableStyleId>{D4F53C15-A208-4BC9-BE0D-6754120E5082}</a:tableStyleId>
              </a:tblPr>
              <a:tblGrid>
                <a:gridCol w="1896745"/>
                <a:gridCol w="1277620"/>
                <a:gridCol w="1511300"/>
                <a:gridCol w="1421130"/>
              </a:tblGrid>
              <a:tr h="3257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周期数</a:t>
                      </a:r>
                      <a:endParaRPr lang="zh-CN" altLang="en-US" sz="1600" b="1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K</a:t>
                      </a:r>
                      <a:r>
                        <a:rPr lang="en-US" altLang="zh-CN" sz="1600" b="1"/>
                        <a:t>eygen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Encap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Decap</a:t>
                      </a:r>
                      <a:endParaRPr lang="en-US" altLang="zh-CN" sz="1600" b="1"/>
                    </a:p>
                  </a:txBody>
                  <a:tcPr/>
                </a:tc>
              </a:tr>
              <a:tr h="4032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Frodo-KEM640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2,900,539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2,971,562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2,998,542</a:t>
                      </a:r>
                      <a:endParaRPr lang="en-US" altLang="zh-CN" sz="1600" b="1"/>
                    </a:p>
                  </a:txBody>
                  <a:tcPr/>
                </a:tc>
              </a:tr>
              <a:tr h="4032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ym typeface="+mn-ea"/>
                        </a:rPr>
                        <a:t>Frodo-KEM976</a:t>
                      </a:r>
                      <a:endParaRPr lang="en-US" altLang="zh-CN" sz="1600" b="1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6,606,328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6,719,460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6,789,803</a:t>
                      </a:r>
                      <a:endParaRPr lang="en-US" altLang="zh-CN" sz="1600" b="1"/>
                    </a:p>
                  </a:txBody>
                  <a:tcPr/>
                </a:tc>
              </a:tr>
              <a:tr h="4032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ym typeface="+mn-ea"/>
                        </a:rPr>
                        <a:t>Frodo-KEM1344</a:t>
                      </a:r>
                      <a:endParaRPr lang="en-US" altLang="zh-CN" sz="1600" b="1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12,306,724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12,461,656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12,557,955</a:t>
                      </a:r>
                      <a:endParaRPr lang="en-US" altLang="zh-CN" sz="1600" b="1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表格 20"/>
          <p:cNvGraphicFramePr/>
          <p:nvPr>
            <p:custDataLst>
              <p:tags r:id="rId3"/>
            </p:custDataLst>
          </p:nvPr>
        </p:nvGraphicFramePr>
        <p:xfrm>
          <a:off x="93980" y="3857625"/>
          <a:ext cx="6107430" cy="1473200"/>
        </p:xfrm>
        <a:graphic>
          <a:graphicData uri="http://schemas.openxmlformats.org/drawingml/2006/table">
            <a:tbl>
              <a:tblPr firstRow="1" bandRow="1">
                <a:tableStyleId>{D4F53C15-A208-4BC9-BE0D-6754120E5082}</a:tableStyleId>
              </a:tblPr>
              <a:tblGrid>
                <a:gridCol w="1896110"/>
                <a:gridCol w="1277620"/>
                <a:gridCol w="1512570"/>
                <a:gridCol w="1421130"/>
              </a:tblGrid>
              <a:tr h="346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/>
                        <a:t>运行时间</a:t>
                      </a:r>
                      <a:r>
                        <a:rPr lang="en-US" altLang="zh-CN" sz="1600" b="1"/>
                        <a:t>(100MHZ)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K</a:t>
                      </a:r>
                      <a:r>
                        <a:rPr lang="en-US" altLang="zh-CN" sz="1600" b="1"/>
                        <a:t>eygen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Encap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Decap</a:t>
                      </a:r>
                      <a:endParaRPr lang="en-US" altLang="zh-CN" sz="1600" b="1"/>
                    </a:p>
                  </a:txBody>
                  <a:tcPr/>
                </a:tc>
              </a:tr>
              <a:tr h="3759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Frodo-KEM640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29.01ms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29.71ms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29.99ms</a:t>
                      </a:r>
                      <a:endParaRPr lang="en-US" altLang="zh-CN" sz="1600" b="1"/>
                    </a:p>
                  </a:txBody>
                  <a:tcPr/>
                </a:tc>
              </a:tr>
              <a:tr h="3752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ym typeface="+mn-ea"/>
                        </a:rPr>
                        <a:t>Frodo-KEM976</a:t>
                      </a:r>
                      <a:endParaRPr lang="en-US" altLang="zh-CN" sz="1600" b="1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66.06ms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67.19ms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67.90ms</a:t>
                      </a:r>
                      <a:endParaRPr lang="en-US" altLang="zh-CN" sz="1600" b="1"/>
                    </a:p>
                  </a:txBody>
                  <a:tcPr/>
                </a:tc>
              </a:tr>
              <a:tr h="3752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ym typeface="+mn-ea"/>
                        </a:rPr>
                        <a:t>Frodo-KEM1344</a:t>
                      </a:r>
                      <a:endParaRPr lang="en-US" altLang="zh-CN" sz="1600" b="1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123.07ms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124.61ms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125.58ms</a:t>
                      </a:r>
                      <a:endParaRPr lang="en-US" altLang="zh-CN" sz="1600" b="1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" y="5388610"/>
            <a:ext cx="4236720" cy="129159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文本框 21"/>
          <p:cNvSpPr txBox="1"/>
          <p:nvPr/>
        </p:nvSpPr>
        <p:spPr>
          <a:xfrm>
            <a:off x="3848100" y="5747385"/>
            <a:ext cx="2727960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1"/>
                </a:solidFill>
                <a:latin typeface="Times New Roman" panose="02020603050405020304"/>
                <a:ea typeface="宋体" panose="02010600030101010101" pitchFamily="2" charset="-122"/>
              </a:rPr>
              <a:t>评估等效逻辑门数</a:t>
            </a:r>
            <a:endParaRPr lang="zh-CN" altLang="en-US" sz="1600" b="1">
              <a:solidFill>
                <a:schemeClr val="accent1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</a:rPr>
              <a:t>315,043.49</a:t>
            </a:r>
            <a:endParaRPr lang="en-US" altLang="zh-CN" sz="1600" b="1">
              <a:solidFill>
                <a:schemeClr val="accent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graphicFrame>
        <p:nvGraphicFramePr>
          <p:cNvPr id="23" name="表格 22"/>
          <p:cNvGraphicFramePr/>
          <p:nvPr>
            <p:custDataLst>
              <p:tags r:id="rId5"/>
            </p:custDataLst>
          </p:nvPr>
        </p:nvGraphicFramePr>
        <p:xfrm>
          <a:off x="6576060" y="995680"/>
          <a:ext cx="5368290" cy="1990725"/>
        </p:xfrm>
        <a:graphic>
          <a:graphicData uri="http://schemas.openxmlformats.org/drawingml/2006/table">
            <a:tbl>
              <a:tblPr firstRow="1" bandRow="1">
                <a:tableStyleId>{98FAF532-FB96-451D-AB7E-F02577DD167B}</a:tableStyleId>
              </a:tblPr>
              <a:tblGrid>
                <a:gridCol w="1012825"/>
                <a:gridCol w="981710"/>
                <a:gridCol w="1195705"/>
                <a:gridCol w="1089660"/>
                <a:gridCol w="1088390"/>
              </a:tblGrid>
              <a:tr h="60960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16Mhz</a:t>
                      </a:r>
                      <a:endParaRPr lang="en-US" altLang="zh-CN" sz="1600" b="1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Int Power</a:t>
                      </a:r>
                      <a:endParaRPr lang="en-US" altLang="zh-CN" sz="1600" b="1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Swtich Power</a:t>
                      </a:r>
                      <a:endParaRPr lang="en-US" altLang="zh-CN" sz="1600" b="1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Leak Power</a:t>
                      </a:r>
                      <a:endParaRPr lang="en-US" altLang="zh-CN" sz="1600" b="1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Total Power</a:t>
                      </a:r>
                      <a:endParaRPr lang="en-US" altLang="zh-CN" sz="1600" b="1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</a:tr>
              <a:tr h="38608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ea typeface="+mn-lt"/>
                        </a:rPr>
                        <a:t>总体工程</a:t>
                      </a:r>
                      <a:endParaRPr lang="zh-CN" sz="1600" b="1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1.28e</a:t>
                      </a:r>
                      <a:r>
                        <a:rPr lang="en-US" altLang="zh-CN" sz="1600" b="1" baseline="30000">
                          <a:ea typeface="+mn-lt"/>
                        </a:rPr>
                        <a:t> - 3</a:t>
                      </a:r>
                      <a:endParaRPr lang="en-US" altLang="zh-CN" sz="1600" b="1" baseline="30000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1.38e</a:t>
                      </a:r>
                      <a:r>
                        <a:rPr lang="en-US" altLang="zh-CN" sz="1600" b="1" baseline="30000">
                          <a:ea typeface="+mn-lt"/>
                        </a:rPr>
                        <a:t> - 5</a:t>
                      </a:r>
                      <a:endParaRPr lang="en-US" altLang="zh-CN" sz="1600" b="1" baseline="30000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2.49e</a:t>
                      </a:r>
                      <a:r>
                        <a:rPr lang="en-US" altLang="zh-CN" sz="1600" b="1" baseline="30000">
                          <a:ea typeface="+mn-lt"/>
                        </a:rPr>
                        <a:t> - 2</a:t>
                      </a:r>
                      <a:endParaRPr lang="en-US" altLang="zh-CN" sz="1600" b="1" baseline="30000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2.62e</a:t>
                      </a:r>
                      <a:r>
                        <a:rPr lang="en-US" altLang="zh-CN" sz="1600" b="1" baseline="30000">
                          <a:ea typeface="+mn-lt"/>
                        </a:rPr>
                        <a:t> - 2</a:t>
                      </a:r>
                      <a:endParaRPr lang="en-US" altLang="zh-CN" sz="1600" b="1" baseline="30000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</a:tr>
              <a:tr h="30480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keccak</a:t>
                      </a:r>
                      <a:endParaRPr lang="en-US" altLang="zh-CN" sz="1600" b="1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2.71e</a:t>
                      </a:r>
                      <a:r>
                        <a:rPr lang="en-US" altLang="zh-CN" sz="1600" b="1" baseline="30000">
                          <a:ea typeface="+mn-lt"/>
                        </a:rPr>
                        <a:t> - 4</a:t>
                      </a:r>
                      <a:endParaRPr lang="en-US" altLang="zh-CN" sz="1600" b="1" baseline="30000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7.79e</a:t>
                      </a:r>
                      <a:r>
                        <a:rPr lang="en-US" altLang="zh-CN" sz="1600" b="1" baseline="30000">
                          <a:ea typeface="+mn-lt"/>
                        </a:rPr>
                        <a:t> - 6</a:t>
                      </a:r>
                      <a:endParaRPr lang="en-US" altLang="zh-CN" sz="1600" b="1" baseline="30000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1.76e</a:t>
                      </a:r>
                      <a:r>
                        <a:rPr lang="en-US" altLang="zh-CN" sz="1600" b="1" baseline="30000">
                          <a:ea typeface="+mn-lt"/>
                        </a:rPr>
                        <a:t> - 2</a:t>
                      </a:r>
                      <a:endParaRPr lang="en-US" altLang="zh-CN" sz="1600" b="1" baseline="30000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1.78e</a:t>
                      </a:r>
                      <a:r>
                        <a:rPr lang="en-US" altLang="zh-CN" sz="1600" b="1" baseline="30000">
                          <a:ea typeface="+mn-lt"/>
                        </a:rPr>
                        <a:t> - 2</a:t>
                      </a:r>
                      <a:endParaRPr lang="en-US" altLang="zh-CN" sz="1600" b="1" baseline="30000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</a:tr>
              <a:tr h="30480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Control</a:t>
                      </a:r>
                      <a:endParaRPr lang="en-US" altLang="zh-CN" sz="1600" b="1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8.13e</a:t>
                      </a:r>
                      <a:r>
                        <a:rPr lang="en-US" altLang="zh-CN" sz="1600" b="1" baseline="30000">
                          <a:ea typeface="+mn-lt"/>
                        </a:rPr>
                        <a:t> - 5</a:t>
                      </a:r>
                      <a:endParaRPr lang="en-US" altLang="zh-CN" sz="1600" b="1" baseline="30000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2.16e</a:t>
                      </a:r>
                      <a:r>
                        <a:rPr lang="en-US" altLang="zh-CN" sz="1600" b="1" baseline="30000">
                          <a:ea typeface="+mn-lt"/>
                        </a:rPr>
                        <a:t> - 6</a:t>
                      </a:r>
                      <a:endParaRPr lang="en-US" altLang="zh-CN" sz="1600" b="1" baseline="30000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2.28e</a:t>
                      </a:r>
                      <a:r>
                        <a:rPr lang="en-US" altLang="zh-CN" sz="1600" b="1" baseline="30000">
                          <a:ea typeface="+mn-lt"/>
                        </a:rPr>
                        <a:t> - 3</a:t>
                      </a:r>
                      <a:endParaRPr lang="en-US" altLang="zh-CN" sz="1600" b="1" baseline="30000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2.37e</a:t>
                      </a:r>
                      <a:r>
                        <a:rPr lang="en-US" altLang="zh-CN" sz="1600" b="1" baseline="30000">
                          <a:ea typeface="+mn-lt"/>
                        </a:rPr>
                        <a:t> - 3</a:t>
                      </a:r>
                      <a:endParaRPr lang="en-US" altLang="zh-CN" sz="1600" b="1" baseline="30000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</a:tr>
              <a:tr h="385445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ea typeface="+mn-lt"/>
                        </a:rPr>
                        <a:t>其他模块</a:t>
                      </a:r>
                      <a:endParaRPr lang="zh-CN" sz="1600" b="1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9.28e</a:t>
                      </a:r>
                      <a:r>
                        <a:rPr lang="en-US" altLang="zh-CN" sz="1600" b="1" baseline="30000">
                          <a:ea typeface="+mn-lt"/>
                        </a:rPr>
                        <a:t> - 4</a:t>
                      </a:r>
                      <a:endParaRPr lang="en-US" altLang="zh-CN" sz="1600" b="1" baseline="30000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3.85e</a:t>
                      </a:r>
                      <a:r>
                        <a:rPr lang="en-US" altLang="zh-CN" sz="1600" b="1" baseline="30000">
                          <a:ea typeface="+mn-lt"/>
                        </a:rPr>
                        <a:t> - 6</a:t>
                      </a:r>
                      <a:endParaRPr lang="en-US" altLang="zh-CN" sz="1600" b="1" baseline="30000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5.02e</a:t>
                      </a:r>
                      <a:r>
                        <a:rPr lang="en-US" altLang="zh-CN" sz="1600" b="1" baseline="30000">
                          <a:ea typeface="+mn-lt"/>
                        </a:rPr>
                        <a:t> - 3</a:t>
                      </a:r>
                      <a:endParaRPr lang="en-US" altLang="zh-CN" sz="1600" b="1" baseline="30000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6.03e</a:t>
                      </a:r>
                      <a:r>
                        <a:rPr lang="en-US" altLang="zh-CN" sz="1600" b="1" baseline="30000">
                          <a:ea typeface="+mn-lt"/>
                        </a:rPr>
                        <a:t> - 3</a:t>
                      </a:r>
                      <a:endParaRPr lang="en-US" altLang="zh-CN" sz="1600" b="1" baseline="30000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</a:tr>
            </a:tbl>
          </a:graphicData>
        </a:graphic>
      </p:graphicFrame>
      <p:graphicFrame>
        <p:nvGraphicFramePr>
          <p:cNvPr id="24" name="表格 23"/>
          <p:cNvGraphicFramePr/>
          <p:nvPr>
            <p:custDataLst>
              <p:tags r:id="rId6"/>
            </p:custDataLst>
          </p:nvPr>
        </p:nvGraphicFramePr>
        <p:xfrm>
          <a:off x="6575425" y="3131820"/>
          <a:ext cx="5368925" cy="2157730"/>
        </p:xfrm>
        <a:graphic>
          <a:graphicData uri="http://schemas.openxmlformats.org/drawingml/2006/table">
            <a:tbl>
              <a:tblPr firstRow="1" bandRow="1">
                <a:tableStyleId>{90DF1627-57B2-4AAF-B459-F58B89360DC7}</a:tableStyleId>
              </a:tblPr>
              <a:tblGrid>
                <a:gridCol w="1041400"/>
                <a:gridCol w="953135"/>
                <a:gridCol w="1195705"/>
                <a:gridCol w="1089660"/>
                <a:gridCol w="1089025"/>
              </a:tblGrid>
              <a:tr h="60960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</a:rPr>
                        <a:t>24Mhz</a:t>
                      </a:r>
                      <a:endParaRPr lang="en-US" altLang="zh-CN" sz="1600" b="1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  <a:cs typeface="Times New Roman" panose="02020603050405020304" charset="0"/>
                        </a:rPr>
                        <a:t>Int Power</a:t>
                      </a:r>
                      <a:endParaRPr lang="en-US" altLang="zh-CN" sz="1600" b="1">
                        <a:ea typeface="+mn-lt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  <a:cs typeface="Times New Roman" panose="02020603050405020304" charset="0"/>
                        </a:rPr>
                        <a:t>Swtich Power</a:t>
                      </a:r>
                      <a:endParaRPr lang="en-US" altLang="zh-CN" sz="1600" b="1">
                        <a:ea typeface="+mn-lt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  <a:cs typeface="Times New Roman" panose="02020603050405020304" charset="0"/>
                        </a:rPr>
                        <a:t>Leak Power</a:t>
                      </a:r>
                      <a:endParaRPr lang="en-US" altLang="zh-CN" sz="1600" b="1">
                        <a:ea typeface="+mn-lt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  <a:cs typeface="Times New Roman" panose="02020603050405020304" charset="0"/>
                        </a:rPr>
                        <a:t>Total Power</a:t>
                      </a:r>
                      <a:endParaRPr lang="en-US" altLang="zh-CN" sz="1600" b="1">
                        <a:ea typeface="+mn-lt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/>
                </a:tc>
              </a:tr>
              <a:tr h="469265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ea typeface="+mn-lt"/>
                        </a:rPr>
                        <a:t>总体工程</a:t>
                      </a:r>
                      <a:endParaRPr lang="zh-CN" sz="1600" b="1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  <a:cs typeface="Times New Roman" panose="02020603050405020304" charset="0"/>
                        </a:rPr>
                        <a:t>1.91e</a:t>
                      </a:r>
                      <a:r>
                        <a:rPr lang="en-US" altLang="zh-CN" sz="1600" b="1" baseline="30000">
                          <a:ea typeface="+mn-lt"/>
                          <a:cs typeface="Times New Roman" panose="02020603050405020304" charset="0"/>
                        </a:rPr>
                        <a:t> - 3</a:t>
                      </a:r>
                      <a:endParaRPr lang="en-US" altLang="zh-CN" sz="1600" b="1" baseline="30000">
                        <a:ea typeface="+mn-lt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  <a:cs typeface="Times New Roman" panose="02020603050405020304" charset="0"/>
                        </a:rPr>
                        <a:t>2.07e</a:t>
                      </a:r>
                      <a:r>
                        <a:rPr lang="en-US" altLang="zh-CN" sz="1600" b="1" baseline="30000">
                          <a:ea typeface="+mn-lt"/>
                          <a:cs typeface="Times New Roman" panose="02020603050405020304" charset="0"/>
                        </a:rPr>
                        <a:t> - 5</a:t>
                      </a:r>
                      <a:endParaRPr lang="en-US" altLang="zh-CN" sz="1600" b="1" baseline="30000">
                        <a:ea typeface="+mn-lt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  <a:cs typeface="Times New Roman" panose="02020603050405020304" charset="0"/>
                        </a:rPr>
                        <a:t>2.49e</a:t>
                      </a:r>
                      <a:r>
                        <a:rPr lang="en-US" altLang="zh-CN" sz="1600" b="1" baseline="30000">
                          <a:ea typeface="+mn-lt"/>
                          <a:cs typeface="Times New Roman" panose="02020603050405020304" charset="0"/>
                        </a:rPr>
                        <a:t> - 2</a:t>
                      </a:r>
                      <a:endParaRPr lang="en-US" altLang="zh-CN" sz="1600" b="1" baseline="30000">
                        <a:ea typeface="+mn-lt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  <a:cs typeface="Times New Roman" panose="02020603050405020304" charset="0"/>
                        </a:rPr>
                        <a:t>2.68e</a:t>
                      </a:r>
                      <a:r>
                        <a:rPr lang="en-US" altLang="zh-CN" sz="1600" b="1" baseline="30000">
                          <a:ea typeface="+mn-lt"/>
                          <a:cs typeface="Times New Roman" panose="02020603050405020304" charset="0"/>
                        </a:rPr>
                        <a:t> - 2</a:t>
                      </a:r>
                      <a:endParaRPr lang="en-US" altLang="zh-CN" sz="1600" b="1" baseline="30000">
                        <a:ea typeface="+mn-lt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/>
                </a:tc>
              </a:tr>
              <a:tr h="30480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  <a:cs typeface="Times New Roman" panose="02020603050405020304" charset="0"/>
                        </a:rPr>
                        <a:t>keccak</a:t>
                      </a:r>
                      <a:endParaRPr lang="en-US" altLang="zh-CN" sz="1600" b="1">
                        <a:ea typeface="+mn-lt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  <a:cs typeface="Times New Roman" panose="02020603050405020304" charset="0"/>
                        </a:rPr>
                        <a:t>4.07e</a:t>
                      </a:r>
                      <a:r>
                        <a:rPr lang="en-US" altLang="zh-CN" sz="1600" b="1" baseline="30000">
                          <a:ea typeface="+mn-lt"/>
                          <a:cs typeface="Times New Roman" panose="02020603050405020304" charset="0"/>
                        </a:rPr>
                        <a:t> - 4</a:t>
                      </a:r>
                      <a:endParaRPr lang="en-US" altLang="zh-CN" sz="1600" b="1" baseline="30000">
                        <a:ea typeface="+mn-lt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  <a:cs typeface="Times New Roman" panose="02020603050405020304" charset="0"/>
                        </a:rPr>
                        <a:t>1.17e</a:t>
                      </a:r>
                      <a:r>
                        <a:rPr lang="en-US" altLang="zh-CN" sz="1600" b="1" baseline="30000">
                          <a:ea typeface="+mn-lt"/>
                          <a:cs typeface="Times New Roman" panose="02020603050405020304" charset="0"/>
                        </a:rPr>
                        <a:t> - 5</a:t>
                      </a:r>
                      <a:endParaRPr lang="en-US" altLang="zh-CN" sz="1600" b="1" baseline="30000">
                        <a:ea typeface="+mn-lt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  <a:cs typeface="Times New Roman" panose="02020603050405020304" charset="0"/>
                        </a:rPr>
                        <a:t>1.76e</a:t>
                      </a:r>
                      <a:r>
                        <a:rPr lang="en-US" altLang="zh-CN" sz="1600" b="1" baseline="30000">
                          <a:ea typeface="+mn-lt"/>
                          <a:cs typeface="Times New Roman" panose="02020603050405020304" charset="0"/>
                        </a:rPr>
                        <a:t> - 2</a:t>
                      </a:r>
                      <a:endParaRPr lang="en-US" altLang="zh-CN" sz="1600" b="1" baseline="30000">
                        <a:ea typeface="+mn-lt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  <a:cs typeface="Times New Roman" panose="02020603050405020304" charset="0"/>
                        </a:rPr>
                        <a:t>1.80e</a:t>
                      </a:r>
                      <a:r>
                        <a:rPr lang="en-US" altLang="zh-CN" sz="1600" b="1" baseline="30000">
                          <a:ea typeface="+mn-lt"/>
                          <a:cs typeface="Times New Roman" panose="02020603050405020304" charset="0"/>
                        </a:rPr>
                        <a:t> - 2</a:t>
                      </a:r>
                      <a:endParaRPr lang="en-US" altLang="zh-CN" sz="1600" b="1" baseline="30000">
                        <a:ea typeface="+mn-lt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/>
                </a:tc>
              </a:tr>
              <a:tr h="30480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  <a:cs typeface="Times New Roman" panose="02020603050405020304" charset="0"/>
                        </a:rPr>
                        <a:t>Control</a:t>
                      </a:r>
                      <a:endParaRPr lang="en-US" altLang="zh-CN" sz="1600" b="1">
                        <a:ea typeface="+mn-lt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  <a:cs typeface="Times New Roman" panose="02020603050405020304" charset="0"/>
                        </a:rPr>
                        <a:t>1.22e</a:t>
                      </a:r>
                      <a:r>
                        <a:rPr lang="en-US" altLang="zh-CN" sz="1600" b="1" baseline="30000">
                          <a:ea typeface="+mn-lt"/>
                          <a:cs typeface="Times New Roman" panose="02020603050405020304" charset="0"/>
                        </a:rPr>
                        <a:t> - 4</a:t>
                      </a:r>
                      <a:endParaRPr lang="en-US" altLang="zh-CN" sz="1600" b="1" baseline="30000">
                        <a:ea typeface="+mn-lt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  <a:cs typeface="Times New Roman" panose="02020603050405020304" charset="0"/>
                        </a:rPr>
                        <a:t>3.24e</a:t>
                      </a:r>
                      <a:r>
                        <a:rPr lang="en-US" altLang="zh-CN" sz="1600" b="1" baseline="30000">
                          <a:ea typeface="+mn-lt"/>
                          <a:cs typeface="Times New Roman" panose="02020603050405020304" charset="0"/>
                        </a:rPr>
                        <a:t> - 6</a:t>
                      </a:r>
                      <a:endParaRPr lang="en-US" altLang="zh-CN" sz="1600" b="1" baseline="30000">
                        <a:ea typeface="+mn-lt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  <a:cs typeface="Times New Roman" panose="02020603050405020304" charset="0"/>
                        </a:rPr>
                        <a:t>2.28e</a:t>
                      </a:r>
                      <a:r>
                        <a:rPr lang="en-US" altLang="zh-CN" sz="1600" b="1" baseline="30000">
                          <a:ea typeface="+mn-lt"/>
                          <a:cs typeface="Times New Roman" panose="02020603050405020304" charset="0"/>
                        </a:rPr>
                        <a:t> - 3</a:t>
                      </a:r>
                      <a:endParaRPr lang="en-US" altLang="zh-CN" sz="1600" b="1" baseline="30000">
                        <a:ea typeface="+mn-lt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  <a:cs typeface="Times New Roman" panose="02020603050405020304" charset="0"/>
                        </a:rPr>
                        <a:t>2.41e</a:t>
                      </a:r>
                      <a:r>
                        <a:rPr lang="en-US" altLang="zh-CN" sz="1600" b="1" baseline="30000">
                          <a:ea typeface="+mn-lt"/>
                          <a:cs typeface="Times New Roman" panose="02020603050405020304" charset="0"/>
                        </a:rPr>
                        <a:t> - 3</a:t>
                      </a:r>
                      <a:endParaRPr lang="en-US" altLang="zh-CN" sz="1600" b="1" baseline="30000">
                        <a:ea typeface="+mn-lt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/>
                </a:tc>
              </a:tr>
              <a:tr h="469265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ea typeface="+mn-lt"/>
                        </a:rPr>
                        <a:t>其他模块</a:t>
                      </a:r>
                      <a:endParaRPr lang="zh-CN" sz="1600" b="1">
                        <a:ea typeface="+mn-lt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  <a:cs typeface="Times New Roman" panose="02020603050405020304" charset="0"/>
                        </a:rPr>
                        <a:t>1.38e</a:t>
                      </a:r>
                      <a:r>
                        <a:rPr lang="en-US" altLang="zh-CN" sz="1600" b="1" baseline="30000">
                          <a:ea typeface="+mn-lt"/>
                          <a:cs typeface="Times New Roman" panose="02020603050405020304" charset="0"/>
                        </a:rPr>
                        <a:t> -3</a:t>
                      </a:r>
                      <a:endParaRPr lang="en-US" altLang="zh-CN" sz="1600" b="1" baseline="30000">
                        <a:ea typeface="+mn-lt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  <a:cs typeface="Times New Roman" panose="02020603050405020304" charset="0"/>
                        </a:rPr>
                        <a:t>5.76e</a:t>
                      </a:r>
                      <a:r>
                        <a:rPr lang="en-US" altLang="zh-CN" sz="1600" b="1" baseline="30000">
                          <a:ea typeface="+mn-lt"/>
                          <a:cs typeface="Times New Roman" panose="02020603050405020304" charset="0"/>
                        </a:rPr>
                        <a:t> - 6</a:t>
                      </a:r>
                      <a:endParaRPr lang="en-US" altLang="zh-CN" sz="1600" b="1" baseline="30000">
                        <a:ea typeface="+mn-lt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  <a:cs typeface="Times New Roman" panose="02020603050405020304" charset="0"/>
                        </a:rPr>
                        <a:t>5.02e</a:t>
                      </a:r>
                      <a:r>
                        <a:rPr lang="en-US" altLang="zh-CN" sz="1600" b="1" baseline="30000">
                          <a:ea typeface="+mn-lt"/>
                          <a:cs typeface="Times New Roman" panose="02020603050405020304" charset="0"/>
                        </a:rPr>
                        <a:t> - 3</a:t>
                      </a:r>
                      <a:endParaRPr lang="en-US" altLang="zh-CN" sz="1600" b="1" baseline="30000">
                        <a:ea typeface="+mn-lt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ea typeface="+mn-lt"/>
                          <a:cs typeface="Times New Roman" panose="02020603050405020304" charset="0"/>
                        </a:rPr>
                        <a:t>6.39e</a:t>
                      </a:r>
                      <a:r>
                        <a:rPr lang="en-US" altLang="zh-CN" sz="1600" b="1" baseline="30000">
                          <a:ea typeface="+mn-lt"/>
                          <a:cs typeface="Times New Roman" panose="02020603050405020304" charset="0"/>
                        </a:rPr>
                        <a:t> - 3</a:t>
                      </a:r>
                      <a:endParaRPr lang="en-US" altLang="zh-CN" sz="1600" b="1" baseline="30000">
                        <a:ea typeface="+mn-lt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 anchorCtr="0"/>
                </a:tc>
              </a:tr>
            </a:tbl>
          </a:graphicData>
        </a:graphic>
      </p:graphicFrame>
      <p:pic>
        <p:nvPicPr>
          <p:cNvPr id="27" name="图片 26"/>
          <p:cNvPicPr>
            <a:picLocks noChangeAspect="1"/>
          </p:cNvPicPr>
          <p:nvPr/>
        </p:nvPicPr>
        <p:blipFill>
          <a:blip r:embed="rId7"/>
          <a:srcRect l="45008" t="8231" r="43393" b="7971"/>
          <a:stretch>
            <a:fillRect/>
          </a:stretch>
        </p:blipFill>
        <p:spPr>
          <a:xfrm>
            <a:off x="6575425" y="5633085"/>
            <a:ext cx="752475" cy="821055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6871335" y="5835015"/>
            <a:ext cx="272796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accent1"/>
                </a:solidFill>
                <a:latin typeface="Times New Roman" panose="02020603050405020304"/>
                <a:ea typeface="宋体" panose="02010600030101010101" pitchFamily="2" charset="-122"/>
              </a:rPr>
              <a:t>16Mhz</a:t>
            </a:r>
            <a:r>
              <a:rPr lang="zh-CN" altLang="en-US" sz="1600" b="1">
                <a:solidFill>
                  <a:schemeClr val="accent1"/>
                </a:solidFill>
                <a:latin typeface="Times New Roman" panose="02020603050405020304"/>
                <a:ea typeface="宋体" panose="02010600030101010101" pitchFamily="2" charset="-122"/>
              </a:rPr>
              <a:t>峰值</a:t>
            </a:r>
            <a:r>
              <a:rPr lang="zh-CN" altLang="en-US" sz="1600" b="1">
                <a:solidFill>
                  <a:schemeClr val="accent1"/>
                </a:solidFill>
                <a:latin typeface="Times New Roman" panose="02020603050405020304"/>
                <a:ea typeface="宋体" panose="02010600030101010101" pitchFamily="2" charset="-122"/>
              </a:rPr>
              <a:t>功耗</a:t>
            </a:r>
            <a:endParaRPr lang="zh-CN" altLang="en-US" sz="1600" b="1">
              <a:solidFill>
                <a:schemeClr val="accent1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1820" y="5633085"/>
            <a:ext cx="809625" cy="821055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9785985" y="5835015"/>
            <a:ext cx="272796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accent1"/>
                </a:solidFill>
                <a:latin typeface="Times New Roman" panose="02020603050405020304"/>
                <a:ea typeface="宋体" panose="02010600030101010101" pitchFamily="2" charset="-122"/>
              </a:rPr>
              <a:t>24Mhz</a:t>
            </a:r>
            <a:r>
              <a:rPr lang="zh-CN" altLang="en-US" sz="1600" b="1">
                <a:solidFill>
                  <a:schemeClr val="accent1"/>
                </a:solidFill>
                <a:latin typeface="Times New Roman" panose="02020603050405020304"/>
                <a:ea typeface="宋体" panose="02010600030101010101" pitchFamily="2" charset="-122"/>
              </a:rPr>
              <a:t>峰值</a:t>
            </a:r>
            <a:r>
              <a:rPr lang="zh-CN" altLang="en-US" sz="1600" b="1">
                <a:solidFill>
                  <a:schemeClr val="accent1"/>
                </a:solidFill>
                <a:latin typeface="Times New Roman" panose="02020603050405020304"/>
                <a:ea typeface="宋体" panose="02010600030101010101" pitchFamily="2" charset="-122"/>
              </a:rPr>
              <a:t>功耗</a:t>
            </a:r>
            <a:endParaRPr lang="zh-CN" altLang="en-US" sz="1600" b="1">
              <a:solidFill>
                <a:schemeClr val="accent1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53"/>
          <p:cNvSpPr/>
          <p:nvPr/>
        </p:nvSpPr>
        <p:spPr>
          <a:xfrm rot="10800000" flipV="1">
            <a:off x="-6350" y="249238"/>
            <a:ext cx="484188" cy="490537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600" dirty="0"/>
          </a:p>
        </p:txBody>
      </p:sp>
      <p:sp>
        <p:nvSpPr>
          <p:cNvPr id="5" name="文本框 2"/>
          <p:cNvSpPr txBox="1"/>
          <p:nvPr/>
        </p:nvSpPr>
        <p:spPr>
          <a:xfrm>
            <a:off x="554990" y="277495"/>
            <a:ext cx="6944937" cy="520700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低资源消耗</a:t>
            </a:r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Frodo——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结果对比</a:t>
            </a:r>
            <a:endParaRPr lang="zh-CN" altLang="en-US" sz="2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" name="组合 17"/>
          <p:cNvGrpSpPr/>
          <p:nvPr/>
        </p:nvGrpSpPr>
        <p:grpSpPr>
          <a:xfrm>
            <a:off x="6200869" y="78051"/>
            <a:ext cx="5991131" cy="707884"/>
            <a:chOff x="6200869" y="78051"/>
            <a:chExt cx="5991131" cy="707884"/>
          </a:xfrm>
        </p:grpSpPr>
        <p:grpSp>
          <p:nvGrpSpPr>
            <p:cNvPr id="7" name="组 13"/>
            <p:cNvGrpSpPr/>
            <p:nvPr/>
          </p:nvGrpSpPr>
          <p:grpSpPr>
            <a:xfrm>
              <a:off x="6200869" y="78051"/>
              <a:ext cx="5991131" cy="707884"/>
              <a:chOff x="6201071" y="148098"/>
              <a:chExt cx="5990926" cy="708515"/>
            </a:xfrm>
          </p:grpSpPr>
          <p:grpSp>
            <p:nvGrpSpPr>
              <p:cNvPr id="8" name="组 2"/>
              <p:cNvGrpSpPr/>
              <p:nvPr/>
            </p:nvGrpSpPr>
            <p:grpSpPr>
              <a:xfrm>
                <a:off x="11454105" y="252856"/>
                <a:ext cx="737892" cy="484288"/>
                <a:chOff x="11454105" y="252856"/>
                <a:chExt cx="737892" cy="484288"/>
              </a:xfrm>
            </p:grpSpPr>
            <p:grpSp>
              <p:nvGrpSpPr>
                <p:cNvPr id="9" name="组 1"/>
                <p:cNvGrpSpPr/>
                <p:nvPr/>
              </p:nvGrpSpPr>
              <p:grpSpPr>
                <a:xfrm>
                  <a:off x="12039604" y="252856"/>
                  <a:ext cx="152393" cy="484287"/>
                  <a:chOff x="12039604" y="252856"/>
                  <a:chExt cx="152393" cy="484287"/>
                </a:xfrm>
              </p:grpSpPr>
              <p:sp>
                <p:nvSpPr>
                  <p:cNvPr id="10" name="圆角矩形 79"/>
                  <p:cNvSpPr/>
                  <p:nvPr/>
                </p:nvSpPr>
                <p:spPr>
                  <a:xfrm rot="16200000" flipV="1">
                    <a:off x="12072898" y="518110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1" name="圆角矩形 80"/>
                  <p:cNvSpPr/>
                  <p:nvPr/>
                </p:nvSpPr>
                <p:spPr>
                  <a:xfrm rot="16200000" flipV="1">
                    <a:off x="12072898" y="618211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2" name="圆角矩形 81"/>
                  <p:cNvSpPr/>
                  <p:nvPr/>
                </p:nvSpPr>
                <p:spPr>
                  <a:xfrm rot="16200000" flipV="1">
                    <a:off x="12072898" y="321085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3" name="圆角矩形 82"/>
                  <p:cNvSpPr/>
                  <p:nvPr/>
                </p:nvSpPr>
                <p:spPr>
                  <a:xfrm rot="16200000" flipV="1">
                    <a:off x="12072898" y="421186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" name="圆角矩形 83"/>
                  <p:cNvSpPr/>
                  <p:nvPr/>
                </p:nvSpPr>
                <p:spPr>
                  <a:xfrm rot="16200000" flipV="1">
                    <a:off x="12072898" y="219394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</p:grpSp>
            <p:sp>
              <p:nvSpPr>
                <p:cNvPr id="15" name="圆角矩形 78"/>
                <p:cNvSpPr/>
                <p:nvPr/>
              </p:nvSpPr>
              <p:spPr>
                <a:xfrm rot="16200000" flipV="1">
                  <a:off x="11456787" y="249739"/>
                  <a:ext cx="484617" cy="490520"/>
                </a:xfrm>
                <a:prstGeom prst="roundRect">
                  <a:avLst>
                    <a:gd name="adj" fmla="val 5039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6" name="文本框 76"/>
              <p:cNvSpPr txBox="1">
                <a:spLocks noChangeArrowheads="1"/>
              </p:cNvSpPr>
              <p:nvPr/>
            </p:nvSpPr>
            <p:spPr bwMode="auto">
              <a:xfrm>
                <a:off x="6201071" y="148098"/>
                <a:ext cx="5239271" cy="708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38" tIns="45719" rIns="91438" bIns="45719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华中科技大学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Huazhong </a:t>
                </a:r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University of</a:t>
                </a:r>
                <a:endParaRPr lang="en-US" altLang="zh-CN" sz="14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 Science and  Technology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17" name="KSO_Shape"/>
            <p:cNvSpPr/>
            <p:nvPr/>
          </p:nvSpPr>
          <p:spPr bwMode="auto">
            <a:xfrm>
              <a:off x="11426825" y="101587"/>
              <a:ext cx="420688" cy="646112"/>
            </a:xfrm>
            <a:custGeom>
              <a:avLst/>
              <a:gdLst>
                <a:gd name="connsiteX0" fmla="*/ 682214 w 1399652"/>
                <a:gd name="connsiteY0" fmla="*/ 622044 h 1669396"/>
                <a:gd name="connsiteX1" fmla="*/ 728400 w 1399652"/>
                <a:gd name="connsiteY1" fmla="*/ 622044 h 1669396"/>
                <a:gd name="connsiteX2" fmla="*/ 728400 w 1399652"/>
                <a:gd name="connsiteY2" fmla="*/ 1069491 h 1669396"/>
                <a:gd name="connsiteX3" fmla="*/ 682214 w 1399652"/>
                <a:gd name="connsiteY3" fmla="*/ 1069491 h 1669396"/>
                <a:gd name="connsiteX4" fmla="*/ 682214 w 1399652"/>
                <a:gd name="connsiteY4" fmla="*/ 868862 h 1669396"/>
                <a:gd name="connsiteX5" fmla="*/ 0 w 1399652"/>
                <a:gd name="connsiteY5" fmla="*/ 868862 h 1669396"/>
                <a:gd name="connsiteX6" fmla="*/ 0 w 1399652"/>
                <a:gd name="connsiteY6" fmla="*/ 822676 h 1669396"/>
                <a:gd name="connsiteX7" fmla="*/ 682214 w 1399652"/>
                <a:gd name="connsiteY7" fmla="*/ 822676 h 1669396"/>
                <a:gd name="connsiteX8" fmla="*/ 1353466 w 1399652"/>
                <a:gd name="connsiteY8" fmla="*/ 0 h 1669396"/>
                <a:gd name="connsiteX9" fmla="*/ 1399652 w 1399652"/>
                <a:gd name="connsiteY9" fmla="*/ 0 h 1669396"/>
                <a:gd name="connsiteX10" fmla="*/ 1399652 w 1399652"/>
                <a:gd name="connsiteY10" fmla="*/ 650823 h 1669396"/>
                <a:gd name="connsiteX11" fmla="*/ 1399652 w 1399652"/>
                <a:gd name="connsiteY11" fmla="*/ 650832 h 1669396"/>
                <a:gd name="connsiteX12" fmla="*/ 1399652 w 1399652"/>
                <a:gd name="connsiteY12" fmla="*/ 697009 h 1669396"/>
                <a:gd name="connsiteX13" fmla="*/ 869253 w 1399652"/>
                <a:gd name="connsiteY13" fmla="*/ 697009 h 1669396"/>
                <a:gd name="connsiteX14" fmla="*/ 869253 w 1399652"/>
                <a:gd name="connsiteY14" fmla="*/ 995295 h 1669396"/>
                <a:gd name="connsiteX15" fmla="*/ 1227733 w 1399652"/>
                <a:gd name="connsiteY15" fmla="*/ 995295 h 1669396"/>
                <a:gd name="connsiteX16" fmla="*/ 1168719 w 1399652"/>
                <a:gd name="connsiteY16" fmla="*/ 919117 h 1669396"/>
                <a:gd name="connsiteX17" fmla="*/ 1168719 w 1399652"/>
                <a:gd name="connsiteY17" fmla="*/ 917509 h 1669396"/>
                <a:gd name="connsiteX18" fmla="*/ 1399652 w 1399652"/>
                <a:gd name="connsiteY18" fmla="*/ 1018388 h 1669396"/>
                <a:gd name="connsiteX19" fmla="*/ 1399250 w 1399652"/>
                <a:gd name="connsiteY19" fmla="*/ 1018564 h 1669396"/>
                <a:gd name="connsiteX20" fmla="*/ 1399652 w 1399652"/>
                <a:gd name="connsiteY20" fmla="*/ 1018564 h 1669396"/>
                <a:gd name="connsiteX21" fmla="*/ 1399652 w 1399652"/>
                <a:gd name="connsiteY21" fmla="*/ 1669396 h 1669396"/>
                <a:gd name="connsiteX22" fmla="*/ 1353466 w 1399652"/>
                <a:gd name="connsiteY22" fmla="*/ 1669396 h 1669396"/>
                <a:gd name="connsiteX23" fmla="*/ 1353466 w 1399652"/>
                <a:gd name="connsiteY23" fmla="*/ 1038564 h 1669396"/>
                <a:gd name="connsiteX24" fmla="*/ 1168719 w 1399652"/>
                <a:gd name="connsiteY24" fmla="*/ 1119268 h 1669396"/>
                <a:gd name="connsiteX25" fmla="*/ 1168719 w 1399652"/>
                <a:gd name="connsiteY25" fmla="*/ 1117661 h 1669396"/>
                <a:gd name="connsiteX26" fmla="*/ 1227733 w 1399652"/>
                <a:gd name="connsiteY26" fmla="*/ 1041482 h 1669396"/>
                <a:gd name="connsiteX27" fmla="*/ 869253 w 1399652"/>
                <a:gd name="connsiteY27" fmla="*/ 1041482 h 1669396"/>
                <a:gd name="connsiteX28" fmla="*/ 869253 w 1399652"/>
                <a:gd name="connsiteY28" fmla="*/ 1122886 h 1669396"/>
                <a:gd name="connsiteX29" fmla="*/ 823067 w 1399652"/>
                <a:gd name="connsiteY29" fmla="*/ 1122886 h 1669396"/>
                <a:gd name="connsiteX30" fmla="*/ 823067 w 1399652"/>
                <a:gd name="connsiteY30" fmla="*/ 568650 h 1669396"/>
                <a:gd name="connsiteX31" fmla="*/ 869253 w 1399652"/>
                <a:gd name="connsiteY31" fmla="*/ 568650 h 1669396"/>
                <a:gd name="connsiteX32" fmla="*/ 869253 w 1399652"/>
                <a:gd name="connsiteY32" fmla="*/ 650823 h 1669396"/>
                <a:gd name="connsiteX33" fmla="*/ 1353466 w 1399652"/>
                <a:gd name="connsiteY33" fmla="*/ 650823 h 166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9652" h="1669396">
                  <a:moveTo>
                    <a:pt x="682214" y="622044"/>
                  </a:moveTo>
                  <a:lnTo>
                    <a:pt x="728400" y="622044"/>
                  </a:lnTo>
                  <a:lnTo>
                    <a:pt x="728400" y="1069491"/>
                  </a:lnTo>
                  <a:lnTo>
                    <a:pt x="682214" y="1069491"/>
                  </a:lnTo>
                  <a:lnTo>
                    <a:pt x="682214" y="868862"/>
                  </a:lnTo>
                  <a:lnTo>
                    <a:pt x="0" y="868862"/>
                  </a:lnTo>
                  <a:lnTo>
                    <a:pt x="0" y="822676"/>
                  </a:lnTo>
                  <a:lnTo>
                    <a:pt x="682214" y="822676"/>
                  </a:lnTo>
                  <a:close/>
                  <a:moveTo>
                    <a:pt x="1353466" y="0"/>
                  </a:moveTo>
                  <a:lnTo>
                    <a:pt x="1399652" y="0"/>
                  </a:lnTo>
                  <a:lnTo>
                    <a:pt x="1399652" y="650823"/>
                  </a:lnTo>
                  <a:lnTo>
                    <a:pt x="1399652" y="650832"/>
                  </a:lnTo>
                  <a:lnTo>
                    <a:pt x="1399652" y="697009"/>
                  </a:lnTo>
                  <a:lnTo>
                    <a:pt x="869253" y="697009"/>
                  </a:lnTo>
                  <a:lnTo>
                    <a:pt x="869253" y="995295"/>
                  </a:lnTo>
                  <a:lnTo>
                    <a:pt x="1227733" y="995295"/>
                  </a:lnTo>
                  <a:lnTo>
                    <a:pt x="1168719" y="919117"/>
                  </a:lnTo>
                  <a:lnTo>
                    <a:pt x="1168719" y="917509"/>
                  </a:lnTo>
                  <a:lnTo>
                    <a:pt x="1399652" y="1018388"/>
                  </a:lnTo>
                  <a:lnTo>
                    <a:pt x="1399250" y="1018564"/>
                  </a:lnTo>
                  <a:lnTo>
                    <a:pt x="1399652" y="1018564"/>
                  </a:lnTo>
                  <a:lnTo>
                    <a:pt x="1399652" y="1669396"/>
                  </a:lnTo>
                  <a:lnTo>
                    <a:pt x="1353466" y="1669396"/>
                  </a:lnTo>
                  <a:lnTo>
                    <a:pt x="1353466" y="1038564"/>
                  </a:lnTo>
                  <a:lnTo>
                    <a:pt x="1168719" y="1119268"/>
                  </a:lnTo>
                  <a:lnTo>
                    <a:pt x="1168719" y="1117661"/>
                  </a:lnTo>
                  <a:lnTo>
                    <a:pt x="1227733" y="1041482"/>
                  </a:lnTo>
                  <a:lnTo>
                    <a:pt x="869253" y="1041482"/>
                  </a:lnTo>
                  <a:lnTo>
                    <a:pt x="869253" y="1122886"/>
                  </a:lnTo>
                  <a:lnTo>
                    <a:pt x="823067" y="1122886"/>
                  </a:lnTo>
                  <a:lnTo>
                    <a:pt x="823067" y="568650"/>
                  </a:lnTo>
                  <a:lnTo>
                    <a:pt x="869253" y="568650"/>
                  </a:lnTo>
                  <a:lnTo>
                    <a:pt x="869253" y="650823"/>
                  </a:lnTo>
                  <a:lnTo>
                    <a:pt x="1353466" y="650823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2842819" y="3529792"/>
            <a:ext cx="1109143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运行周期数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26"/>
          <p:cNvSpPr/>
          <p:nvPr/>
        </p:nvSpPr>
        <p:spPr>
          <a:xfrm>
            <a:off x="7565639" y="1062355"/>
            <a:ext cx="3987165" cy="23666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低资源开销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Frodo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硬件实现：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  (2.1)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硬件实现等效逻辑门数小于等于 </a:t>
            </a:r>
            <a:r>
              <a:rPr lang="en-US" altLang="zh-CN" sz="1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100 </a:t>
            </a:r>
            <a:r>
              <a:rPr lang="zh-CN" altLang="en-US" sz="1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万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  (2.2)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基于 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PTPX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功耗分析工具，评估 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16MHz/24MHz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频率下的芯片运行功耗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35743" y="1174700"/>
          <a:ext cx="62280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6095"/>
                <a:gridCol w="1389380"/>
                <a:gridCol w="1505585"/>
                <a:gridCol w="1557020"/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Keygen</a:t>
                      </a:r>
                      <a:endParaRPr lang="en-US" altLang="zh-CN" sz="1200" dirty="0" err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Encaps</a:t>
                      </a:r>
                      <a:endParaRPr lang="en-US" altLang="zh-CN" sz="1200" dirty="0" err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Decaps</a:t>
                      </a:r>
                      <a:endParaRPr lang="en-US" altLang="zh-CN" sz="1200" dirty="0" err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Howe et al. [1]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accent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85,585,315</a:t>
                      </a:r>
                      <a:endParaRPr lang="en-US" altLang="zh-CN" sz="1200" dirty="0">
                        <a:solidFill>
                          <a:schemeClr val="accent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accent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112,103,350</a:t>
                      </a:r>
                      <a:endParaRPr lang="en-US" altLang="zh-CN" sz="1200" dirty="0">
                        <a:solidFill>
                          <a:schemeClr val="accent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accent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112,442,770</a:t>
                      </a:r>
                      <a:endParaRPr lang="en-US" altLang="zh-CN" sz="1200" dirty="0">
                        <a:solidFill>
                          <a:schemeClr val="accent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Bos</a:t>
                      </a: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et al. [2]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accent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81,299,689</a:t>
                      </a:r>
                      <a:endParaRPr lang="en-US" altLang="zh-CN" sz="1200" dirty="0">
                        <a:solidFill>
                          <a:schemeClr val="accent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accent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86,255,368</a:t>
                      </a:r>
                      <a:endParaRPr lang="en-US" altLang="zh-CN" sz="1200" dirty="0">
                        <a:solidFill>
                          <a:schemeClr val="accent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accent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87,212,153</a:t>
                      </a:r>
                      <a:endParaRPr lang="en-US" altLang="zh-CN" sz="1200" dirty="0">
                        <a:solidFill>
                          <a:schemeClr val="accent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Banerjee et al. [3]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accent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11,453,942</a:t>
                      </a:r>
                      <a:endParaRPr lang="en-US" altLang="zh-CN" sz="1200" dirty="0">
                        <a:solidFill>
                          <a:schemeClr val="accent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accent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11,609,668</a:t>
                      </a:r>
                      <a:endParaRPr lang="en-US" altLang="zh-CN" sz="1200" dirty="0">
                        <a:solidFill>
                          <a:schemeClr val="accent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accent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12,035,513</a:t>
                      </a:r>
                      <a:endParaRPr lang="en-US" altLang="zh-CN" sz="1200" dirty="0">
                        <a:solidFill>
                          <a:schemeClr val="accent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Dang et al. [4]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1,186,704</a:t>
                      </a:r>
                      <a:endParaRPr lang="en-US" altLang="zh-CN" sz="12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1,309,884</a:t>
                      </a:r>
                      <a:endParaRPr lang="en-US" altLang="zh-CN" sz="12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Karl et al. [5]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23,403,216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25,466,437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25,307,100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This work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2,900,539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2,971,562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2,998,542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8" name="文本框 37"/>
          <p:cNvSpPr txBox="1"/>
          <p:nvPr/>
        </p:nvSpPr>
        <p:spPr>
          <a:xfrm>
            <a:off x="2064802" y="899110"/>
            <a:ext cx="28670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FrodoKEM-640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实现周期数对比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9" name="表格 38"/>
          <p:cNvGraphicFramePr>
            <a:graphicFrameLocks noGrp="1"/>
          </p:cNvGraphicFramePr>
          <p:nvPr/>
        </p:nvGraphicFramePr>
        <p:xfrm>
          <a:off x="6609988" y="1174955"/>
          <a:ext cx="5178425" cy="2160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705"/>
                <a:gridCol w="1086485"/>
                <a:gridCol w="642605"/>
                <a:gridCol w="761365"/>
                <a:gridCol w="765175"/>
                <a:gridCol w="600075"/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Platform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LUT</a:t>
                      </a:r>
                      <a:endParaRPr lang="en-US" altLang="zh-CN" sz="1200" dirty="0" err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FFs</a:t>
                      </a:r>
                      <a:endParaRPr lang="en-US" altLang="zh-CN" sz="1200" dirty="0" err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BRAMs</a:t>
                      </a:r>
                      <a:endParaRPr lang="en-US" altLang="zh-CN" sz="1200" dirty="0" err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DSPs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Howe et al. [1]</a:t>
                      </a:r>
                      <a:endParaRPr lang="en-US" altLang="zh-CN" sz="1200" baseline="30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UItraScale+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7,773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3,559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Dang et al. [4]</a:t>
                      </a:r>
                      <a:r>
                        <a:rPr lang="en-US" altLang="zh-CN" sz="1200" baseline="30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200" baseline="30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UItraScale+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7,015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6,610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17.5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32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Karl et al. [5]</a:t>
                      </a:r>
                      <a:r>
                        <a:rPr lang="en-US" altLang="zh-CN" sz="1200" baseline="300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200" baseline="300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UltraScale+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5,590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1,118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This work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UltraScale+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5,144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2530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0" name="文本框 39"/>
          <p:cNvSpPr txBox="1"/>
          <p:nvPr/>
        </p:nvSpPr>
        <p:spPr>
          <a:xfrm>
            <a:off x="8757191" y="838005"/>
            <a:ext cx="1109143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资源开销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-12065" y="5780405"/>
            <a:ext cx="12211685" cy="635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0" y="5845417"/>
            <a:ext cx="991552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[1]J. Howe, T. Oder, M. Krausz, and T. </a:t>
            </a:r>
            <a:r>
              <a:rPr lang="en-US" altLang="zh-CN" sz="8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Gneysu</a:t>
            </a:r>
            <a:r>
              <a:rPr lang="en-US" altLang="zh-CN" sz="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“Standard lattice-based key encapsulation on embedded devices,” IACR Transactions on Cryptographic Hardware and Embedded Systems, pp. 372–393, </a:t>
            </a:r>
            <a:r>
              <a:rPr lang="en-US" altLang="zh-CN" sz="8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aug</a:t>
            </a:r>
            <a:r>
              <a:rPr lang="en-US" altLang="zh-CN" sz="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2018.</a:t>
            </a:r>
            <a:endParaRPr lang="en-US" altLang="zh-CN" sz="800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r>
              <a:rPr lang="en-US" altLang="zh-CN" sz="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[2]J. W. Bos, S. Friedberger, M. </a:t>
            </a:r>
            <a:r>
              <a:rPr lang="en-US" altLang="zh-CN" sz="8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Martinoli</a:t>
            </a:r>
            <a:r>
              <a:rPr lang="en-US" altLang="zh-CN" sz="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E. Oswald, and M. Stam, “Fly, you fool! Faster Frodo for the ARM Cortex-M4.” Cryptology </a:t>
            </a:r>
            <a:r>
              <a:rPr lang="en-US" altLang="zh-CN" sz="8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ePrint</a:t>
            </a:r>
            <a:r>
              <a:rPr lang="en-US" altLang="zh-CN" sz="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Archive, Report 2018/1116, 2018.</a:t>
            </a:r>
            <a:endParaRPr lang="en-US" altLang="zh-CN" sz="800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r>
              <a:rPr lang="en-US" altLang="zh-CN" sz="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[3]U. Banerjee, T. S. </a:t>
            </a:r>
            <a:r>
              <a:rPr lang="en-US" altLang="zh-CN" sz="8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Ukyab</a:t>
            </a:r>
            <a:r>
              <a:rPr lang="en-US" altLang="zh-CN" sz="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and A. P. Chandrakasan, “Sapphire: A Configurable Crypto-Processor for Post-Quantum Lattice-based Protocols,” IACR Transactions on Cryptographic Hardware and Embedded Systems, pp. 17–61, </a:t>
            </a:r>
            <a:r>
              <a:rPr lang="en-US" altLang="zh-CN" sz="8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aug</a:t>
            </a:r>
            <a:r>
              <a:rPr lang="en-US" altLang="zh-CN" sz="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2019.</a:t>
            </a:r>
            <a:endParaRPr lang="en-US" altLang="zh-CN" sz="800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r>
              <a:rPr lang="en-US" altLang="zh-CN" sz="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[4]V. B. Dang, F. Farahmand, M. Andrzejczak, and K. Gaj, “Implementing and Benchmarking Three Lattice-Based Post-Quantum Cryptography Algorithms Using Software/Hardware Codesign,” in 2019 International Conference on Field-Programmable Technology (ICFPT), IEEE, dec 2019.</a:t>
            </a:r>
            <a:endParaRPr lang="en-US" altLang="zh-CN" sz="800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r>
              <a:rPr lang="en-US" altLang="zh-CN" sz="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[5]P. Karl, T. </a:t>
            </a:r>
            <a:r>
              <a:rPr lang="en-US" altLang="zh-CN" sz="8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Fritzmann</a:t>
            </a:r>
            <a:r>
              <a:rPr lang="en-US" altLang="zh-CN" sz="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and G. Sigl, “Hardware Accelerated </a:t>
            </a:r>
            <a:r>
              <a:rPr lang="en-US" altLang="zh-CN" sz="8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FrodoKEM</a:t>
            </a:r>
            <a:r>
              <a:rPr lang="en-US" altLang="zh-CN" sz="8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on RISC-V,” in 2022 25th International Symposium on Design and Diagnostics of Electronic Circuits and Systems (DDECS), Apr. 2022, pp. 154–159.</a:t>
            </a:r>
            <a:endParaRPr lang="zh-CN" altLang="en-US" sz="800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09080" y="3351530"/>
            <a:ext cx="54305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本工程</a:t>
            </a:r>
            <a:r>
              <a:rPr lang="zh-CN" altLang="en-US" sz="16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支持运行不同安全等级的</a:t>
            </a:r>
            <a:r>
              <a:rPr lang="en-US" altLang="zh-CN" sz="16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KeyGen</a:t>
            </a:r>
            <a:r>
              <a:rPr lang="zh-CN" altLang="en-US" sz="16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Encaps</a:t>
            </a:r>
            <a:r>
              <a:rPr lang="zh-CN" altLang="en-US" sz="16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Decaps</a:t>
            </a:r>
            <a:endParaRPr lang="en-US" altLang="zh-CN" sz="160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0" name="表格 19"/>
          <p:cNvGraphicFramePr/>
          <p:nvPr>
            <p:custDataLst>
              <p:tags r:id="rId2"/>
            </p:custDataLst>
          </p:nvPr>
        </p:nvGraphicFramePr>
        <p:xfrm>
          <a:off x="235585" y="3870325"/>
          <a:ext cx="6106795" cy="1544955"/>
        </p:xfrm>
        <a:graphic>
          <a:graphicData uri="http://schemas.openxmlformats.org/drawingml/2006/table">
            <a:tbl>
              <a:tblPr firstRow="1" bandRow="1">
                <a:tableStyleId>{D4F53C15-A208-4BC9-BE0D-6754120E5082}</a:tableStyleId>
              </a:tblPr>
              <a:tblGrid>
                <a:gridCol w="1896745"/>
                <a:gridCol w="1277620"/>
                <a:gridCol w="1511300"/>
                <a:gridCol w="1421130"/>
              </a:tblGrid>
              <a:tr h="3257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周期数</a:t>
                      </a:r>
                      <a:endParaRPr lang="zh-CN" altLang="en-US" sz="1600" b="1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K</a:t>
                      </a:r>
                      <a:r>
                        <a:rPr lang="en-US" altLang="zh-CN" sz="1600" b="1"/>
                        <a:t>eygen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Encap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Decap</a:t>
                      </a:r>
                      <a:endParaRPr lang="en-US" altLang="zh-CN" sz="1600" b="1"/>
                    </a:p>
                  </a:txBody>
                  <a:tcPr/>
                </a:tc>
              </a:tr>
              <a:tr h="4032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Frodo-KEM640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2,900,539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2,971,562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2,998,542</a:t>
                      </a:r>
                      <a:endParaRPr lang="en-US" altLang="zh-CN" sz="1600" b="1"/>
                    </a:p>
                  </a:txBody>
                  <a:tcPr/>
                </a:tc>
              </a:tr>
              <a:tr h="4032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ym typeface="+mn-ea"/>
                        </a:rPr>
                        <a:t>Frodo-KEM976</a:t>
                      </a:r>
                      <a:endParaRPr lang="en-US" altLang="zh-CN" sz="1600" b="1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6,606,328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6,719,460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6,789,803</a:t>
                      </a:r>
                      <a:endParaRPr lang="en-US" altLang="zh-CN" sz="1600" b="1"/>
                    </a:p>
                  </a:txBody>
                  <a:tcPr/>
                </a:tc>
              </a:tr>
              <a:tr h="4032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ym typeface="+mn-ea"/>
                        </a:rPr>
                        <a:t>Frodo-KEM1344</a:t>
                      </a:r>
                      <a:endParaRPr lang="en-US" altLang="zh-CN" sz="1600" b="1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12,306,724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12,461,656</a:t>
                      </a:r>
                      <a:endParaRPr lang="en-US" altLang="zh-CN" sz="1600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/>
                        <a:t>12,557,955</a:t>
                      </a:r>
                      <a:endParaRPr lang="en-US" altLang="zh-CN" sz="1600" b="1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29.20401574803145,&quot;left&quot;:21.45,&quot;top&quot;:87.9,&quot;width&quot;:917.6654330708661}"/>
</p:tagLst>
</file>

<file path=ppt/tags/tag2.xml><?xml version="1.0" encoding="utf-8"?>
<p:tagLst xmlns:p="http://schemas.openxmlformats.org/presentationml/2006/main">
  <p:tag name="KSO_WM_DIAGRAM_VIRTUALLY_FRAME" val="{&quot;height&quot;:429.20401574803145,&quot;left&quot;:21.45,&quot;top&quot;:87.9,&quot;width&quot;:917.6654330708661}"/>
</p:tagLst>
</file>

<file path=ppt/tags/tag3.xml><?xml version="1.0" encoding="utf-8"?>
<p:tagLst xmlns:p="http://schemas.openxmlformats.org/presentationml/2006/main">
  <p:tag name="KSO_WM_DIAGRAM_VIRTUALLY_FRAME" val="{&quot;height&quot;:429.20401574803145,&quot;left&quot;:21.45,&quot;top&quot;:87.9,&quot;width&quot;:917.6654330708661}"/>
</p:tagLst>
</file>

<file path=ppt/tags/tag4.xml><?xml version="1.0" encoding="utf-8"?>
<p:tagLst xmlns:p="http://schemas.openxmlformats.org/presentationml/2006/main">
  <p:tag name="KSO_WM_DIAGRAM_VIRTUALLY_FRAME" val="{&quot;height&quot;:429.20401574803145,&quot;left&quot;:21.45,&quot;top&quot;:87.9,&quot;width&quot;:917.6654330708661}"/>
</p:tagLst>
</file>

<file path=ppt/tags/tag5.xml><?xml version="1.0" encoding="utf-8"?>
<p:tagLst xmlns:p="http://schemas.openxmlformats.org/presentationml/2006/main">
  <p:tag name="TABLE_ENDDRAG_ORIGIN_RECT" val="447*329"/>
  <p:tag name="TABLE_ENDDRAG_RECT" val="480*81*447*329"/>
</p:tagLst>
</file>

<file path=ppt/tags/tag6.xml><?xml version="1.0" encoding="utf-8"?>
<p:tagLst xmlns:p="http://schemas.openxmlformats.org/presentationml/2006/main">
  <p:tag name="TABLE_ENDDRAG_ORIGIN_RECT" val="480*73"/>
  <p:tag name="TABLE_ENDDRAG_RECT" val="7*94*480*73"/>
</p:tagLst>
</file>

<file path=ppt/tags/tag7.xml><?xml version="1.0" encoding="utf-8"?>
<p:tagLst xmlns:p="http://schemas.openxmlformats.org/presentationml/2006/main">
  <p:tag name="TABLE_ENDDRAG_ORIGIN_RECT" val="480*122"/>
  <p:tag name="TABLE_ENDDRAG_RECT" val="7*215*480*122"/>
</p:tagLst>
</file>

<file path=ppt/tags/tag8.xml><?xml version="1.0" encoding="utf-8"?>
<p:tagLst xmlns:p="http://schemas.openxmlformats.org/presentationml/2006/main">
  <p:tag name="TABLE_ENDDRAG_ORIGIN_RECT" val="480*135"/>
  <p:tag name="TABLE_ENDDRAG_RECT" val="7*389*480*135"/>
</p:tagLst>
</file>

<file path=ppt/tags/tag9.xml><?xml version="1.0" encoding="utf-8"?>
<p:tagLst xmlns:p="http://schemas.openxmlformats.org/presentationml/2006/main">
  <p:tag name="TABLE_ENDDRAG_ORIGIN_RECT" val="422*150"/>
  <p:tag name="TABLE_ENDDRAG_RECT" val="517*78*422*150"/>
</p:tagLst>
</file>

<file path=ppt/tags/tag10.xml><?xml version="1.0" encoding="utf-8"?>
<p:tagLst xmlns:p="http://schemas.openxmlformats.org/presentationml/2006/main">
  <p:tag name="TABLE_ENDDRAG_ORIGIN_RECT" val="422*166"/>
  <p:tag name="TABLE_ENDDRAG_RECT" val="517*257*422*166"/>
</p:tagLst>
</file>

<file path=ppt/tags/tag11.xml><?xml version="1.0" encoding="utf-8"?>
<p:tagLst xmlns:p="http://schemas.openxmlformats.org/presentationml/2006/main">
  <p:tag name="TABLE_ENDDRAG_ORIGIN_RECT" val="490*137"/>
  <p:tag name="TABLE_ENDDRAG_RECT" val="37*280*490*137"/>
</p:tagLst>
</file>

<file path=ppt/tags/tag12.xml><?xml version="1.0" encoding="utf-8"?>
<p:tagLst xmlns:p="http://schemas.openxmlformats.org/presentationml/2006/main">
  <p:tag name="TABLE_ENDDRAG_ORIGIN_RECT" val="480*122"/>
  <p:tag name="TABLE_ENDDRAG_RECT" val="7*215*480*122"/>
</p:tagLst>
</file>

<file path=ppt/tags/tag13.xml><?xml version="1.0" encoding="utf-8"?>
<p:tagLst xmlns:p="http://schemas.openxmlformats.org/presentationml/2006/main">
  <p:tag name="COMMONDATA" val="eyJoZGlkIjoiOGU0OGM4Yzg3ZGY2N2M4MGVhNmYxMzhiMGZjNmE4ZWEifQ=="/>
  <p:tag name="commondata" val="eyJoZGlkIjoiMmNiZWEwODdlZDIzYjc5YmFjMDQ0MDFmZmI3ODkyNWYifQ=="/>
  <p:tag name="resource_record_key" val="{&quot;29&quot;:[50049410,50052696,50000059,50000049,50000076,50000077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4239</Words>
  <Application>WPS 演示</Application>
  <PresentationFormat>宽屏</PresentationFormat>
  <Paragraphs>543</Paragraphs>
  <Slides>8</Slides>
  <Notes>26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等线</vt:lpstr>
      <vt:lpstr>华文细黑</vt:lpstr>
      <vt:lpstr>Segoe UI Semilight</vt:lpstr>
      <vt:lpstr>Times New Roman</vt:lpstr>
      <vt:lpstr>Times New Roman</vt:lpstr>
      <vt:lpstr>Arial Unicode MS</vt:lpstr>
      <vt:lpstr>等线 Light</vt:lpstr>
      <vt:lpstr>Office 主题​​</vt:lpstr>
      <vt:lpstr>Visio.Drawing.15</vt:lpstr>
      <vt:lpstr>Visio.Drawing.15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ASUS-PC</dc:creator>
  <cp:lastModifiedBy>无</cp:lastModifiedBy>
  <cp:revision>1196</cp:revision>
  <dcterms:created xsi:type="dcterms:W3CDTF">2023-07-28T09:55:00Z</dcterms:created>
  <dcterms:modified xsi:type="dcterms:W3CDTF">2025-07-26T08:20:15Z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21C3CFC7411745769A2AB936E43FADF4_13</vt:lpwstr>
  </property>
  <property fmtid="{D5CDD505-2E9C-101B-9397-08002B2CF9AE}" pid="3" name="KSOProductBuildVer">
    <vt:lpwstr>2052-12.1.0.21915</vt:lpwstr>
  </property>
</Properties>
</file>